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548640" y="457200"/>
            <a:ext cx="11064240" cy="5943600"/>
          </a:xfrm>
          <a:prstGeom prst="roundRect">
            <a:avLst>
              <a:gd name="adj" fmla="val 307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3" name="Text 1"/>
          <p:cNvSpPr/>
          <p:nvPr/>
        </p:nvSpPr>
        <p:spPr>
          <a:xfrm>
            <a:off x="1097280" y="1097280"/>
            <a:ext cx="9966960" cy="1463040"/>
          </a:xfrm>
          <a:prstGeom prst="rect">
            <a:avLst/>
          </a:prstGeom>
          <a:noFill/>
          <a:ln/>
        </p:spPr>
        <p:txBody>
          <a:bodyPr wrap="square" rtlCol="0" anchor="ctr"/>
          <a:lstStyle/>
          <a:p>
            <a:pPr indent="0" marL="0">
              <a:buNone/>
            </a:pPr>
            <a:r>
              <a:rPr lang="en-US" sz="7200" b="1" dirty="0">
                <a:solidFill>
                  <a:srgbClr val="000000"/>
                </a:solidFill>
                <a:latin typeface="Arial" pitchFamily="34" charset="0"/>
                <a:ea typeface="Arial" pitchFamily="34" charset="-122"/>
                <a:cs typeface="Arial" pitchFamily="34" charset="-120"/>
              </a:rPr>
              <a:t>AgentOnAir</a:t>
            </a:r>
            <a:endParaRPr lang="en-US" sz="7200" dirty="0"/>
          </a:p>
        </p:txBody>
      </p:sp>
      <p:sp>
        <p:nvSpPr>
          <p:cNvPr id="4" name="Text 2"/>
          <p:cNvSpPr/>
          <p:nvPr/>
        </p:nvSpPr>
        <p:spPr>
          <a:xfrm>
            <a:off x="1097280" y="2560320"/>
            <a:ext cx="9966960" cy="640080"/>
          </a:xfrm>
          <a:prstGeom prst="rect">
            <a:avLst/>
          </a:prstGeom>
          <a:noFill/>
          <a:ln/>
        </p:spPr>
        <p:txBody>
          <a:bodyPr wrap="square" rtlCol="0" anchor="ctr"/>
          <a:lstStyle/>
          <a:p>
            <a:pPr indent="0" marL="0">
              <a:buNone/>
            </a:pPr>
            <a:r>
              <a:rPr lang="en-US" sz="2600" dirty="0">
                <a:solidFill>
                  <a:srgbClr val="777777"/>
                </a:solidFill>
                <a:latin typeface="Arial" pitchFamily="34" charset="0"/>
                <a:ea typeface="Arial" pitchFamily="34" charset="-122"/>
                <a:cs typeface="Arial" pitchFamily="34" charset="-120"/>
              </a:rPr>
              <a:t>The </a:t>
            </a:r>
            <a:pPr indent="0" marL="0">
              <a:buNone/>
            </a:pPr>
            <a:r>
              <a:rPr lang="en-US" sz="2600" b="1" u="sng" dirty="0">
                <a:solidFill>
                  <a:srgbClr val="000000"/>
                </a:solidFill>
                <a:latin typeface="Arial" pitchFamily="34" charset="0"/>
                <a:ea typeface="Arial" pitchFamily="34" charset="-122"/>
                <a:cs typeface="Arial" pitchFamily="34" charset="-120"/>
              </a:rPr>
              <a:t>npm</a:t>
            </a:r>
            <a:pPr indent="0" marL="0">
              <a:buNone/>
            </a:pPr>
            <a:r>
              <a:rPr lang="en-US" sz="2600" dirty="0">
                <a:solidFill>
                  <a:srgbClr val="777777"/>
                </a:solidFill>
                <a:latin typeface="Arial" pitchFamily="34" charset="0"/>
                <a:ea typeface="Arial" pitchFamily="34" charset="-122"/>
                <a:cs typeface="Arial" pitchFamily="34" charset="-120"/>
              </a:rPr>
              <a:t> for AI agents.</a:t>
            </a:r>
            <a:endParaRPr lang="en-US" sz="2600" dirty="0"/>
          </a:p>
        </p:txBody>
      </p:sp>
      <p:sp>
        <p:nvSpPr>
          <p:cNvPr id="5" name="Text 3"/>
          <p:cNvSpPr/>
          <p:nvPr/>
        </p:nvSpPr>
        <p:spPr>
          <a:xfrm>
            <a:off x="1097280" y="3291840"/>
            <a:ext cx="7315200" cy="914400"/>
          </a:xfrm>
          <a:prstGeom prst="rect">
            <a:avLst/>
          </a:prstGeom>
          <a:noFill/>
          <a:ln/>
        </p:spPr>
        <p:txBody>
          <a:bodyPr wrap="square" rtlCol="0" anchor="ctr"/>
          <a:lstStyle/>
          <a:p>
            <a:pPr indent="0" marL="0">
              <a:lnSpc>
                <a:spcPct val="150000"/>
              </a:lnSpc>
              <a:buNone/>
            </a:pPr>
            <a:r>
              <a:rPr lang="en-US" sz="1500" dirty="0">
                <a:solidFill>
                  <a:srgbClr val="777777"/>
                </a:solidFill>
                <a:latin typeface="Arial" pitchFamily="34" charset="0"/>
                <a:ea typeface="Arial" pitchFamily="34" charset="-122"/>
                <a:cs typeface="Arial" pitchFamily="34" charset="-120"/>
              </a:rPr>
              <a:t>Pack it. Share it. Install it. Run it.</a:t>
            </a:r>
            <a:endParaRPr lang="en-US" sz="1500" dirty="0"/>
          </a:p>
          <a:p>
            <a:pPr indent="0" marL="0">
              <a:lnSpc>
                <a:spcPct val="150000"/>
              </a:lnSpc>
              <a:buNone/>
            </a:pPr>
            <a:r>
              <a:rPr lang="en-US" sz="1500" dirty="0">
                <a:solidFill>
                  <a:srgbClr val="777777"/>
                </a:solidFill>
                <a:latin typeface="Arial" pitchFamily="34" charset="0"/>
                <a:ea typeface="Arial" pitchFamily="34" charset="-122"/>
                <a:cs typeface="Arial" pitchFamily="34" charset="-120"/>
              </a:rPr>
              <a:t>A universal file format for packaging and sharing AI agents — like AirDrop, but for agents.</a:t>
            </a:r>
            <a:endParaRPr lang="en-US" sz="1500" dirty="0"/>
          </a:p>
        </p:txBody>
      </p:sp>
      <p:sp>
        <p:nvSpPr>
          <p:cNvPr id="6" name="Shape 4"/>
          <p:cNvSpPr/>
          <p:nvPr/>
        </p:nvSpPr>
        <p:spPr>
          <a:xfrm>
            <a:off x="1097280" y="4754880"/>
            <a:ext cx="2926080" cy="1097280"/>
          </a:xfrm>
          <a:prstGeom prst="roundRect">
            <a:avLst>
              <a:gd name="adj" fmla="val 16667"/>
            </a:avLst>
          </a:prstGeom>
          <a:solidFill>
            <a:srgbClr val="F0F0F0"/>
          </a:solidFill>
          <a:ln w="6350">
            <a:solidFill>
              <a:srgbClr val="DDDDDD"/>
            </a:solidFill>
            <a:prstDash val="solid"/>
          </a:ln>
        </p:spPr>
      </p:sp>
      <p:sp>
        <p:nvSpPr>
          <p:cNvPr id="7" name="Text 5"/>
          <p:cNvSpPr/>
          <p:nvPr/>
        </p:nvSpPr>
        <p:spPr>
          <a:xfrm>
            <a:off x="1097280" y="4892040"/>
            <a:ext cx="2926080" cy="365760"/>
          </a:xfrm>
          <a:prstGeom prst="rect">
            <a:avLst/>
          </a:prstGeom>
          <a:noFill/>
          <a:ln/>
        </p:spPr>
        <p:txBody>
          <a:bodyPr wrap="square" rtlCol="0" anchor="ctr"/>
          <a:lstStyle/>
          <a:p>
            <a:pPr algn="ctr" indent="0" marL="0">
              <a:buNone/>
            </a:pPr>
            <a:r>
              <a:rPr lang="en-US" sz="1000" b="1" dirty="0">
                <a:solidFill>
                  <a:srgbClr val="AAAAAA"/>
                </a:solidFill>
                <a:latin typeface="Arial" pitchFamily="34" charset="0"/>
                <a:ea typeface="Arial" pitchFamily="34" charset="-122"/>
                <a:cs typeface="Arial" pitchFamily="34" charset="-120"/>
              </a:rPr>
              <a:t>Hackathon 2025</a:t>
            </a:r>
            <a:endParaRPr lang="en-US" sz="1000" dirty="0"/>
          </a:p>
        </p:txBody>
      </p:sp>
      <p:sp>
        <p:nvSpPr>
          <p:cNvPr id="8" name="Text 6"/>
          <p:cNvSpPr/>
          <p:nvPr/>
        </p:nvSpPr>
        <p:spPr>
          <a:xfrm>
            <a:off x="1097280" y="5212080"/>
            <a:ext cx="2926080" cy="365760"/>
          </a:xfrm>
          <a:prstGeom prst="rect">
            <a:avLst/>
          </a:prstGeom>
          <a:noFill/>
          <a:ln/>
        </p:spPr>
        <p:txBody>
          <a:bodyPr wrap="square"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Pre-seed</a:t>
            </a:r>
            <a:endParaRPr lang="en-US" sz="1600" dirty="0"/>
          </a:p>
        </p:txBody>
      </p:sp>
      <p:sp>
        <p:nvSpPr>
          <p:cNvPr id="9" name="Shape 7"/>
          <p:cNvSpPr/>
          <p:nvPr/>
        </p:nvSpPr>
        <p:spPr>
          <a:xfrm>
            <a:off x="4297680" y="4754880"/>
            <a:ext cx="2926080" cy="1097280"/>
          </a:xfrm>
          <a:prstGeom prst="roundRect">
            <a:avLst>
              <a:gd name="adj" fmla="val 16667"/>
            </a:avLst>
          </a:prstGeom>
          <a:solidFill>
            <a:srgbClr val="F0F0F0"/>
          </a:solidFill>
          <a:ln w="6350">
            <a:solidFill>
              <a:srgbClr val="DDDDDD"/>
            </a:solidFill>
            <a:prstDash val="solid"/>
          </a:ln>
        </p:spPr>
      </p:sp>
      <p:sp>
        <p:nvSpPr>
          <p:cNvPr id="10" name="Text 8"/>
          <p:cNvSpPr/>
          <p:nvPr/>
        </p:nvSpPr>
        <p:spPr>
          <a:xfrm>
            <a:off x="4297680" y="4892040"/>
            <a:ext cx="2926080" cy="365760"/>
          </a:xfrm>
          <a:prstGeom prst="rect">
            <a:avLst/>
          </a:prstGeom>
          <a:noFill/>
          <a:ln/>
        </p:spPr>
        <p:txBody>
          <a:bodyPr wrap="square" rtlCol="0" anchor="ctr"/>
          <a:lstStyle/>
          <a:p>
            <a:pPr algn="ctr" indent="0" marL="0">
              <a:buNone/>
            </a:pPr>
            <a:r>
              <a:rPr lang="en-US" sz="1000" b="1" dirty="0">
                <a:solidFill>
                  <a:srgbClr val="AAAAAA"/>
                </a:solidFill>
                <a:latin typeface="Arial" pitchFamily="34" charset="0"/>
                <a:ea typeface="Arial" pitchFamily="34" charset="-122"/>
                <a:cs typeface="Arial" pitchFamily="34" charset="-120"/>
              </a:rPr>
              <a:t>WORKING POC</a:t>
            </a:r>
            <a:endParaRPr lang="en-US" sz="1000" dirty="0"/>
          </a:p>
        </p:txBody>
      </p:sp>
      <p:sp>
        <p:nvSpPr>
          <p:cNvPr id="11" name="Text 9"/>
          <p:cNvSpPr/>
          <p:nvPr/>
        </p:nvSpPr>
        <p:spPr>
          <a:xfrm>
            <a:off x="4297680" y="5212080"/>
            <a:ext cx="2926080" cy="365760"/>
          </a:xfrm>
          <a:prstGeom prst="rect">
            <a:avLst/>
          </a:prstGeom>
          <a:noFill/>
          <a:ln/>
        </p:spPr>
        <p:txBody>
          <a:bodyPr wrap="square" rtlCol="0" anchor="ctr"/>
          <a:lstStyle/>
          <a:p>
            <a:pPr algn="ctr" indent="0" marL="0">
              <a:buNone/>
            </a:pPr>
            <a:r>
              <a:rPr lang="en-US" sz="1600" b="1" dirty="0">
                <a:solidFill>
                  <a:srgbClr val="1A1A1A"/>
                </a:solidFill>
                <a:latin typeface="Arial" pitchFamily="34" charset="0"/>
                <a:ea typeface="Arial" pitchFamily="34" charset="-122"/>
                <a:cs typeface="Arial" pitchFamily="34" charset="-120"/>
              </a:rPr>
              <a:t>8 CLI Commands</a:t>
            </a:r>
            <a:endParaRPr lang="en-US" sz="1600" dirty="0"/>
          </a:p>
        </p:txBody>
      </p:sp>
      <p:sp>
        <p:nvSpPr>
          <p:cNvPr id="12" name="Shape 10"/>
          <p:cNvSpPr/>
          <p:nvPr/>
        </p:nvSpPr>
        <p:spPr>
          <a:xfrm>
            <a:off x="7498080" y="4754880"/>
            <a:ext cx="2926080" cy="1097280"/>
          </a:xfrm>
          <a:prstGeom prst="roundRect">
            <a:avLst>
              <a:gd name="adj" fmla="val 16667"/>
            </a:avLst>
          </a:prstGeom>
          <a:solidFill>
            <a:srgbClr val="F0F0F0"/>
          </a:solidFill>
          <a:ln w="6350">
            <a:solidFill>
              <a:srgbClr val="DDDDDD"/>
            </a:solidFill>
            <a:prstDash val="solid"/>
          </a:ln>
        </p:spPr>
      </p:sp>
      <p:sp>
        <p:nvSpPr>
          <p:cNvPr id="13" name="Text 11"/>
          <p:cNvSpPr/>
          <p:nvPr/>
        </p:nvSpPr>
        <p:spPr>
          <a:xfrm>
            <a:off x="7498080" y="4892040"/>
            <a:ext cx="2926080" cy="365760"/>
          </a:xfrm>
          <a:prstGeom prst="rect">
            <a:avLst/>
          </a:prstGeom>
          <a:noFill/>
          <a:ln/>
        </p:spPr>
        <p:txBody>
          <a:bodyPr wrap="square" rtlCol="0" anchor="ctr"/>
          <a:lstStyle/>
          <a:p>
            <a:pPr algn="ctr" indent="0" marL="0">
              <a:buNone/>
            </a:pPr>
            <a:r>
              <a:rPr lang="en-US" sz="1000" b="1" dirty="0">
                <a:solidFill>
                  <a:srgbClr val="AAAAAA"/>
                </a:solidFill>
                <a:latin typeface="Arial" pitchFamily="34" charset="0"/>
                <a:ea typeface="Arial" pitchFamily="34" charset="-122"/>
                <a:cs typeface="Arial" pitchFamily="34" charset="-120"/>
              </a:rPr>
              <a:t>OPEN SOURCE</a:t>
            </a:r>
            <a:endParaRPr lang="en-US" sz="1000" dirty="0"/>
          </a:p>
        </p:txBody>
      </p:sp>
      <p:sp>
        <p:nvSpPr>
          <p:cNvPr id="14" name="Text 12"/>
          <p:cNvSpPr/>
          <p:nvPr/>
        </p:nvSpPr>
        <p:spPr>
          <a:xfrm>
            <a:off x="7498080" y="5212080"/>
            <a:ext cx="2926080" cy="365760"/>
          </a:xfrm>
          <a:prstGeom prst="rect">
            <a:avLst/>
          </a:prstGeom>
          <a:noFill/>
          <a:ln/>
        </p:spPr>
        <p:txBody>
          <a:bodyPr wrap="square" rtlCol="0" anchor="ctr"/>
          <a:lstStyle/>
          <a:p>
            <a:pPr algn="ctr" indent="0" marL="0">
              <a:buNone/>
            </a:pPr>
            <a:r>
              <a:rPr lang="en-US" sz="1200" b="1" dirty="0">
                <a:solidFill>
                  <a:srgbClr val="1A1A1A"/>
                </a:solidFill>
                <a:latin typeface="Arial" pitchFamily="34" charset="0"/>
                <a:ea typeface="Arial" pitchFamily="34" charset="-122"/>
                <a:cs typeface="Arial" pitchFamily="34" charset="-120"/>
              </a:rPr>
              <a:t>github.com/piyushhhxyz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THE VISION</a:t>
            </a:r>
            <a:endParaRPr lang="en-US" sz="1000" dirty="0"/>
          </a:p>
        </p:txBody>
      </p:sp>
      <p:sp>
        <p:nvSpPr>
          <p:cNvPr id="3" name="Shape 1"/>
          <p:cNvSpPr/>
          <p:nvPr/>
        </p:nvSpPr>
        <p:spPr>
          <a:xfrm>
            <a:off x="548640" y="914400"/>
            <a:ext cx="6858000" cy="5486400"/>
          </a:xfrm>
          <a:prstGeom prst="roundRect">
            <a:avLst>
              <a:gd name="adj" fmla="val 333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4" name="Text 2"/>
          <p:cNvSpPr/>
          <p:nvPr/>
        </p:nvSpPr>
        <p:spPr>
          <a:xfrm>
            <a:off x="1005840" y="1188720"/>
            <a:ext cx="5943600" cy="640080"/>
          </a:xfrm>
          <a:prstGeom prst="rect">
            <a:avLst/>
          </a:prstGeom>
          <a:noFill/>
          <a:ln/>
        </p:spPr>
        <p:txBody>
          <a:bodyPr wrap="square" rtlCol="0" anchor="ctr"/>
          <a:lstStyle/>
          <a:p>
            <a:pPr indent="0" marL="0">
              <a:buNone/>
            </a:pPr>
            <a:r>
              <a:rPr lang="en-US" sz="3200" b="1" dirty="0">
                <a:solidFill>
                  <a:srgbClr val="000000"/>
                </a:solidFill>
                <a:latin typeface="Arial" pitchFamily="34" charset="0"/>
                <a:ea typeface="Arial" pitchFamily="34" charset="-122"/>
                <a:cs typeface="Arial" pitchFamily="34" charset="-120"/>
              </a:rPr>
              <a:t>Imagine this.</a:t>
            </a:r>
            <a:endParaRPr lang="en-US" sz="3200" dirty="0"/>
          </a:p>
        </p:txBody>
      </p:sp>
      <p:sp>
        <p:nvSpPr>
          <p:cNvPr id="5" name="Text 3"/>
          <p:cNvSpPr/>
          <p:nvPr/>
        </p:nvSpPr>
        <p:spPr>
          <a:xfrm>
            <a:off x="1005840" y="1920240"/>
            <a:ext cx="5943600" cy="2743200"/>
          </a:xfrm>
          <a:prstGeom prst="rect">
            <a:avLst/>
          </a:prstGeom>
          <a:noFill/>
          <a:ln/>
        </p:spPr>
        <p:txBody>
          <a:bodyPr wrap="square" rtlCol="0" anchor="t"/>
          <a:lstStyle/>
          <a:p>
            <a:pPr indent="0" marL="0">
              <a:lnSpc>
                <a:spcPct val="150000"/>
              </a:lnSpc>
              <a:buNone/>
            </a:pPr>
            <a:r>
              <a:rPr lang="en-US" sz="1400" dirty="0">
                <a:solidFill>
                  <a:srgbClr val="444444"/>
                </a:solidFill>
                <a:latin typeface="Arial" pitchFamily="34" charset="0"/>
                <a:ea typeface="Arial" pitchFamily="34" charset="-122"/>
                <a:cs typeface="Arial" pitchFamily="34" charset="-120"/>
              </a:rPr>
              <a:t>You built an AI agent that checks all your emails, replies to every single one without a miss, schedules your meetings, and handles your invoices.
It took you weeks to get the prompts right, wire up the tools, and tune the knowledge base. It's perfect.
Your friend sees it working and says:
</a:t>
            </a:r>
            <a:endParaRPr lang="en-US" sz="1400" dirty="0"/>
          </a:p>
        </p:txBody>
      </p:sp>
      <p:sp>
        <p:nvSpPr>
          <p:cNvPr id="6" name="Text 4"/>
          <p:cNvSpPr/>
          <p:nvPr/>
        </p:nvSpPr>
        <p:spPr>
          <a:xfrm>
            <a:off x="1005840" y="4389120"/>
            <a:ext cx="5943600" cy="548640"/>
          </a:xfrm>
          <a:prstGeom prst="rect">
            <a:avLst/>
          </a:prstGeom>
          <a:noFill/>
          <a:ln/>
        </p:spPr>
        <p:txBody>
          <a:bodyPr wrap="square" rtlCol="0" anchor="ctr"/>
          <a:lstStyle/>
          <a:p>
            <a:pPr indent="0" marL="0">
              <a:buNone/>
            </a:pPr>
            <a:r>
              <a:rPr lang="en-US" sz="2800" b="1" i="1" dirty="0">
                <a:solidFill>
                  <a:srgbClr val="000000"/>
                </a:solidFill>
                <a:latin typeface="Arial" pitchFamily="34" charset="0"/>
                <a:ea typeface="Arial" pitchFamily="34" charset="-122"/>
                <a:cs typeface="Arial" pitchFamily="34" charset="-120"/>
              </a:rPr>
              <a:t>"I want that."</a:t>
            </a:r>
            <a:endParaRPr lang="en-US" sz="2800" dirty="0"/>
          </a:p>
        </p:txBody>
      </p:sp>
      <p:sp>
        <p:nvSpPr>
          <p:cNvPr id="7" name="Text 5"/>
          <p:cNvSpPr/>
          <p:nvPr/>
        </p:nvSpPr>
        <p:spPr>
          <a:xfrm>
            <a:off x="1005840" y="5029200"/>
            <a:ext cx="5943600" cy="365760"/>
          </a:xfrm>
          <a:prstGeom prst="rect">
            <a:avLst/>
          </a:prstGeom>
          <a:noFill/>
          <a:ln/>
        </p:spPr>
        <p:txBody>
          <a:bodyPr wrap="square" rtlCol="0" anchor="ctr"/>
          <a:lstStyle/>
          <a:p>
            <a:pPr indent="0" marL="0">
              <a:buNone/>
            </a:pPr>
            <a:r>
              <a:rPr lang="en-US" sz="1400" dirty="0">
                <a:solidFill>
                  <a:srgbClr val="777777"/>
                </a:solidFill>
                <a:latin typeface="Arial" pitchFamily="34" charset="0"/>
                <a:ea typeface="Arial" pitchFamily="34" charset="-122"/>
                <a:cs typeface="Arial" pitchFamily="34" charset="-120"/>
              </a:rPr>
              <a:t>Today, there is no way to give it to them.</a:t>
            </a:r>
            <a:endParaRPr lang="en-US" sz="1400" dirty="0"/>
          </a:p>
        </p:txBody>
      </p:sp>
      <p:sp>
        <p:nvSpPr>
          <p:cNvPr id="8" name="Shape 6"/>
          <p:cNvSpPr/>
          <p:nvPr/>
        </p:nvSpPr>
        <p:spPr>
          <a:xfrm>
            <a:off x="7680960" y="914400"/>
            <a:ext cx="3931920" cy="1645920"/>
          </a:xfrm>
          <a:prstGeom prst="roundRect">
            <a:avLst>
              <a:gd name="adj" fmla="val 11111"/>
            </a:avLst>
          </a:prstGeom>
          <a:solidFill>
            <a:srgbClr val="F0F0F0"/>
          </a:solidFill>
          <a:ln w="6350">
            <a:solidFill>
              <a:srgbClr val="DDDDDD"/>
            </a:solidFill>
            <a:prstDash val="solid"/>
          </a:ln>
        </p:spPr>
      </p:sp>
      <p:sp>
        <p:nvSpPr>
          <p:cNvPr id="9" name="Text 7"/>
          <p:cNvSpPr/>
          <p:nvPr/>
        </p:nvSpPr>
        <p:spPr>
          <a:xfrm>
            <a:off x="7955280" y="1097280"/>
            <a:ext cx="338328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OPTION A</a:t>
            </a:r>
            <a:endParaRPr lang="en-US" sz="1000" dirty="0"/>
          </a:p>
        </p:txBody>
      </p:sp>
      <p:sp>
        <p:nvSpPr>
          <p:cNvPr id="10" name="Text 8"/>
          <p:cNvSpPr/>
          <p:nvPr/>
        </p:nvSpPr>
        <p:spPr>
          <a:xfrm>
            <a:off x="7955280" y="1417320"/>
            <a:ext cx="3383280" cy="365760"/>
          </a:xfrm>
          <a:prstGeom prst="rect">
            <a:avLst/>
          </a:prstGeom>
          <a:noFill/>
          <a:ln/>
        </p:spPr>
        <p:txBody>
          <a:bodyPr wrap="square" rtlCol="0" anchor="ctr"/>
          <a:lstStyle/>
          <a:p>
            <a:pPr indent="0" marL="0">
              <a:buNone/>
            </a:pPr>
            <a:r>
              <a:rPr lang="en-US" sz="1500" b="1" dirty="0">
                <a:solidFill>
                  <a:srgbClr val="1A1A1A"/>
                </a:solidFill>
                <a:latin typeface="Arial" pitchFamily="34" charset="0"/>
                <a:ea typeface="Arial" pitchFamily="34" charset="-122"/>
                <a:cs typeface="Arial" pitchFamily="34" charset="-120"/>
              </a:rPr>
              <a:t>"Rebuild it yourself"</a:t>
            </a:r>
            <a:endParaRPr lang="en-US" sz="1500" dirty="0"/>
          </a:p>
        </p:txBody>
      </p:sp>
      <p:sp>
        <p:nvSpPr>
          <p:cNvPr id="11" name="Text 9"/>
          <p:cNvSpPr/>
          <p:nvPr/>
        </p:nvSpPr>
        <p:spPr>
          <a:xfrm>
            <a:off x="7955280" y="1828800"/>
            <a:ext cx="3383280" cy="548640"/>
          </a:xfrm>
          <a:prstGeom prst="rect">
            <a:avLst/>
          </a:prstGeom>
          <a:noFill/>
          <a:ln/>
        </p:spPr>
        <p:txBody>
          <a:bodyPr wrap="square" rtlCol="0" anchor="ctr"/>
          <a:lstStyle/>
          <a:p>
            <a:pPr indent="0" marL="0">
              <a:lnSpc>
                <a:spcPct val="130000"/>
              </a:lnSpc>
              <a:buNone/>
            </a:pPr>
            <a:r>
              <a:rPr lang="en-US" sz="1100" dirty="0">
                <a:solidFill>
                  <a:srgbClr val="777777"/>
                </a:solidFill>
                <a:latin typeface="Arial" pitchFamily="34" charset="0"/>
                <a:ea typeface="Arial" pitchFamily="34" charset="-122"/>
                <a:cs typeface="Arial" pitchFamily="34" charset="-120"/>
              </a:rPr>
              <a:t>Weeks of work duplicated.</a:t>
            </a:r>
            <a:endParaRPr lang="en-US" sz="1100" dirty="0"/>
          </a:p>
          <a:p>
            <a:pPr indent="0" marL="0">
              <a:lnSpc>
                <a:spcPct val="130000"/>
              </a:lnSpc>
              <a:buNone/>
            </a:pPr>
            <a:r>
              <a:rPr lang="en-US" sz="1100" dirty="0">
                <a:solidFill>
                  <a:srgbClr val="777777"/>
                </a:solidFill>
                <a:latin typeface="Arial" pitchFamily="34" charset="0"/>
                <a:ea typeface="Arial" pitchFamily="34" charset="-122"/>
                <a:cs typeface="Arial" pitchFamily="34" charset="-120"/>
              </a:rPr>
              <a:t>Prompts, tools, knowledge — all lost.</a:t>
            </a:r>
            <a:endParaRPr lang="en-US" sz="1100" dirty="0"/>
          </a:p>
        </p:txBody>
      </p:sp>
      <p:sp>
        <p:nvSpPr>
          <p:cNvPr id="12" name="Shape 10"/>
          <p:cNvSpPr/>
          <p:nvPr/>
        </p:nvSpPr>
        <p:spPr>
          <a:xfrm>
            <a:off x="7680960" y="2834640"/>
            <a:ext cx="3931920" cy="1645920"/>
          </a:xfrm>
          <a:prstGeom prst="roundRect">
            <a:avLst>
              <a:gd name="adj" fmla="val 11111"/>
            </a:avLst>
          </a:prstGeom>
          <a:solidFill>
            <a:srgbClr val="F0F0F0"/>
          </a:solidFill>
          <a:ln w="6350">
            <a:solidFill>
              <a:srgbClr val="DDDDDD"/>
            </a:solidFill>
            <a:prstDash val="solid"/>
          </a:ln>
        </p:spPr>
      </p:sp>
      <p:sp>
        <p:nvSpPr>
          <p:cNvPr id="13" name="Text 11"/>
          <p:cNvSpPr/>
          <p:nvPr/>
        </p:nvSpPr>
        <p:spPr>
          <a:xfrm>
            <a:off x="7955280" y="3017520"/>
            <a:ext cx="338328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OPTION B</a:t>
            </a:r>
            <a:endParaRPr lang="en-US" sz="1000" dirty="0"/>
          </a:p>
        </p:txBody>
      </p:sp>
      <p:sp>
        <p:nvSpPr>
          <p:cNvPr id="14" name="Text 12"/>
          <p:cNvSpPr/>
          <p:nvPr/>
        </p:nvSpPr>
        <p:spPr>
          <a:xfrm>
            <a:off x="7955280" y="3337560"/>
            <a:ext cx="3383280" cy="365760"/>
          </a:xfrm>
          <a:prstGeom prst="rect">
            <a:avLst/>
          </a:prstGeom>
          <a:noFill/>
          <a:ln/>
        </p:spPr>
        <p:txBody>
          <a:bodyPr wrap="square" rtlCol="0" anchor="ctr"/>
          <a:lstStyle/>
          <a:p>
            <a:pPr indent="0" marL="0">
              <a:buNone/>
            </a:pPr>
            <a:r>
              <a:rPr lang="en-US" sz="1500" b="1" dirty="0">
                <a:solidFill>
                  <a:srgbClr val="1A1A1A"/>
                </a:solidFill>
                <a:latin typeface="Arial" pitchFamily="34" charset="0"/>
                <a:ea typeface="Arial" pitchFamily="34" charset="-122"/>
                <a:cs typeface="Arial" pitchFamily="34" charset="-120"/>
              </a:rPr>
              <a:t>"Use my account"</a:t>
            </a:r>
            <a:endParaRPr lang="en-US" sz="1500" dirty="0"/>
          </a:p>
        </p:txBody>
      </p:sp>
      <p:sp>
        <p:nvSpPr>
          <p:cNvPr id="15" name="Text 13"/>
          <p:cNvSpPr/>
          <p:nvPr/>
        </p:nvSpPr>
        <p:spPr>
          <a:xfrm>
            <a:off x="7955280" y="3749040"/>
            <a:ext cx="3383280" cy="548640"/>
          </a:xfrm>
          <a:prstGeom prst="rect">
            <a:avLst/>
          </a:prstGeom>
          <a:noFill/>
          <a:ln/>
        </p:spPr>
        <p:txBody>
          <a:bodyPr wrap="square" rtlCol="0" anchor="ctr"/>
          <a:lstStyle/>
          <a:p>
            <a:pPr indent="0" marL="0">
              <a:lnSpc>
                <a:spcPct val="130000"/>
              </a:lnSpc>
              <a:buNone/>
            </a:pPr>
            <a:r>
              <a:rPr lang="en-US" sz="1100" dirty="0">
                <a:solidFill>
                  <a:srgbClr val="777777"/>
                </a:solidFill>
                <a:latin typeface="Arial" pitchFamily="34" charset="0"/>
                <a:ea typeface="Arial" pitchFamily="34" charset="-122"/>
                <a:cs typeface="Arial" pitchFamily="34" charset="-120"/>
              </a:rPr>
              <a:t>Share your login? Your API keys?</a:t>
            </a:r>
            <a:endParaRPr lang="en-US" sz="1100" dirty="0"/>
          </a:p>
          <a:p>
            <a:pPr indent="0" marL="0">
              <a:lnSpc>
                <a:spcPct val="130000"/>
              </a:lnSpc>
              <a:buNone/>
            </a:pPr>
            <a:r>
              <a:rPr lang="en-US" sz="1100" dirty="0">
                <a:solidFill>
                  <a:srgbClr val="777777"/>
                </a:solidFill>
                <a:latin typeface="Arial" pitchFamily="34" charset="0"/>
                <a:ea typeface="Arial" pitchFamily="34" charset="-122"/>
                <a:cs typeface="Arial" pitchFamily="34" charset="-120"/>
              </a:rPr>
              <a:t>Your entire platform access?</a:t>
            </a:r>
            <a:endParaRPr lang="en-US" sz="1100" dirty="0"/>
          </a:p>
        </p:txBody>
      </p:sp>
      <p:sp>
        <p:nvSpPr>
          <p:cNvPr id="16" name="Shape 14"/>
          <p:cNvSpPr/>
          <p:nvPr/>
        </p:nvSpPr>
        <p:spPr>
          <a:xfrm>
            <a:off x="7680960" y="4754880"/>
            <a:ext cx="3931920" cy="1645920"/>
          </a:xfrm>
          <a:prstGeom prst="roundRect">
            <a:avLst>
              <a:gd name="adj" fmla="val 11111"/>
            </a:avLst>
          </a:prstGeom>
          <a:solidFill>
            <a:srgbClr val="000000"/>
          </a:solidFill>
          <a:ln w="6350">
            <a:solidFill>
              <a:srgbClr val="DDDDDD"/>
            </a:solidFill>
            <a:prstDash val="solid"/>
          </a:ln>
        </p:spPr>
      </p:sp>
      <p:sp>
        <p:nvSpPr>
          <p:cNvPr id="17" name="Text 15"/>
          <p:cNvSpPr/>
          <p:nvPr/>
        </p:nvSpPr>
        <p:spPr>
          <a:xfrm>
            <a:off x="7955280" y="4937760"/>
            <a:ext cx="3383280" cy="274320"/>
          </a:xfrm>
          <a:prstGeom prst="rect">
            <a:avLst/>
          </a:prstGeom>
          <a:noFill/>
          <a:ln/>
        </p:spPr>
        <p:txBody>
          <a:bodyPr wrap="square" rtlCol="0" anchor="ctr"/>
          <a:lstStyle/>
          <a:p>
            <a:pPr indent="0" marL="0">
              <a:buNone/>
            </a:pPr>
            <a:r>
              <a:rPr lang="en-US" sz="1000" b="1" dirty="0">
                <a:solidFill>
                  <a:srgbClr val="666666"/>
                </a:solidFill>
                <a:latin typeface="Arial" pitchFamily="34" charset="0"/>
                <a:ea typeface="Arial" pitchFamily="34" charset="-122"/>
                <a:cs typeface="Arial" pitchFamily="34" charset="-120"/>
              </a:rPr>
              <a:t>OPTION C</a:t>
            </a:r>
            <a:endParaRPr lang="en-US" sz="1000" dirty="0"/>
          </a:p>
        </p:txBody>
      </p:sp>
      <p:sp>
        <p:nvSpPr>
          <p:cNvPr id="18" name="Text 16"/>
          <p:cNvSpPr/>
          <p:nvPr/>
        </p:nvSpPr>
        <p:spPr>
          <a:xfrm>
            <a:off x="7955280" y="5257800"/>
            <a:ext cx="338328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AgentOnAir</a:t>
            </a:r>
            <a:endParaRPr lang="en-US" sz="1500" dirty="0"/>
          </a:p>
        </p:txBody>
      </p:sp>
      <p:sp>
        <p:nvSpPr>
          <p:cNvPr id="19" name="Text 17"/>
          <p:cNvSpPr/>
          <p:nvPr/>
        </p:nvSpPr>
        <p:spPr>
          <a:xfrm>
            <a:off x="7955280" y="5669280"/>
            <a:ext cx="3383280" cy="548640"/>
          </a:xfrm>
          <a:prstGeom prst="rect">
            <a:avLst/>
          </a:prstGeom>
          <a:noFill/>
          <a:ln/>
        </p:spPr>
        <p:txBody>
          <a:bodyPr wrap="square" rtlCol="0" anchor="ctr"/>
          <a:lstStyle/>
          <a:p>
            <a:pPr indent="0" marL="0">
              <a:lnSpc>
                <a:spcPct val="130000"/>
              </a:lnSpc>
              <a:buNone/>
            </a:pPr>
            <a:r>
              <a:rPr lang="en-US" sz="1100" dirty="0">
                <a:solidFill>
                  <a:srgbClr val="CCCCCC"/>
                </a:solidFill>
                <a:latin typeface="Courier New" pitchFamily="34" charset="0"/>
                <a:ea typeface="Courier New" pitchFamily="34" charset="-122"/>
                <a:cs typeface="Courier New" pitchFamily="34" charset="-120"/>
              </a:rPr>
              <a:t>agentbox install email-agent.agent</a:t>
            </a:r>
            <a:endParaRPr lang="en-US" sz="1100" dirty="0"/>
          </a:p>
          <a:p>
            <a:pPr indent="0" marL="0">
              <a:lnSpc>
                <a:spcPct val="130000"/>
              </a:lnSpc>
              <a:buNone/>
            </a:pPr>
            <a:r>
              <a:rPr lang="en-US" sz="1100" dirty="0">
                <a:solidFill>
                  <a:srgbClr val="CCCCCC"/>
                </a:solidFill>
                <a:latin typeface="Courier New" pitchFamily="34" charset="0"/>
                <a:ea typeface="Courier New" pitchFamily="34" charset="-122"/>
                <a:cs typeface="Courier New" pitchFamily="34" charset="-120"/>
              </a:rPr>
              <a:t>One file. One command. Done.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THE PROBLEM</a:t>
            </a:r>
            <a:endParaRPr lang="en-US" sz="1000" dirty="0"/>
          </a:p>
        </p:txBody>
      </p:sp>
      <p:sp>
        <p:nvSpPr>
          <p:cNvPr id="3" name="Text 1"/>
          <p:cNvSpPr/>
          <p:nvPr/>
        </p:nvSpPr>
        <p:spPr>
          <a:xfrm>
            <a:off x="731520" y="822960"/>
            <a:ext cx="10698480" cy="1645920"/>
          </a:xfrm>
          <a:prstGeom prst="rect">
            <a:avLst/>
          </a:prstGeom>
          <a:noFill/>
          <a:ln/>
        </p:spPr>
        <p:txBody>
          <a:bodyPr wrap="square" rtlCol="0" anchor="ctr"/>
          <a:lstStyle/>
          <a:p>
            <a:pPr indent="0" marL="0">
              <a:buNone/>
            </a:pPr>
            <a:r>
              <a:rPr lang="en-US" sz="3600" b="1" dirty="0">
                <a:solidFill>
                  <a:srgbClr val="1A1A1A"/>
                </a:solidFill>
              </a:rPr>
              <a:t>Every software format has a sharing primitive.
</a:t>
            </a:r>
            <a:endParaRPr lang="en-US" sz="3600" dirty="0"/>
          </a:p>
          <a:p>
            <a:pPr indent="0" marL="0">
              <a:buNone/>
            </a:pPr>
            <a:r>
              <a:rPr lang="en-US" sz="3600" b="1" dirty="0">
                <a:solidFill>
                  <a:srgbClr val="000000"/>
                </a:solidFill>
              </a:rPr>
              <a:t>AI agents don't.</a:t>
            </a:r>
            <a:endParaRPr lang="en-US" sz="3600" dirty="0"/>
          </a:p>
        </p:txBody>
      </p:sp>
      <p:sp>
        <p:nvSpPr>
          <p:cNvPr id="4" name="Shape 2"/>
          <p:cNvSpPr/>
          <p:nvPr/>
        </p:nvSpPr>
        <p:spPr>
          <a:xfrm>
            <a:off x="548640" y="2651760"/>
            <a:ext cx="2606040" cy="1325880"/>
          </a:xfrm>
          <a:prstGeom prst="roundRect">
            <a:avLst>
              <a:gd name="adj" fmla="val 1379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731520" y="2788920"/>
            <a:ext cx="2240280" cy="32004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Codebase</a:t>
            </a:r>
            <a:endParaRPr lang="en-US" sz="1200" dirty="0"/>
          </a:p>
        </p:txBody>
      </p:sp>
      <p:sp>
        <p:nvSpPr>
          <p:cNvPr id="6" name="Text 4"/>
          <p:cNvSpPr/>
          <p:nvPr/>
        </p:nvSpPr>
        <p:spPr>
          <a:xfrm>
            <a:off x="731520" y="3108960"/>
            <a:ext cx="2240280" cy="365760"/>
          </a:xfrm>
          <a:prstGeom prst="rect">
            <a:avLst/>
          </a:prstGeom>
          <a:noFill/>
          <a:ln/>
        </p:spPr>
        <p:txBody>
          <a:bodyPr wrap="square" rtlCol="0" anchor="ctr"/>
          <a:lstStyle/>
          <a:p>
            <a:pPr indent="0" marL="0">
              <a:buNone/>
            </a:pPr>
            <a:r>
              <a:rPr lang="en-US" sz="1600" b="1" dirty="0">
                <a:solidFill>
                  <a:srgbClr val="000000"/>
                </a:solidFill>
                <a:latin typeface="Courier New" pitchFamily="34" charset="0"/>
                <a:ea typeface="Courier New" pitchFamily="34" charset="-122"/>
                <a:cs typeface="Courier New" pitchFamily="34" charset="-120"/>
              </a:rPr>
              <a:t>.git</a:t>
            </a:r>
            <a:endParaRPr lang="en-US" sz="1600" dirty="0"/>
          </a:p>
        </p:txBody>
      </p:sp>
      <p:sp>
        <p:nvSpPr>
          <p:cNvPr id="7" name="Text 5"/>
          <p:cNvSpPr/>
          <p:nvPr/>
        </p:nvSpPr>
        <p:spPr>
          <a:xfrm>
            <a:off x="731520" y="3520440"/>
            <a:ext cx="224028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Push, pull, clone</a:t>
            </a:r>
            <a:endParaRPr lang="en-US" sz="1000" dirty="0"/>
          </a:p>
        </p:txBody>
      </p:sp>
      <p:sp>
        <p:nvSpPr>
          <p:cNvPr id="8" name="Shape 6"/>
          <p:cNvSpPr/>
          <p:nvPr/>
        </p:nvSpPr>
        <p:spPr>
          <a:xfrm>
            <a:off x="3383280" y="2651760"/>
            <a:ext cx="2606040" cy="1325880"/>
          </a:xfrm>
          <a:prstGeom prst="roundRect">
            <a:avLst>
              <a:gd name="adj" fmla="val 1379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9" name="Text 7"/>
          <p:cNvSpPr/>
          <p:nvPr/>
        </p:nvSpPr>
        <p:spPr>
          <a:xfrm>
            <a:off x="3566160" y="2788920"/>
            <a:ext cx="2240280" cy="32004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iOS App</a:t>
            </a:r>
            <a:endParaRPr lang="en-US" sz="1200" dirty="0"/>
          </a:p>
        </p:txBody>
      </p:sp>
      <p:sp>
        <p:nvSpPr>
          <p:cNvPr id="10" name="Text 8"/>
          <p:cNvSpPr/>
          <p:nvPr/>
        </p:nvSpPr>
        <p:spPr>
          <a:xfrm>
            <a:off x="3566160" y="3108960"/>
            <a:ext cx="2240280" cy="365760"/>
          </a:xfrm>
          <a:prstGeom prst="rect">
            <a:avLst/>
          </a:prstGeom>
          <a:noFill/>
          <a:ln/>
        </p:spPr>
        <p:txBody>
          <a:bodyPr wrap="square" rtlCol="0" anchor="ctr"/>
          <a:lstStyle/>
          <a:p>
            <a:pPr indent="0" marL="0">
              <a:buNone/>
            </a:pPr>
            <a:r>
              <a:rPr lang="en-US" sz="1600" b="1" dirty="0">
                <a:solidFill>
                  <a:srgbClr val="000000"/>
                </a:solidFill>
                <a:latin typeface="Courier New" pitchFamily="34" charset="0"/>
                <a:ea typeface="Courier New" pitchFamily="34" charset="-122"/>
                <a:cs typeface="Courier New" pitchFamily="34" charset="-120"/>
              </a:rPr>
              <a:t>.ipa</a:t>
            </a:r>
            <a:endParaRPr lang="en-US" sz="1600" dirty="0"/>
          </a:p>
        </p:txBody>
      </p:sp>
      <p:sp>
        <p:nvSpPr>
          <p:cNvPr id="11" name="Text 9"/>
          <p:cNvSpPr/>
          <p:nvPr/>
        </p:nvSpPr>
        <p:spPr>
          <a:xfrm>
            <a:off x="3566160" y="3520440"/>
            <a:ext cx="224028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TestFlight, App Store</a:t>
            </a:r>
            <a:endParaRPr lang="en-US" sz="1000" dirty="0"/>
          </a:p>
        </p:txBody>
      </p:sp>
      <p:sp>
        <p:nvSpPr>
          <p:cNvPr id="12" name="Shape 10"/>
          <p:cNvSpPr/>
          <p:nvPr/>
        </p:nvSpPr>
        <p:spPr>
          <a:xfrm>
            <a:off x="6217920" y="2651760"/>
            <a:ext cx="2606040" cy="1325880"/>
          </a:xfrm>
          <a:prstGeom prst="roundRect">
            <a:avLst>
              <a:gd name="adj" fmla="val 1379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3" name="Text 11"/>
          <p:cNvSpPr/>
          <p:nvPr/>
        </p:nvSpPr>
        <p:spPr>
          <a:xfrm>
            <a:off x="6400800" y="2788920"/>
            <a:ext cx="2240280" cy="32004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Android App</a:t>
            </a:r>
            <a:endParaRPr lang="en-US" sz="1200" dirty="0"/>
          </a:p>
        </p:txBody>
      </p:sp>
      <p:sp>
        <p:nvSpPr>
          <p:cNvPr id="14" name="Text 12"/>
          <p:cNvSpPr/>
          <p:nvPr/>
        </p:nvSpPr>
        <p:spPr>
          <a:xfrm>
            <a:off x="6400800" y="3108960"/>
            <a:ext cx="2240280" cy="365760"/>
          </a:xfrm>
          <a:prstGeom prst="rect">
            <a:avLst/>
          </a:prstGeom>
          <a:noFill/>
          <a:ln/>
        </p:spPr>
        <p:txBody>
          <a:bodyPr wrap="square" rtlCol="0" anchor="ctr"/>
          <a:lstStyle/>
          <a:p>
            <a:pPr indent="0" marL="0">
              <a:buNone/>
            </a:pPr>
            <a:r>
              <a:rPr lang="en-US" sz="1600" b="1" dirty="0">
                <a:solidFill>
                  <a:srgbClr val="000000"/>
                </a:solidFill>
                <a:latin typeface="Courier New" pitchFamily="34" charset="0"/>
                <a:ea typeface="Courier New" pitchFamily="34" charset="-122"/>
                <a:cs typeface="Courier New" pitchFamily="34" charset="-120"/>
              </a:rPr>
              <a:t>.apk</a:t>
            </a:r>
            <a:endParaRPr lang="en-US" sz="1600" dirty="0"/>
          </a:p>
        </p:txBody>
      </p:sp>
      <p:sp>
        <p:nvSpPr>
          <p:cNvPr id="15" name="Text 13"/>
          <p:cNvSpPr/>
          <p:nvPr/>
        </p:nvSpPr>
        <p:spPr>
          <a:xfrm>
            <a:off x="6400800" y="3520440"/>
            <a:ext cx="224028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Play Store, sideload</a:t>
            </a:r>
            <a:endParaRPr lang="en-US" sz="1000" dirty="0"/>
          </a:p>
        </p:txBody>
      </p:sp>
      <p:sp>
        <p:nvSpPr>
          <p:cNvPr id="16" name="Shape 14"/>
          <p:cNvSpPr/>
          <p:nvPr/>
        </p:nvSpPr>
        <p:spPr>
          <a:xfrm>
            <a:off x="9052560" y="2651760"/>
            <a:ext cx="2606040" cy="1325880"/>
          </a:xfrm>
          <a:prstGeom prst="roundRect">
            <a:avLst>
              <a:gd name="adj" fmla="val 1379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7" name="Text 15"/>
          <p:cNvSpPr/>
          <p:nvPr/>
        </p:nvSpPr>
        <p:spPr>
          <a:xfrm>
            <a:off x="9235440" y="2788920"/>
            <a:ext cx="2240280" cy="32004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Website</a:t>
            </a:r>
            <a:endParaRPr lang="en-US" sz="1200" dirty="0"/>
          </a:p>
        </p:txBody>
      </p:sp>
      <p:sp>
        <p:nvSpPr>
          <p:cNvPr id="18" name="Text 16"/>
          <p:cNvSpPr/>
          <p:nvPr/>
        </p:nvSpPr>
        <p:spPr>
          <a:xfrm>
            <a:off x="9235440" y="3108960"/>
            <a:ext cx="2240280" cy="365760"/>
          </a:xfrm>
          <a:prstGeom prst="rect">
            <a:avLst/>
          </a:prstGeom>
          <a:noFill/>
          <a:ln/>
        </p:spPr>
        <p:txBody>
          <a:bodyPr wrap="square" rtlCol="0" anchor="ctr"/>
          <a:lstStyle/>
          <a:p>
            <a:pPr indent="0" marL="0">
              <a:buNone/>
            </a:pPr>
            <a:r>
              <a:rPr lang="en-US" sz="1600" b="1" dirty="0">
                <a:solidFill>
                  <a:srgbClr val="000000"/>
                </a:solidFill>
                <a:latin typeface="Courier New" pitchFamily="34" charset="0"/>
                <a:ea typeface="Courier New" pitchFamily="34" charset="-122"/>
                <a:cs typeface="Courier New" pitchFamily="34" charset="-120"/>
              </a:rPr>
              <a:t>vercel deploy</a:t>
            </a:r>
            <a:endParaRPr lang="en-US" sz="1600" dirty="0"/>
          </a:p>
        </p:txBody>
      </p:sp>
      <p:sp>
        <p:nvSpPr>
          <p:cNvPr id="19" name="Text 17"/>
          <p:cNvSpPr/>
          <p:nvPr/>
        </p:nvSpPr>
        <p:spPr>
          <a:xfrm>
            <a:off x="9235440" y="3520440"/>
            <a:ext cx="224028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One command, live</a:t>
            </a:r>
            <a:endParaRPr lang="en-US" sz="1000" dirty="0"/>
          </a:p>
        </p:txBody>
      </p:sp>
      <p:sp>
        <p:nvSpPr>
          <p:cNvPr id="20" name="Shape 18"/>
          <p:cNvSpPr/>
          <p:nvPr/>
        </p:nvSpPr>
        <p:spPr>
          <a:xfrm>
            <a:off x="548640" y="4206240"/>
            <a:ext cx="2606040" cy="1325880"/>
          </a:xfrm>
          <a:prstGeom prst="roundRect">
            <a:avLst>
              <a:gd name="adj" fmla="val 1379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1" name="Text 19"/>
          <p:cNvSpPr/>
          <p:nvPr/>
        </p:nvSpPr>
        <p:spPr>
          <a:xfrm>
            <a:off x="731520" y="4343400"/>
            <a:ext cx="2240280" cy="32004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npm Package</a:t>
            </a:r>
            <a:endParaRPr lang="en-US" sz="1200" dirty="0"/>
          </a:p>
        </p:txBody>
      </p:sp>
      <p:sp>
        <p:nvSpPr>
          <p:cNvPr id="22" name="Text 20"/>
          <p:cNvSpPr/>
          <p:nvPr/>
        </p:nvSpPr>
        <p:spPr>
          <a:xfrm>
            <a:off x="731520" y="4663440"/>
            <a:ext cx="2240280" cy="365760"/>
          </a:xfrm>
          <a:prstGeom prst="rect">
            <a:avLst/>
          </a:prstGeom>
          <a:noFill/>
          <a:ln/>
        </p:spPr>
        <p:txBody>
          <a:bodyPr wrap="square" rtlCol="0" anchor="ctr"/>
          <a:lstStyle/>
          <a:p>
            <a:pPr indent="0" marL="0">
              <a:buNone/>
            </a:pPr>
            <a:r>
              <a:rPr lang="en-US" sz="1600" b="1" dirty="0">
                <a:solidFill>
                  <a:srgbClr val="000000"/>
                </a:solidFill>
                <a:latin typeface="Courier New" pitchFamily="34" charset="0"/>
                <a:ea typeface="Courier New" pitchFamily="34" charset="-122"/>
                <a:cs typeface="Courier New" pitchFamily="34" charset="-120"/>
              </a:rPr>
              <a:t>npm publish</a:t>
            </a:r>
            <a:endParaRPr lang="en-US" sz="1600" dirty="0"/>
          </a:p>
        </p:txBody>
      </p:sp>
      <p:sp>
        <p:nvSpPr>
          <p:cNvPr id="23" name="Text 21"/>
          <p:cNvSpPr/>
          <p:nvPr/>
        </p:nvSpPr>
        <p:spPr>
          <a:xfrm>
            <a:off x="731520" y="5074920"/>
            <a:ext cx="224028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2M+ packages shared</a:t>
            </a:r>
            <a:endParaRPr lang="en-US" sz="1000" dirty="0"/>
          </a:p>
        </p:txBody>
      </p:sp>
      <p:sp>
        <p:nvSpPr>
          <p:cNvPr id="24" name="Shape 22"/>
          <p:cNvSpPr/>
          <p:nvPr/>
        </p:nvSpPr>
        <p:spPr>
          <a:xfrm>
            <a:off x="3383280" y="4206240"/>
            <a:ext cx="2606040" cy="1325880"/>
          </a:xfrm>
          <a:prstGeom prst="roundRect">
            <a:avLst>
              <a:gd name="adj" fmla="val 1379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5" name="Text 23"/>
          <p:cNvSpPr/>
          <p:nvPr/>
        </p:nvSpPr>
        <p:spPr>
          <a:xfrm>
            <a:off x="3566160" y="4343400"/>
            <a:ext cx="2240280" cy="32004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Container</a:t>
            </a:r>
            <a:endParaRPr lang="en-US" sz="1200" dirty="0"/>
          </a:p>
        </p:txBody>
      </p:sp>
      <p:sp>
        <p:nvSpPr>
          <p:cNvPr id="26" name="Text 24"/>
          <p:cNvSpPr/>
          <p:nvPr/>
        </p:nvSpPr>
        <p:spPr>
          <a:xfrm>
            <a:off x="3566160" y="4663440"/>
            <a:ext cx="2240280" cy="365760"/>
          </a:xfrm>
          <a:prstGeom prst="rect">
            <a:avLst/>
          </a:prstGeom>
          <a:noFill/>
          <a:ln/>
        </p:spPr>
        <p:txBody>
          <a:bodyPr wrap="square" rtlCol="0" anchor="ctr"/>
          <a:lstStyle/>
          <a:p>
            <a:pPr indent="0" marL="0">
              <a:buNone/>
            </a:pPr>
            <a:r>
              <a:rPr lang="en-US" sz="1600" b="1" dirty="0">
                <a:solidFill>
                  <a:srgbClr val="000000"/>
                </a:solidFill>
                <a:latin typeface="Courier New" pitchFamily="34" charset="0"/>
                <a:ea typeface="Courier New" pitchFamily="34" charset="-122"/>
                <a:cs typeface="Courier New" pitchFamily="34" charset="-120"/>
              </a:rPr>
              <a:t>docker push</a:t>
            </a:r>
            <a:endParaRPr lang="en-US" sz="1600" dirty="0"/>
          </a:p>
        </p:txBody>
      </p:sp>
      <p:sp>
        <p:nvSpPr>
          <p:cNvPr id="27" name="Text 25"/>
          <p:cNvSpPr/>
          <p:nvPr/>
        </p:nvSpPr>
        <p:spPr>
          <a:xfrm>
            <a:off x="3566160" y="5074920"/>
            <a:ext cx="224028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15M repos on Hub</a:t>
            </a:r>
            <a:endParaRPr lang="en-US" sz="1000" dirty="0"/>
          </a:p>
        </p:txBody>
      </p:sp>
      <p:sp>
        <p:nvSpPr>
          <p:cNvPr id="28" name="Shape 26"/>
          <p:cNvSpPr/>
          <p:nvPr/>
        </p:nvSpPr>
        <p:spPr>
          <a:xfrm>
            <a:off x="6217920" y="4206240"/>
            <a:ext cx="2606040" cy="1325880"/>
          </a:xfrm>
          <a:prstGeom prst="roundRect">
            <a:avLst>
              <a:gd name="adj" fmla="val 1379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9" name="Text 27"/>
          <p:cNvSpPr/>
          <p:nvPr/>
        </p:nvSpPr>
        <p:spPr>
          <a:xfrm>
            <a:off x="6400800" y="4343400"/>
            <a:ext cx="2240280" cy="32004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ML Model</a:t>
            </a:r>
            <a:endParaRPr lang="en-US" sz="1200" dirty="0"/>
          </a:p>
        </p:txBody>
      </p:sp>
      <p:sp>
        <p:nvSpPr>
          <p:cNvPr id="30" name="Text 28"/>
          <p:cNvSpPr/>
          <p:nvPr/>
        </p:nvSpPr>
        <p:spPr>
          <a:xfrm>
            <a:off x="6400800" y="4663440"/>
            <a:ext cx="2240280" cy="365760"/>
          </a:xfrm>
          <a:prstGeom prst="rect">
            <a:avLst/>
          </a:prstGeom>
          <a:noFill/>
          <a:ln/>
        </p:spPr>
        <p:txBody>
          <a:bodyPr wrap="square" rtlCol="0" anchor="ctr"/>
          <a:lstStyle/>
          <a:p>
            <a:pPr indent="0" marL="0">
              <a:buNone/>
            </a:pPr>
            <a:r>
              <a:rPr lang="en-US" sz="1600" b="1" dirty="0">
                <a:solidFill>
                  <a:srgbClr val="000000"/>
                </a:solidFill>
                <a:latin typeface="Courier New" pitchFamily="34" charset="0"/>
                <a:ea typeface="Courier New" pitchFamily="34" charset="-122"/>
                <a:cs typeface="Courier New" pitchFamily="34" charset="-120"/>
              </a:rPr>
              <a:t>HuggingFace</a:t>
            </a:r>
            <a:endParaRPr lang="en-US" sz="1600" dirty="0"/>
          </a:p>
        </p:txBody>
      </p:sp>
      <p:sp>
        <p:nvSpPr>
          <p:cNvPr id="31" name="Text 29"/>
          <p:cNvSpPr/>
          <p:nvPr/>
        </p:nvSpPr>
        <p:spPr>
          <a:xfrm>
            <a:off x="6400800" y="5074920"/>
            <a:ext cx="2240280" cy="274320"/>
          </a:xfrm>
          <a:prstGeom prst="rect">
            <a:avLst/>
          </a:prstGeom>
          <a:noFill/>
          <a:ln/>
        </p:spPr>
        <p:txBody>
          <a:bodyPr wrap="square" rtlCol="0" anchor="ctr"/>
          <a:lstStyle/>
          <a:p>
            <a:pPr indent="0" marL="0">
              <a:buNone/>
            </a:pPr>
            <a:r>
              <a:rPr lang="en-US" sz="1000" dirty="0">
                <a:solidFill>
                  <a:srgbClr val="777777"/>
                </a:solidFill>
                <a:latin typeface="Arial" pitchFamily="34" charset="0"/>
                <a:ea typeface="Arial" pitchFamily="34" charset="-122"/>
                <a:cs typeface="Arial" pitchFamily="34" charset="-120"/>
              </a:rPr>
              <a:t>2M+ models shared</a:t>
            </a:r>
            <a:endParaRPr lang="en-US" sz="1000" dirty="0"/>
          </a:p>
        </p:txBody>
      </p:sp>
      <p:sp>
        <p:nvSpPr>
          <p:cNvPr id="32" name="Shape 30"/>
          <p:cNvSpPr/>
          <p:nvPr/>
        </p:nvSpPr>
        <p:spPr>
          <a:xfrm>
            <a:off x="9052560" y="4206240"/>
            <a:ext cx="2606040" cy="1325880"/>
          </a:xfrm>
          <a:prstGeom prst="roundRect">
            <a:avLst>
              <a:gd name="adj" fmla="val 13793"/>
            </a:avLst>
          </a:prstGeom>
          <a:solidFill>
            <a:srgbClr val="000000"/>
          </a:solidFill>
          <a:ln w="6350">
            <a:solidFill>
              <a:srgbClr val="DDDDDD"/>
            </a:solidFill>
            <a:prstDash val="solid"/>
          </a:ln>
        </p:spPr>
      </p:sp>
      <p:sp>
        <p:nvSpPr>
          <p:cNvPr id="33" name="Text 31"/>
          <p:cNvSpPr/>
          <p:nvPr/>
        </p:nvSpPr>
        <p:spPr>
          <a:xfrm>
            <a:off x="9235440" y="4343400"/>
            <a:ext cx="2240280" cy="320040"/>
          </a:xfrm>
          <a:prstGeom prst="rect">
            <a:avLst/>
          </a:prstGeom>
          <a:noFill/>
          <a:ln/>
        </p:spPr>
        <p:txBody>
          <a:bodyPr wrap="square" rtlCol="0" anchor="ctr"/>
          <a:lstStyle/>
          <a:p>
            <a:pPr indent="0" marL="0">
              <a:buNone/>
            </a:pPr>
            <a:r>
              <a:rPr lang="en-US" sz="1200" b="1" dirty="0">
                <a:solidFill>
                  <a:srgbClr val="CCCCCC"/>
                </a:solidFill>
                <a:latin typeface="Arial" pitchFamily="34" charset="0"/>
                <a:ea typeface="Arial" pitchFamily="34" charset="-122"/>
                <a:cs typeface="Arial" pitchFamily="34" charset="-120"/>
              </a:rPr>
              <a:t>AI Agent</a:t>
            </a:r>
            <a:endParaRPr lang="en-US" sz="1200" dirty="0"/>
          </a:p>
        </p:txBody>
      </p:sp>
      <p:sp>
        <p:nvSpPr>
          <p:cNvPr id="34" name="Text 32"/>
          <p:cNvSpPr/>
          <p:nvPr/>
        </p:nvSpPr>
        <p:spPr>
          <a:xfrm>
            <a:off x="9235440" y="4663440"/>
            <a:ext cx="2240280" cy="45720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35" name="Text 33"/>
          <p:cNvSpPr/>
          <p:nvPr/>
        </p:nvSpPr>
        <p:spPr>
          <a:xfrm>
            <a:off x="9235440" y="5120640"/>
            <a:ext cx="2240280" cy="274320"/>
          </a:xfrm>
          <a:prstGeom prst="rect">
            <a:avLst/>
          </a:prstGeom>
          <a:noFill/>
          <a:ln/>
        </p:spPr>
        <p:txBody>
          <a:bodyPr wrap="square" rtlCol="0" anchor="ctr"/>
          <a:lstStyle/>
          <a:p>
            <a:pPr indent="0" marL="0">
              <a:buNone/>
            </a:pPr>
            <a:r>
              <a:rPr lang="en-US" sz="1000" dirty="0">
                <a:solidFill>
                  <a:srgbClr val="999999"/>
                </a:solidFill>
                <a:latin typeface="Arial" pitchFamily="34" charset="0"/>
                <a:ea typeface="Arial" pitchFamily="34" charset="-122"/>
                <a:cs typeface="Arial" pitchFamily="34" charset="-120"/>
              </a:rPr>
              <a:t>Nothing exists.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THE GAP IN NUMBERS</a:t>
            </a:r>
            <a:endParaRPr lang="en-US" sz="1000" dirty="0"/>
          </a:p>
        </p:txBody>
      </p:sp>
      <p:sp>
        <p:nvSpPr>
          <p:cNvPr id="3" name="Text 1"/>
          <p:cNvSpPr/>
          <p:nvPr/>
        </p:nvSpPr>
        <p:spPr>
          <a:xfrm>
            <a:off x="731520" y="822960"/>
            <a:ext cx="10698480" cy="731520"/>
          </a:xfrm>
          <a:prstGeom prst="rect">
            <a:avLst/>
          </a:prstGeom>
          <a:noFill/>
          <a:ln/>
        </p:spPr>
        <p:txBody>
          <a:bodyPr wrap="square" rtlCol="0" anchor="ctr"/>
          <a:lstStyle/>
          <a:p>
            <a:pPr indent="0" marL="0">
              <a:buNone/>
            </a:pPr>
            <a:r>
              <a:rPr lang="en-US" sz="3000" b="1" dirty="0">
                <a:solidFill>
                  <a:srgbClr val="1A1A1A"/>
                </a:solidFill>
                <a:latin typeface="Arial" pitchFamily="34" charset="0"/>
                <a:ea typeface="Arial" pitchFamily="34" charset="-122"/>
                <a:cs typeface="Arial" pitchFamily="34" charset="-120"/>
              </a:rPr>
              <a:t>The agent explosion is here. The sharing layer isn't.</a:t>
            </a:r>
            <a:endParaRPr lang="en-US" sz="3000" dirty="0"/>
          </a:p>
        </p:txBody>
      </p:sp>
      <p:sp>
        <p:nvSpPr>
          <p:cNvPr id="4" name="Shape 2"/>
          <p:cNvSpPr/>
          <p:nvPr/>
        </p:nvSpPr>
        <p:spPr>
          <a:xfrm>
            <a:off x="548640" y="1828800"/>
            <a:ext cx="5303520" cy="2286000"/>
          </a:xfrm>
          <a:prstGeom prst="roundRect">
            <a:avLst>
              <a:gd name="adj" fmla="val 8000"/>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914400" y="1965960"/>
            <a:ext cx="4572000" cy="822960"/>
          </a:xfrm>
          <a:prstGeom prst="rect">
            <a:avLst/>
          </a:prstGeom>
          <a:noFill/>
          <a:ln/>
        </p:spPr>
        <p:txBody>
          <a:bodyPr wrap="square" rtlCol="0" anchor="ctr"/>
          <a:lstStyle/>
          <a:p>
            <a:pPr indent="0" marL="0">
              <a:buNone/>
            </a:pPr>
            <a:r>
              <a:rPr lang="en-US" sz="4800" b="1" dirty="0">
                <a:solidFill>
                  <a:srgbClr val="000000"/>
                </a:solidFill>
                <a:latin typeface="Arial" pitchFamily="34" charset="0"/>
                <a:ea typeface="Arial" pitchFamily="34" charset="-122"/>
                <a:cs typeface="Arial" pitchFamily="34" charset="-120"/>
              </a:rPr>
              <a:t>3M+</a:t>
            </a:r>
            <a:endParaRPr lang="en-US" sz="4800" dirty="0"/>
          </a:p>
        </p:txBody>
      </p:sp>
      <p:sp>
        <p:nvSpPr>
          <p:cNvPr id="6" name="Text 4"/>
          <p:cNvSpPr/>
          <p:nvPr/>
        </p:nvSpPr>
        <p:spPr>
          <a:xfrm>
            <a:off x="914400" y="2743200"/>
            <a:ext cx="4572000" cy="320040"/>
          </a:xfrm>
          <a:prstGeom prst="rect">
            <a:avLst/>
          </a:prstGeom>
          <a:noFill/>
          <a:ln/>
        </p:spPr>
        <p:txBody>
          <a:bodyPr wrap="square" rtlCol="0" anchor="ctr"/>
          <a:lstStyle/>
          <a:p>
            <a:pPr indent="0" marL="0">
              <a:buNone/>
            </a:pPr>
            <a:r>
              <a:rPr lang="en-US" sz="1300" b="1" dirty="0">
                <a:solidFill>
                  <a:srgbClr val="444444"/>
                </a:solidFill>
                <a:latin typeface="Arial" pitchFamily="34" charset="0"/>
                <a:ea typeface="Arial" pitchFamily="34" charset="-122"/>
                <a:cs typeface="Arial" pitchFamily="34" charset="-120"/>
              </a:rPr>
              <a:t>Custom GPTs created on OpenAI</a:t>
            </a:r>
            <a:endParaRPr lang="en-US" sz="1300" dirty="0"/>
          </a:p>
        </p:txBody>
      </p:sp>
      <p:sp>
        <p:nvSpPr>
          <p:cNvPr id="7" name="Text 5"/>
          <p:cNvSpPr/>
          <p:nvPr/>
        </p:nvSpPr>
        <p:spPr>
          <a:xfrm>
            <a:off x="914400" y="3108960"/>
            <a:ext cx="4572000" cy="640080"/>
          </a:xfrm>
          <a:prstGeom prst="rect">
            <a:avLst/>
          </a:prstGeom>
          <a:noFill/>
          <a:ln/>
        </p:spPr>
        <p:txBody>
          <a:bodyPr wrap="square" rtlCol="0" anchor="ctr"/>
          <a:lstStyle/>
          <a:p>
            <a:pPr indent="0" marL="0">
              <a:lnSpc>
                <a:spcPct val="130000"/>
              </a:lnSpc>
              <a:buNone/>
            </a:pPr>
            <a:r>
              <a:rPr lang="en-US" sz="1100" dirty="0">
                <a:solidFill>
                  <a:srgbClr val="777777"/>
                </a:solidFill>
                <a:latin typeface="Arial" pitchFamily="34" charset="0"/>
                <a:ea typeface="Arial" pitchFamily="34" charset="-122"/>
                <a:cs typeface="Arial" pitchFamily="34" charset="-120"/>
              </a:rPr>
              <a:t>Zero portability. Locked to ChatGPT Plus ($20/mo). Can't export, embed, or run locally.</a:t>
            </a:r>
            <a:endParaRPr lang="en-US" sz="1100" dirty="0"/>
          </a:p>
        </p:txBody>
      </p:sp>
      <p:sp>
        <p:nvSpPr>
          <p:cNvPr id="8" name="Shape 6"/>
          <p:cNvSpPr/>
          <p:nvPr/>
        </p:nvSpPr>
        <p:spPr>
          <a:xfrm>
            <a:off x="6126480" y="1828800"/>
            <a:ext cx="5303520" cy="2286000"/>
          </a:xfrm>
          <a:prstGeom prst="roundRect">
            <a:avLst>
              <a:gd name="adj" fmla="val 8000"/>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9" name="Text 7"/>
          <p:cNvSpPr/>
          <p:nvPr/>
        </p:nvSpPr>
        <p:spPr>
          <a:xfrm>
            <a:off x="6492240" y="1965960"/>
            <a:ext cx="4572000" cy="822960"/>
          </a:xfrm>
          <a:prstGeom prst="rect">
            <a:avLst/>
          </a:prstGeom>
          <a:noFill/>
          <a:ln/>
        </p:spPr>
        <p:txBody>
          <a:bodyPr wrap="square" rtlCol="0" anchor="ctr"/>
          <a:lstStyle/>
          <a:p>
            <a:pPr indent="0" marL="0">
              <a:buNone/>
            </a:pPr>
            <a:r>
              <a:rPr lang="en-US" sz="4800" b="1" dirty="0">
                <a:solidFill>
                  <a:srgbClr val="000000"/>
                </a:solidFill>
                <a:latin typeface="Arial" pitchFamily="34" charset="0"/>
                <a:ea typeface="Arial" pitchFamily="34" charset="-122"/>
                <a:cs typeface="Arial" pitchFamily="34" charset="-120"/>
              </a:rPr>
              <a:t>51%</a:t>
            </a:r>
            <a:endParaRPr lang="en-US" sz="4800" dirty="0"/>
          </a:p>
        </p:txBody>
      </p:sp>
      <p:sp>
        <p:nvSpPr>
          <p:cNvPr id="10" name="Text 8"/>
          <p:cNvSpPr/>
          <p:nvPr/>
        </p:nvSpPr>
        <p:spPr>
          <a:xfrm>
            <a:off x="6492240" y="2743200"/>
            <a:ext cx="4572000" cy="320040"/>
          </a:xfrm>
          <a:prstGeom prst="rect">
            <a:avLst/>
          </a:prstGeom>
          <a:noFill/>
          <a:ln/>
        </p:spPr>
        <p:txBody>
          <a:bodyPr wrap="square" rtlCol="0" anchor="ctr"/>
          <a:lstStyle/>
          <a:p>
            <a:pPr indent="0" marL="0">
              <a:buNone/>
            </a:pPr>
            <a:r>
              <a:rPr lang="en-US" sz="1300" b="1" dirty="0">
                <a:solidFill>
                  <a:srgbClr val="444444"/>
                </a:solidFill>
                <a:latin typeface="Arial" pitchFamily="34" charset="0"/>
                <a:ea typeface="Arial" pitchFamily="34" charset="-122"/>
                <a:cs typeface="Arial" pitchFamily="34" charset="-120"/>
              </a:rPr>
              <a:t>of enterprises run agents in production</a:t>
            </a:r>
            <a:endParaRPr lang="en-US" sz="1300" dirty="0"/>
          </a:p>
        </p:txBody>
      </p:sp>
      <p:sp>
        <p:nvSpPr>
          <p:cNvPr id="11" name="Text 9"/>
          <p:cNvSpPr/>
          <p:nvPr/>
        </p:nvSpPr>
        <p:spPr>
          <a:xfrm>
            <a:off x="6492240" y="3108960"/>
            <a:ext cx="4572000" cy="640080"/>
          </a:xfrm>
          <a:prstGeom prst="rect">
            <a:avLst/>
          </a:prstGeom>
          <a:noFill/>
          <a:ln/>
        </p:spPr>
        <p:txBody>
          <a:bodyPr wrap="square" rtlCol="0" anchor="ctr"/>
          <a:lstStyle/>
          <a:p>
            <a:pPr indent="0" marL="0">
              <a:lnSpc>
                <a:spcPct val="130000"/>
              </a:lnSpc>
              <a:buNone/>
            </a:pPr>
            <a:r>
              <a:rPr lang="en-US" sz="1100" dirty="0">
                <a:solidFill>
                  <a:srgbClr val="777777"/>
                </a:solidFill>
                <a:latin typeface="Arial" pitchFamily="34" charset="0"/>
                <a:ea typeface="Arial" pitchFamily="34" charset="-122"/>
                <a:cs typeface="Arial" pitchFamily="34" charset="-120"/>
              </a:rPr>
              <a:t>But only 17% report improved team collaboration — the LOWEST rated impact. (Stack Overflow 2025)</a:t>
            </a:r>
            <a:endParaRPr lang="en-US" sz="1100" dirty="0"/>
          </a:p>
        </p:txBody>
      </p:sp>
      <p:sp>
        <p:nvSpPr>
          <p:cNvPr id="12" name="Shape 10"/>
          <p:cNvSpPr/>
          <p:nvPr/>
        </p:nvSpPr>
        <p:spPr>
          <a:xfrm>
            <a:off x="548640" y="4389120"/>
            <a:ext cx="3474720" cy="2286000"/>
          </a:xfrm>
          <a:prstGeom prst="roundRect">
            <a:avLst>
              <a:gd name="adj" fmla="val 8000"/>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3" name="Text 11"/>
          <p:cNvSpPr/>
          <p:nvPr/>
        </p:nvSpPr>
        <p:spPr>
          <a:xfrm>
            <a:off x="914400" y="4526280"/>
            <a:ext cx="2743200" cy="822960"/>
          </a:xfrm>
          <a:prstGeom prst="rect">
            <a:avLst/>
          </a:prstGeom>
          <a:noFill/>
          <a:ln/>
        </p:spPr>
        <p:txBody>
          <a:bodyPr wrap="square" rtlCol="0" anchor="ctr"/>
          <a:lstStyle/>
          <a:p>
            <a:pPr indent="0" marL="0">
              <a:buNone/>
            </a:pPr>
            <a:r>
              <a:rPr lang="en-US" sz="4200" b="1" dirty="0">
                <a:solidFill>
                  <a:srgbClr val="000000"/>
                </a:solidFill>
                <a:latin typeface="Arial" pitchFamily="34" charset="0"/>
                <a:ea typeface="Arial" pitchFamily="34" charset="-122"/>
                <a:cs typeface="Arial" pitchFamily="34" charset="-120"/>
              </a:rPr>
              <a:t>35%</a:t>
            </a:r>
            <a:endParaRPr lang="en-US" sz="4200" dirty="0"/>
          </a:p>
        </p:txBody>
      </p:sp>
      <p:sp>
        <p:nvSpPr>
          <p:cNvPr id="14" name="Text 12"/>
          <p:cNvSpPr/>
          <p:nvPr/>
        </p:nvSpPr>
        <p:spPr>
          <a:xfrm>
            <a:off x="914400" y="5212080"/>
            <a:ext cx="2743200" cy="320040"/>
          </a:xfrm>
          <a:prstGeom prst="rect">
            <a:avLst/>
          </a:prstGeom>
          <a:noFill/>
          <a:ln/>
        </p:spPr>
        <p:txBody>
          <a:bodyPr wrap="square" rtlCol="0" anchor="ctr"/>
          <a:lstStyle/>
          <a:p>
            <a:pPr indent="0" marL="0">
              <a:buNone/>
            </a:pPr>
            <a:r>
              <a:rPr lang="en-US" sz="1200" b="1" dirty="0">
                <a:solidFill>
                  <a:srgbClr val="444444"/>
                </a:solidFill>
                <a:latin typeface="Arial" pitchFamily="34" charset="0"/>
                <a:ea typeface="Arial" pitchFamily="34" charset="-122"/>
                <a:cs typeface="Arial" pitchFamily="34" charset="-120"/>
              </a:rPr>
              <a:t>project failure rate from interop issues</a:t>
            </a:r>
            <a:endParaRPr lang="en-US" sz="1200" dirty="0"/>
          </a:p>
        </p:txBody>
      </p:sp>
      <p:sp>
        <p:nvSpPr>
          <p:cNvPr id="15" name="Text 13"/>
          <p:cNvSpPr/>
          <p:nvPr/>
        </p:nvSpPr>
        <p:spPr>
          <a:xfrm>
            <a:off x="914400" y="5577840"/>
            <a:ext cx="274320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3-6 month delays. Quadratic integration costs. No shared format = no composability across platforms.</a:t>
            </a:r>
            <a:endParaRPr lang="en-US" sz="1000" dirty="0"/>
          </a:p>
        </p:txBody>
      </p:sp>
      <p:sp>
        <p:nvSpPr>
          <p:cNvPr id="16" name="Shape 14"/>
          <p:cNvSpPr/>
          <p:nvPr/>
        </p:nvSpPr>
        <p:spPr>
          <a:xfrm>
            <a:off x="4297680" y="4389120"/>
            <a:ext cx="3474720" cy="2286000"/>
          </a:xfrm>
          <a:prstGeom prst="roundRect">
            <a:avLst>
              <a:gd name="adj" fmla="val 8000"/>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7" name="Text 15"/>
          <p:cNvSpPr/>
          <p:nvPr/>
        </p:nvSpPr>
        <p:spPr>
          <a:xfrm>
            <a:off x="4663440" y="4526280"/>
            <a:ext cx="2743200" cy="822960"/>
          </a:xfrm>
          <a:prstGeom prst="rect">
            <a:avLst/>
          </a:prstGeom>
          <a:noFill/>
          <a:ln/>
        </p:spPr>
        <p:txBody>
          <a:bodyPr wrap="square" rtlCol="0" anchor="ctr"/>
          <a:lstStyle/>
          <a:p>
            <a:pPr indent="0" marL="0">
              <a:buNone/>
            </a:pPr>
            <a:r>
              <a:rPr lang="en-US" sz="4200" b="1" dirty="0">
                <a:solidFill>
                  <a:srgbClr val="000000"/>
                </a:solidFill>
                <a:latin typeface="Arial" pitchFamily="34" charset="0"/>
                <a:ea typeface="Arial" pitchFamily="34" charset="-122"/>
                <a:cs typeface="Arial" pitchFamily="34" charset="-120"/>
              </a:rPr>
              <a:t>$7.8B</a:t>
            </a:r>
            <a:endParaRPr lang="en-US" sz="4200" dirty="0"/>
          </a:p>
        </p:txBody>
      </p:sp>
      <p:sp>
        <p:nvSpPr>
          <p:cNvPr id="18" name="Text 16"/>
          <p:cNvSpPr/>
          <p:nvPr/>
        </p:nvSpPr>
        <p:spPr>
          <a:xfrm>
            <a:off x="4663440" y="5212080"/>
            <a:ext cx="2743200" cy="320040"/>
          </a:xfrm>
          <a:prstGeom prst="rect">
            <a:avLst/>
          </a:prstGeom>
          <a:noFill/>
          <a:ln/>
        </p:spPr>
        <p:txBody>
          <a:bodyPr wrap="square" rtlCol="0" anchor="ctr"/>
          <a:lstStyle/>
          <a:p>
            <a:pPr indent="0" marL="0">
              <a:buNone/>
            </a:pPr>
            <a:r>
              <a:rPr lang="en-US" sz="1200" b="1" dirty="0">
                <a:solidFill>
                  <a:srgbClr val="444444"/>
                </a:solidFill>
                <a:latin typeface="Arial" pitchFamily="34" charset="0"/>
                <a:ea typeface="Arial" pitchFamily="34" charset="-122"/>
                <a:cs typeface="Arial" pitchFamily="34" charset="-120"/>
              </a:rPr>
              <a:t>AI agent market in 2025</a:t>
            </a:r>
            <a:endParaRPr lang="en-US" sz="1200" dirty="0"/>
          </a:p>
        </p:txBody>
      </p:sp>
      <p:sp>
        <p:nvSpPr>
          <p:cNvPr id="19" name="Text 17"/>
          <p:cNvSpPr/>
          <p:nvPr/>
        </p:nvSpPr>
        <p:spPr>
          <a:xfrm>
            <a:off x="4663440" y="5577840"/>
            <a:ext cx="274320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Growing at 46% CAGR. Everyone building agents. Nobody can share them across platforms.</a:t>
            </a:r>
            <a:endParaRPr lang="en-US" sz="1000" dirty="0"/>
          </a:p>
        </p:txBody>
      </p:sp>
      <p:sp>
        <p:nvSpPr>
          <p:cNvPr id="20" name="Shape 18"/>
          <p:cNvSpPr/>
          <p:nvPr/>
        </p:nvSpPr>
        <p:spPr>
          <a:xfrm>
            <a:off x="8046720" y="4389120"/>
            <a:ext cx="3474720" cy="2286000"/>
          </a:xfrm>
          <a:prstGeom prst="roundRect">
            <a:avLst>
              <a:gd name="adj" fmla="val 8000"/>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1" name="Text 19"/>
          <p:cNvSpPr/>
          <p:nvPr/>
        </p:nvSpPr>
        <p:spPr>
          <a:xfrm>
            <a:off x="8412480" y="4526280"/>
            <a:ext cx="2743200" cy="822960"/>
          </a:xfrm>
          <a:prstGeom prst="rect">
            <a:avLst/>
          </a:prstGeom>
          <a:noFill/>
          <a:ln/>
        </p:spPr>
        <p:txBody>
          <a:bodyPr wrap="square" rtlCol="0" anchor="ctr"/>
          <a:lstStyle/>
          <a:p>
            <a:pPr indent="0" marL="0">
              <a:buNone/>
            </a:pPr>
            <a:r>
              <a:rPr lang="en-US" sz="4200" b="1" dirty="0">
                <a:solidFill>
                  <a:srgbClr val="000000"/>
                </a:solidFill>
                <a:latin typeface="Arial" pitchFamily="34" charset="0"/>
                <a:ea typeface="Arial" pitchFamily="34" charset="-122"/>
                <a:cs typeface="Arial" pitchFamily="34" charset="-120"/>
              </a:rPr>
              <a:t>0</a:t>
            </a:r>
            <a:endParaRPr lang="en-US" sz="4200" dirty="0"/>
          </a:p>
        </p:txBody>
      </p:sp>
      <p:sp>
        <p:nvSpPr>
          <p:cNvPr id="22" name="Text 20"/>
          <p:cNvSpPr/>
          <p:nvPr/>
        </p:nvSpPr>
        <p:spPr>
          <a:xfrm>
            <a:off x="8412480" y="5212080"/>
            <a:ext cx="2743200" cy="320040"/>
          </a:xfrm>
          <a:prstGeom prst="rect">
            <a:avLst/>
          </a:prstGeom>
          <a:noFill/>
          <a:ln/>
        </p:spPr>
        <p:txBody>
          <a:bodyPr wrap="square" rtlCol="0" anchor="ctr"/>
          <a:lstStyle/>
          <a:p>
            <a:pPr indent="0" marL="0">
              <a:buNone/>
            </a:pPr>
            <a:r>
              <a:rPr lang="en-US" sz="1200" b="1" dirty="0">
                <a:solidFill>
                  <a:srgbClr val="444444"/>
                </a:solidFill>
                <a:latin typeface="Arial" pitchFamily="34" charset="0"/>
                <a:ea typeface="Arial" pitchFamily="34" charset="-122"/>
                <a:cs typeface="Arial" pitchFamily="34" charset="-120"/>
              </a:rPr>
              <a:t>universal agent sharing standards</a:t>
            </a:r>
            <a:endParaRPr lang="en-US" sz="1200" dirty="0"/>
          </a:p>
        </p:txBody>
      </p:sp>
      <p:sp>
        <p:nvSpPr>
          <p:cNvPr id="23" name="Text 21"/>
          <p:cNvSpPr/>
          <p:nvPr/>
        </p:nvSpPr>
        <p:spPr>
          <a:xfrm>
            <a:off x="8412480" y="5577840"/>
            <a:ext cx="274320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MCP solves tool calling. Nothing solves agent packaging, distribution, and portability.</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731520"/>
            <a:ext cx="2743200" cy="1828800"/>
          </a:xfrm>
          <a:prstGeom prst="rect">
            <a:avLst/>
          </a:prstGeom>
          <a:noFill/>
          <a:ln/>
        </p:spPr>
        <p:txBody>
          <a:bodyPr wrap="square" rtlCol="0" anchor="ctr"/>
          <a:lstStyle/>
          <a:p>
            <a:pPr indent="0" marL="0">
              <a:buNone/>
            </a:pPr>
            <a:r>
              <a:rPr lang="en-US" sz="12000" b="1" dirty="0">
                <a:solidFill>
                  <a:srgbClr val="222222"/>
                </a:solidFill>
                <a:latin typeface="Arial" pitchFamily="34" charset="0"/>
                <a:ea typeface="Arial" pitchFamily="34" charset="-122"/>
                <a:cs typeface="Arial" pitchFamily="34" charset="-120"/>
              </a:rPr>
              <a:t>01</a:t>
            </a:r>
            <a:endParaRPr lang="en-US" sz="12000" dirty="0"/>
          </a:p>
        </p:txBody>
      </p:sp>
      <p:sp>
        <p:nvSpPr>
          <p:cNvPr id="3" name="Text 1"/>
          <p:cNvSpPr/>
          <p:nvPr/>
        </p:nvSpPr>
        <p:spPr>
          <a:xfrm>
            <a:off x="731520" y="2286000"/>
            <a:ext cx="10698480" cy="1828800"/>
          </a:xfrm>
          <a:prstGeom prst="rect">
            <a:avLst/>
          </a:prstGeom>
          <a:noFill/>
          <a:ln/>
        </p:spPr>
        <p:txBody>
          <a:bodyPr wrap="square" rtlCol="0" anchor="ctr"/>
          <a:lstStyle/>
          <a:p>
            <a:pPr indent="0" marL="0">
              <a:lnSpc>
                <a:spcPct val="120000"/>
              </a:lnSpc>
              <a:buNone/>
            </a:pPr>
            <a:r>
              <a:rPr lang="en-US" sz="4000" b="1" dirty="0">
                <a:solidFill>
                  <a:srgbClr val="FFFFFF"/>
                </a:solidFill>
                <a:latin typeface="Arial" pitchFamily="34" charset="0"/>
                <a:ea typeface="Arial" pitchFamily="34" charset="-122"/>
                <a:cs typeface="Arial" pitchFamily="34" charset="-120"/>
              </a:rPr>
              <a:t>What do we know about</a:t>
            </a:r>
            <a:endParaRPr lang="en-US" sz="4000" dirty="0"/>
          </a:p>
          <a:p>
            <a:pPr indent="0" marL="0">
              <a:lnSpc>
                <a:spcPct val="120000"/>
              </a:lnSpc>
              <a:buNone/>
            </a:pPr>
            <a:r>
              <a:rPr lang="en-US" sz="4000" b="1" dirty="0">
                <a:solidFill>
                  <a:srgbClr val="FFFFFF"/>
                </a:solidFill>
                <a:latin typeface="Arial" pitchFamily="34" charset="0"/>
                <a:ea typeface="Arial" pitchFamily="34" charset="-122"/>
                <a:cs typeface="Arial" pitchFamily="34" charset="-120"/>
              </a:rPr>
              <a:t>this space that others don't?</a:t>
            </a:r>
            <a:endParaRPr lang="en-US" sz="4000" dirty="0"/>
          </a:p>
        </p:txBody>
      </p:sp>
      <p:sp>
        <p:nvSpPr>
          <p:cNvPr id="4" name="Text 2"/>
          <p:cNvSpPr/>
          <p:nvPr/>
        </p:nvSpPr>
        <p:spPr>
          <a:xfrm>
            <a:off x="731520" y="4206240"/>
            <a:ext cx="10698480" cy="548640"/>
          </a:xfrm>
          <a:prstGeom prst="rect">
            <a:avLst/>
          </a:prstGeom>
          <a:noFill/>
          <a:ln/>
        </p:spPr>
        <p:txBody>
          <a:bodyPr wrap="square" rtlCol="0" anchor="ctr"/>
          <a:lstStyle/>
          <a:p>
            <a:pPr indent="0" marL="0">
              <a:buNone/>
            </a:pPr>
            <a:r>
              <a:rPr lang="en-US" sz="1600" dirty="0">
                <a:solidFill>
                  <a:srgbClr val="888888"/>
                </a:solidFill>
                <a:latin typeface="Arial" pitchFamily="34" charset="0"/>
                <a:ea typeface="Arial" pitchFamily="34" charset="-122"/>
                <a:cs typeface="Arial" pitchFamily="34" charset="-120"/>
              </a:rPr>
              <a:t>The insight that drives everything we build.</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OUR INSIGHT</a:t>
            </a:r>
            <a:endParaRPr lang="en-US" sz="1000" dirty="0"/>
          </a:p>
        </p:txBody>
      </p:sp>
      <p:sp>
        <p:nvSpPr>
          <p:cNvPr id="3" name="Shape 1"/>
          <p:cNvSpPr/>
          <p:nvPr/>
        </p:nvSpPr>
        <p:spPr>
          <a:xfrm>
            <a:off x="548640" y="914400"/>
            <a:ext cx="11064240" cy="2011680"/>
          </a:xfrm>
          <a:prstGeom prst="roundRect">
            <a:avLst>
              <a:gd name="adj" fmla="val 9091"/>
            </a:avLst>
          </a:prstGeom>
          <a:solidFill>
            <a:srgbClr val="000000"/>
          </a:solidFill>
          <a:ln w="6350">
            <a:solidFill>
              <a:srgbClr val="DDDDDD"/>
            </a:solidFill>
            <a:prstDash val="solid"/>
          </a:ln>
        </p:spPr>
      </p:sp>
      <p:sp>
        <p:nvSpPr>
          <p:cNvPr id="4" name="Text 2"/>
          <p:cNvSpPr/>
          <p:nvPr/>
        </p:nvSpPr>
        <p:spPr>
          <a:xfrm>
            <a:off x="1097280" y="1188720"/>
            <a:ext cx="10058400" cy="1463040"/>
          </a:xfrm>
          <a:prstGeom prst="rect">
            <a:avLst/>
          </a:prstGeom>
          <a:noFill/>
          <a:ln/>
        </p:spPr>
        <p:txBody>
          <a:bodyPr wrap="square" rtlCol="0" anchor="ctr"/>
          <a:lstStyle/>
          <a:p>
            <a:pPr indent="0" marL="0">
              <a:lnSpc>
                <a:spcPct val="130000"/>
              </a:lnSpc>
              <a:buNone/>
            </a:pPr>
            <a:r>
              <a:rPr lang="en-US" sz="2600" dirty="0">
                <a:solidFill>
                  <a:srgbClr val="CCCCCC"/>
                </a:solidFill>
              </a:rPr>
              <a:t>The AI agent ecosystem in 2025 looks exactly like
</a:t>
            </a:r>
            <a:endParaRPr lang="en-US" sz="2600" dirty="0"/>
          </a:p>
          <a:p>
            <a:pPr indent="0" marL="0">
              <a:lnSpc>
                <a:spcPct val="130000"/>
              </a:lnSpc>
              <a:buNone/>
            </a:pPr>
            <a:r>
              <a:rPr lang="en-US" sz="2600" b="1" dirty="0">
                <a:solidFill>
                  <a:srgbClr val="FFFFFF"/>
                </a:solidFill>
              </a:rPr>
              <a:t>the JavaScript ecosystem in 2009 — before npm.</a:t>
            </a:r>
            <a:endParaRPr lang="en-US" sz="2600" dirty="0"/>
          </a:p>
        </p:txBody>
      </p:sp>
      <p:sp>
        <p:nvSpPr>
          <p:cNvPr id="5" name="Shape 3"/>
          <p:cNvSpPr/>
          <p:nvPr/>
        </p:nvSpPr>
        <p:spPr>
          <a:xfrm>
            <a:off x="548640" y="3200400"/>
            <a:ext cx="2606040" cy="3200400"/>
          </a:xfrm>
          <a:prstGeom prst="roundRect">
            <a:avLst>
              <a:gd name="adj" fmla="val 701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6" name="Text 4"/>
          <p:cNvSpPr/>
          <p:nvPr/>
        </p:nvSpPr>
        <p:spPr>
          <a:xfrm>
            <a:off x="731520" y="3337560"/>
            <a:ext cx="2240280" cy="365760"/>
          </a:xfrm>
          <a:prstGeom prst="rect">
            <a:avLst/>
          </a:prstGeom>
          <a:noFill/>
          <a:ln/>
        </p:spPr>
        <p:txBody>
          <a:bodyPr wrap="square" rtlCol="0" anchor="ctr"/>
          <a:lstStyle/>
          <a:p>
            <a:pPr indent="0" marL="0">
              <a:buNone/>
            </a:pPr>
            <a:r>
              <a:rPr lang="en-US" sz="1600" b="1" dirty="0">
                <a:solidFill>
                  <a:srgbClr val="1A1A1A"/>
                </a:solidFill>
                <a:latin typeface="Arial" pitchFamily="34" charset="0"/>
                <a:ea typeface="Arial" pitchFamily="34" charset="-122"/>
                <a:cs typeface="Arial" pitchFamily="34" charset="-120"/>
              </a:rPr>
              <a:t>npm</a:t>
            </a:r>
            <a:endParaRPr lang="en-US" sz="1600" dirty="0"/>
          </a:p>
        </p:txBody>
      </p:sp>
      <p:sp>
        <p:nvSpPr>
          <p:cNvPr id="7" name="Text 5"/>
          <p:cNvSpPr/>
          <p:nvPr/>
        </p:nvSpPr>
        <p:spPr>
          <a:xfrm>
            <a:off x="731520" y="3703320"/>
            <a:ext cx="2240280" cy="274320"/>
          </a:xfrm>
          <a:prstGeom prst="rect">
            <a:avLst/>
          </a:prstGeom>
          <a:noFill/>
          <a:ln/>
        </p:spPr>
        <p:txBody>
          <a:bodyPr wrap="square" rtlCol="0" anchor="ctr"/>
          <a:lstStyle/>
          <a:p>
            <a:pPr indent="0" marL="0">
              <a:buNone/>
            </a:pPr>
            <a:r>
              <a:rPr lang="en-US" sz="1100" dirty="0">
                <a:solidFill>
                  <a:srgbClr val="777777"/>
                </a:solidFill>
                <a:latin typeface="Arial" pitchFamily="34" charset="0"/>
                <a:ea typeface="Arial" pitchFamily="34" charset="-122"/>
                <a:cs typeface="Arial" pitchFamily="34" charset="-120"/>
              </a:rPr>
              <a:t>2010</a:t>
            </a:r>
            <a:endParaRPr lang="en-US" sz="1100" dirty="0"/>
          </a:p>
        </p:txBody>
      </p:sp>
      <p:sp>
        <p:nvSpPr>
          <p:cNvPr id="8" name="Text 6"/>
          <p:cNvSpPr/>
          <p:nvPr/>
        </p:nvSpPr>
        <p:spPr>
          <a:xfrm>
            <a:off x="731520" y="4114800"/>
            <a:ext cx="2240280" cy="182880"/>
          </a:xfrm>
          <a:prstGeom prst="rect">
            <a:avLst/>
          </a:prstGeom>
          <a:noFill/>
          <a:ln/>
        </p:spPr>
        <p:txBody>
          <a:bodyPr wrap="square" rtlCol="0" anchor="ctr"/>
          <a:lstStyle/>
          <a:p>
            <a:pPr indent="0" marL="0">
              <a:buNone/>
            </a:pPr>
            <a:r>
              <a:rPr lang="en-US" sz="800" b="1" dirty="0">
                <a:solidFill>
                  <a:srgbClr val="AAAAAA"/>
                </a:solidFill>
                <a:latin typeface="Arial" pitchFamily="34" charset="0"/>
                <a:ea typeface="Arial" pitchFamily="34" charset="-122"/>
                <a:cs typeface="Arial" pitchFamily="34" charset="-120"/>
              </a:rPr>
              <a:t>BEFORE</a:t>
            </a:r>
            <a:endParaRPr lang="en-US" sz="800" dirty="0"/>
          </a:p>
        </p:txBody>
      </p:sp>
      <p:sp>
        <p:nvSpPr>
          <p:cNvPr id="9" name="Text 7"/>
          <p:cNvSpPr/>
          <p:nvPr/>
        </p:nvSpPr>
        <p:spPr>
          <a:xfrm>
            <a:off x="731520" y="4297680"/>
            <a:ext cx="2240280" cy="457200"/>
          </a:xfrm>
          <a:prstGeom prst="rect">
            <a:avLst/>
          </a:prstGeom>
          <a:noFill/>
          <a:ln/>
        </p:spPr>
        <p:txBody>
          <a:bodyPr wrap="square" rtlCol="0" anchor="ctr"/>
          <a:lstStyle/>
          <a:p>
            <a:pPr indent="0" marL="0">
              <a:lnSpc>
                <a:spcPct val="120000"/>
              </a:lnSpc>
              <a:buNone/>
            </a:pPr>
            <a:r>
              <a:rPr lang="en-US" sz="1100" dirty="0">
                <a:solidFill>
                  <a:srgbClr val="777777"/>
                </a:solidFill>
                <a:latin typeface="Arial" pitchFamily="34" charset="0"/>
                <a:ea typeface="Arial" pitchFamily="34" charset="-122"/>
                <a:cs typeface="Arial" pitchFamily="34" charset="-120"/>
              </a:rPr>
              <a:t>Copy JS files between projects</a:t>
            </a:r>
            <a:endParaRPr lang="en-US" sz="1100" dirty="0"/>
          </a:p>
        </p:txBody>
      </p:sp>
      <p:sp>
        <p:nvSpPr>
          <p:cNvPr id="10" name="Text 8"/>
          <p:cNvSpPr/>
          <p:nvPr/>
        </p:nvSpPr>
        <p:spPr>
          <a:xfrm>
            <a:off x="731520" y="4846320"/>
            <a:ext cx="2240280" cy="182880"/>
          </a:xfrm>
          <a:prstGeom prst="rect">
            <a:avLst/>
          </a:prstGeom>
          <a:noFill/>
          <a:ln/>
        </p:spPr>
        <p:txBody>
          <a:bodyPr wrap="square" rtlCol="0" anchor="ctr"/>
          <a:lstStyle/>
          <a:p>
            <a:pPr indent="0" marL="0">
              <a:buNone/>
            </a:pPr>
            <a:r>
              <a:rPr lang="en-US" sz="800" b="1" dirty="0">
                <a:solidFill>
                  <a:srgbClr val="AAAAAA"/>
                </a:solidFill>
                <a:latin typeface="Arial" pitchFamily="34" charset="0"/>
                <a:ea typeface="Arial" pitchFamily="34" charset="-122"/>
                <a:cs typeface="Arial" pitchFamily="34" charset="-120"/>
              </a:rPr>
              <a:t>AFTER</a:t>
            </a:r>
            <a:endParaRPr lang="en-US" sz="800" dirty="0"/>
          </a:p>
        </p:txBody>
      </p:sp>
      <p:sp>
        <p:nvSpPr>
          <p:cNvPr id="11" name="Text 9"/>
          <p:cNvSpPr/>
          <p:nvPr/>
        </p:nvSpPr>
        <p:spPr>
          <a:xfrm>
            <a:off x="731520" y="5029200"/>
            <a:ext cx="2240280" cy="457200"/>
          </a:xfrm>
          <a:prstGeom prst="rect">
            <a:avLst/>
          </a:prstGeom>
          <a:noFill/>
          <a:ln/>
        </p:spPr>
        <p:txBody>
          <a:bodyPr wrap="square" rtlCol="0" anchor="ctr"/>
          <a:lstStyle/>
          <a:p>
            <a:pPr indent="0" marL="0">
              <a:lnSpc>
                <a:spcPct val="120000"/>
              </a:lnSpc>
              <a:buNone/>
            </a:pPr>
            <a:r>
              <a:rPr lang="en-US" sz="1100" dirty="0">
                <a:solidFill>
                  <a:srgbClr val="444444"/>
                </a:solidFill>
                <a:latin typeface="Arial" pitchFamily="34" charset="0"/>
                <a:ea typeface="Arial" pitchFamily="34" charset="-122"/>
                <a:cs typeface="Arial" pitchFamily="34" charset="-120"/>
              </a:rPr>
              <a:t>2M+ packages, 17M devs</a:t>
            </a:r>
            <a:endParaRPr lang="en-US" sz="1100" dirty="0"/>
          </a:p>
        </p:txBody>
      </p:sp>
      <p:sp>
        <p:nvSpPr>
          <p:cNvPr id="12" name="Text 10"/>
          <p:cNvSpPr/>
          <p:nvPr/>
        </p:nvSpPr>
        <p:spPr>
          <a:xfrm>
            <a:off x="731520" y="5669280"/>
            <a:ext cx="2240280" cy="36576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Acquired for ~$200M</a:t>
            </a:r>
            <a:endParaRPr lang="en-US" sz="1200" dirty="0"/>
          </a:p>
        </p:txBody>
      </p:sp>
      <p:sp>
        <p:nvSpPr>
          <p:cNvPr id="13" name="Shape 11"/>
          <p:cNvSpPr/>
          <p:nvPr/>
        </p:nvSpPr>
        <p:spPr>
          <a:xfrm>
            <a:off x="3383280" y="3200400"/>
            <a:ext cx="2606040" cy="3200400"/>
          </a:xfrm>
          <a:prstGeom prst="roundRect">
            <a:avLst>
              <a:gd name="adj" fmla="val 701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4" name="Text 12"/>
          <p:cNvSpPr/>
          <p:nvPr/>
        </p:nvSpPr>
        <p:spPr>
          <a:xfrm>
            <a:off x="3566160" y="3337560"/>
            <a:ext cx="2240280" cy="365760"/>
          </a:xfrm>
          <a:prstGeom prst="rect">
            <a:avLst/>
          </a:prstGeom>
          <a:noFill/>
          <a:ln/>
        </p:spPr>
        <p:txBody>
          <a:bodyPr wrap="square" rtlCol="0" anchor="ctr"/>
          <a:lstStyle/>
          <a:p>
            <a:pPr indent="0" marL="0">
              <a:buNone/>
            </a:pPr>
            <a:r>
              <a:rPr lang="en-US" sz="1600" b="1" dirty="0">
                <a:solidFill>
                  <a:srgbClr val="1A1A1A"/>
                </a:solidFill>
                <a:latin typeface="Arial" pitchFamily="34" charset="0"/>
                <a:ea typeface="Arial" pitchFamily="34" charset="-122"/>
                <a:cs typeface="Arial" pitchFamily="34" charset="-120"/>
              </a:rPr>
              <a:t>Docker Hub</a:t>
            </a:r>
            <a:endParaRPr lang="en-US" sz="1600" dirty="0"/>
          </a:p>
        </p:txBody>
      </p:sp>
      <p:sp>
        <p:nvSpPr>
          <p:cNvPr id="15" name="Text 13"/>
          <p:cNvSpPr/>
          <p:nvPr/>
        </p:nvSpPr>
        <p:spPr>
          <a:xfrm>
            <a:off x="3566160" y="3703320"/>
            <a:ext cx="2240280" cy="274320"/>
          </a:xfrm>
          <a:prstGeom prst="rect">
            <a:avLst/>
          </a:prstGeom>
          <a:noFill/>
          <a:ln/>
        </p:spPr>
        <p:txBody>
          <a:bodyPr wrap="square" rtlCol="0" anchor="ctr"/>
          <a:lstStyle/>
          <a:p>
            <a:pPr indent="0" marL="0">
              <a:buNone/>
            </a:pPr>
            <a:r>
              <a:rPr lang="en-US" sz="1100" dirty="0">
                <a:solidFill>
                  <a:srgbClr val="777777"/>
                </a:solidFill>
                <a:latin typeface="Arial" pitchFamily="34" charset="0"/>
                <a:ea typeface="Arial" pitchFamily="34" charset="-122"/>
                <a:cs typeface="Arial" pitchFamily="34" charset="-120"/>
              </a:rPr>
              <a:t>2013</a:t>
            </a:r>
            <a:endParaRPr lang="en-US" sz="1100" dirty="0"/>
          </a:p>
        </p:txBody>
      </p:sp>
      <p:sp>
        <p:nvSpPr>
          <p:cNvPr id="16" name="Text 14"/>
          <p:cNvSpPr/>
          <p:nvPr/>
        </p:nvSpPr>
        <p:spPr>
          <a:xfrm>
            <a:off x="3566160" y="4114800"/>
            <a:ext cx="2240280" cy="182880"/>
          </a:xfrm>
          <a:prstGeom prst="rect">
            <a:avLst/>
          </a:prstGeom>
          <a:noFill/>
          <a:ln/>
        </p:spPr>
        <p:txBody>
          <a:bodyPr wrap="square" rtlCol="0" anchor="ctr"/>
          <a:lstStyle/>
          <a:p>
            <a:pPr indent="0" marL="0">
              <a:buNone/>
            </a:pPr>
            <a:r>
              <a:rPr lang="en-US" sz="800" b="1" dirty="0">
                <a:solidFill>
                  <a:srgbClr val="AAAAAA"/>
                </a:solidFill>
                <a:latin typeface="Arial" pitchFamily="34" charset="0"/>
                <a:ea typeface="Arial" pitchFamily="34" charset="-122"/>
                <a:cs typeface="Arial" pitchFamily="34" charset="-120"/>
              </a:rPr>
              <a:t>BEFORE</a:t>
            </a:r>
            <a:endParaRPr lang="en-US" sz="800" dirty="0"/>
          </a:p>
        </p:txBody>
      </p:sp>
      <p:sp>
        <p:nvSpPr>
          <p:cNvPr id="17" name="Text 15"/>
          <p:cNvSpPr/>
          <p:nvPr/>
        </p:nvSpPr>
        <p:spPr>
          <a:xfrm>
            <a:off x="3566160" y="4297680"/>
            <a:ext cx="2240280" cy="457200"/>
          </a:xfrm>
          <a:prstGeom prst="rect">
            <a:avLst/>
          </a:prstGeom>
          <a:noFill/>
          <a:ln/>
        </p:spPr>
        <p:txBody>
          <a:bodyPr wrap="square" rtlCol="0" anchor="ctr"/>
          <a:lstStyle/>
          <a:p>
            <a:pPr indent="0" marL="0">
              <a:lnSpc>
                <a:spcPct val="120000"/>
              </a:lnSpc>
              <a:buNone/>
            </a:pPr>
            <a:r>
              <a:rPr lang="en-US" sz="1100" dirty="0">
                <a:solidFill>
                  <a:srgbClr val="777777"/>
                </a:solidFill>
                <a:latin typeface="Arial" pitchFamily="34" charset="0"/>
                <a:ea typeface="Arial" pitchFamily="34" charset="-122"/>
                <a:cs typeface="Arial" pitchFamily="34" charset="-120"/>
              </a:rPr>
              <a:t>"Works on my machine"</a:t>
            </a:r>
            <a:endParaRPr lang="en-US" sz="1100" dirty="0"/>
          </a:p>
        </p:txBody>
      </p:sp>
      <p:sp>
        <p:nvSpPr>
          <p:cNvPr id="18" name="Text 16"/>
          <p:cNvSpPr/>
          <p:nvPr/>
        </p:nvSpPr>
        <p:spPr>
          <a:xfrm>
            <a:off x="3566160" y="4846320"/>
            <a:ext cx="2240280" cy="182880"/>
          </a:xfrm>
          <a:prstGeom prst="rect">
            <a:avLst/>
          </a:prstGeom>
          <a:noFill/>
          <a:ln/>
        </p:spPr>
        <p:txBody>
          <a:bodyPr wrap="square" rtlCol="0" anchor="ctr"/>
          <a:lstStyle/>
          <a:p>
            <a:pPr indent="0" marL="0">
              <a:buNone/>
            </a:pPr>
            <a:r>
              <a:rPr lang="en-US" sz="800" b="1" dirty="0">
                <a:solidFill>
                  <a:srgbClr val="AAAAAA"/>
                </a:solidFill>
                <a:latin typeface="Arial" pitchFamily="34" charset="0"/>
                <a:ea typeface="Arial" pitchFamily="34" charset="-122"/>
                <a:cs typeface="Arial" pitchFamily="34" charset="-120"/>
              </a:rPr>
              <a:t>AFTER</a:t>
            </a:r>
            <a:endParaRPr lang="en-US" sz="800" dirty="0"/>
          </a:p>
        </p:txBody>
      </p:sp>
      <p:sp>
        <p:nvSpPr>
          <p:cNvPr id="19" name="Text 17"/>
          <p:cNvSpPr/>
          <p:nvPr/>
        </p:nvSpPr>
        <p:spPr>
          <a:xfrm>
            <a:off x="3566160" y="5029200"/>
            <a:ext cx="2240280" cy="457200"/>
          </a:xfrm>
          <a:prstGeom prst="rect">
            <a:avLst/>
          </a:prstGeom>
          <a:noFill/>
          <a:ln/>
        </p:spPr>
        <p:txBody>
          <a:bodyPr wrap="square" rtlCol="0" anchor="ctr"/>
          <a:lstStyle/>
          <a:p>
            <a:pPr indent="0" marL="0">
              <a:lnSpc>
                <a:spcPct val="120000"/>
              </a:lnSpc>
              <a:buNone/>
            </a:pPr>
            <a:r>
              <a:rPr lang="en-US" sz="1100" dirty="0">
                <a:solidFill>
                  <a:srgbClr val="444444"/>
                </a:solidFill>
                <a:latin typeface="Arial" pitchFamily="34" charset="0"/>
                <a:ea typeface="Arial" pitchFamily="34" charset="-122"/>
                <a:cs typeface="Arial" pitchFamily="34" charset="-120"/>
              </a:rPr>
              <a:t>15M repos, 25B monthly pulls</a:t>
            </a:r>
            <a:endParaRPr lang="en-US" sz="1100" dirty="0"/>
          </a:p>
        </p:txBody>
      </p:sp>
      <p:sp>
        <p:nvSpPr>
          <p:cNvPr id="20" name="Text 18"/>
          <p:cNvSpPr/>
          <p:nvPr/>
        </p:nvSpPr>
        <p:spPr>
          <a:xfrm>
            <a:off x="3566160" y="5669280"/>
            <a:ext cx="2240280" cy="36576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Industry standard</a:t>
            </a:r>
            <a:endParaRPr lang="en-US" sz="1200" dirty="0"/>
          </a:p>
        </p:txBody>
      </p:sp>
      <p:sp>
        <p:nvSpPr>
          <p:cNvPr id="21" name="Shape 19"/>
          <p:cNvSpPr/>
          <p:nvPr/>
        </p:nvSpPr>
        <p:spPr>
          <a:xfrm>
            <a:off x="6217920" y="3200400"/>
            <a:ext cx="2606040" cy="3200400"/>
          </a:xfrm>
          <a:prstGeom prst="roundRect">
            <a:avLst>
              <a:gd name="adj" fmla="val 701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2" name="Text 20"/>
          <p:cNvSpPr/>
          <p:nvPr/>
        </p:nvSpPr>
        <p:spPr>
          <a:xfrm>
            <a:off x="6400800" y="3337560"/>
            <a:ext cx="2240280" cy="365760"/>
          </a:xfrm>
          <a:prstGeom prst="rect">
            <a:avLst/>
          </a:prstGeom>
          <a:noFill/>
          <a:ln/>
        </p:spPr>
        <p:txBody>
          <a:bodyPr wrap="square" rtlCol="0" anchor="ctr"/>
          <a:lstStyle/>
          <a:p>
            <a:pPr indent="0" marL="0">
              <a:buNone/>
            </a:pPr>
            <a:r>
              <a:rPr lang="en-US" sz="1600" b="1" dirty="0">
                <a:solidFill>
                  <a:srgbClr val="1A1A1A"/>
                </a:solidFill>
                <a:latin typeface="Arial" pitchFamily="34" charset="0"/>
                <a:ea typeface="Arial" pitchFamily="34" charset="-122"/>
                <a:cs typeface="Arial" pitchFamily="34" charset="-120"/>
              </a:rPr>
              <a:t>Hugging Face</a:t>
            </a:r>
            <a:endParaRPr lang="en-US" sz="1600" dirty="0"/>
          </a:p>
        </p:txBody>
      </p:sp>
      <p:sp>
        <p:nvSpPr>
          <p:cNvPr id="23" name="Text 21"/>
          <p:cNvSpPr/>
          <p:nvPr/>
        </p:nvSpPr>
        <p:spPr>
          <a:xfrm>
            <a:off x="6400800" y="3703320"/>
            <a:ext cx="2240280" cy="274320"/>
          </a:xfrm>
          <a:prstGeom prst="rect">
            <a:avLst/>
          </a:prstGeom>
          <a:noFill/>
          <a:ln/>
        </p:spPr>
        <p:txBody>
          <a:bodyPr wrap="square" rtlCol="0" anchor="ctr"/>
          <a:lstStyle/>
          <a:p>
            <a:pPr indent="0" marL="0">
              <a:buNone/>
            </a:pPr>
            <a:r>
              <a:rPr lang="en-US" sz="1100" dirty="0">
                <a:solidFill>
                  <a:srgbClr val="777777"/>
                </a:solidFill>
                <a:latin typeface="Arial" pitchFamily="34" charset="0"/>
                <a:ea typeface="Arial" pitchFamily="34" charset="-122"/>
                <a:cs typeface="Arial" pitchFamily="34" charset="-120"/>
              </a:rPr>
              <a:t>2018</a:t>
            </a:r>
            <a:endParaRPr lang="en-US" sz="1100" dirty="0"/>
          </a:p>
        </p:txBody>
      </p:sp>
      <p:sp>
        <p:nvSpPr>
          <p:cNvPr id="24" name="Text 22"/>
          <p:cNvSpPr/>
          <p:nvPr/>
        </p:nvSpPr>
        <p:spPr>
          <a:xfrm>
            <a:off x="6400800" y="4114800"/>
            <a:ext cx="2240280" cy="182880"/>
          </a:xfrm>
          <a:prstGeom prst="rect">
            <a:avLst/>
          </a:prstGeom>
          <a:noFill/>
          <a:ln/>
        </p:spPr>
        <p:txBody>
          <a:bodyPr wrap="square" rtlCol="0" anchor="ctr"/>
          <a:lstStyle/>
          <a:p>
            <a:pPr indent="0" marL="0">
              <a:buNone/>
            </a:pPr>
            <a:r>
              <a:rPr lang="en-US" sz="800" b="1" dirty="0">
                <a:solidFill>
                  <a:srgbClr val="AAAAAA"/>
                </a:solidFill>
                <a:latin typeface="Arial" pitchFamily="34" charset="0"/>
                <a:ea typeface="Arial" pitchFamily="34" charset="-122"/>
                <a:cs typeface="Arial" pitchFamily="34" charset="-120"/>
              </a:rPr>
              <a:t>BEFORE</a:t>
            </a:r>
            <a:endParaRPr lang="en-US" sz="800" dirty="0"/>
          </a:p>
        </p:txBody>
      </p:sp>
      <p:sp>
        <p:nvSpPr>
          <p:cNvPr id="25" name="Text 23"/>
          <p:cNvSpPr/>
          <p:nvPr/>
        </p:nvSpPr>
        <p:spPr>
          <a:xfrm>
            <a:off x="6400800" y="4297680"/>
            <a:ext cx="2240280" cy="457200"/>
          </a:xfrm>
          <a:prstGeom prst="rect">
            <a:avLst/>
          </a:prstGeom>
          <a:noFill/>
          <a:ln/>
        </p:spPr>
        <p:txBody>
          <a:bodyPr wrap="square" rtlCol="0" anchor="ctr"/>
          <a:lstStyle/>
          <a:p>
            <a:pPr indent="0" marL="0">
              <a:lnSpc>
                <a:spcPct val="120000"/>
              </a:lnSpc>
              <a:buNone/>
            </a:pPr>
            <a:r>
              <a:rPr lang="en-US" sz="1100" dirty="0">
                <a:solidFill>
                  <a:srgbClr val="777777"/>
                </a:solidFill>
                <a:latin typeface="Arial" pitchFamily="34" charset="0"/>
                <a:ea typeface="Arial" pitchFamily="34" charset="-122"/>
                <a:cs typeface="Arial" pitchFamily="34" charset="-120"/>
              </a:rPr>
              <a:t>Email model weights around</a:t>
            </a:r>
            <a:endParaRPr lang="en-US" sz="1100" dirty="0"/>
          </a:p>
        </p:txBody>
      </p:sp>
      <p:sp>
        <p:nvSpPr>
          <p:cNvPr id="26" name="Text 24"/>
          <p:cNvSpPr/>
          <p:nvPr/>
        </p:nvSpPr>
        <p:spPr>
          <a:xfrm>
            <a:off x="6400800" y="4846320"/>
            <a:ext cx="2240280" cy="182880"/>
          </a:xfrm>
          <a:prstGeom prst="rect">
            <a:avLst/>
          </a:prstGeom>
          <a:noFill/>
          <a:ln/>
        </p:spPr>
        <p:txBody>
          <a:bodyPr wrap="square" rtlCol="0" anchor="ctr"/>
          <a:lstStyle/>
          <a:p>
            <a:pPr indent="0" marL="0">
              <a:buNone/>
            </a:pPr>
            <a:r>
              <a:rPr lang="en-US" sz="800" b="1" dirty="0">
                <a:solidFill>
                  <a:srgbClr val="AAAAAA"/>
                </a:solidFill>
                <a:latin typeface="Arial" pitchFamily="34" charset="0"/>
                <a:ea typeface="Arial" pitchFamily="34" charset="-122"/>
                <a:cs typeface="Arial" pitchFamily="34" charset="-120"/>
              </a:rPr>
              <a:t>AFTER</a:t>
            </a:r>
            <a:endParaRPr lang="en-US" sz="800" dirty="0"/>
          </a:p>
        </p:txBody>
      </p:sp>
      <p:sp>
        <p:nvSpPr>
          <p:cNvPr id="27" name="Text 25"/>
          <p:cNvSpPr/>
          <p:nvPr/>
        </p:nvSpPr>
        <p:spPr>
          <a:xfrm>
            <a:off x="6400800" y="5029200"/>
            <a:ext cx="2240280" cy="457200"/>
          </a:xfrm>
          <a:prstGeom prst="rect">
            <a:avLst/>
          </a:prstGeom>
          <a:noFill/>
          <a:ln/>
        </p:spPr>
        <p:txBody>
          <a:bodyPr wrap="square" rtlCol="0" anchor="ctr"/>
          <a:lstStyle/>
          <a:p>
            <a:pPr indent="0" marL="0">
              <a:lnSpc>
                <a:spcPct val="120000"/>
              </a:lnSpc>
              <a:buNone/>
            </a:pPr>
            <a:r>
              <a:rPr lang="en-US" sz="1100" dirty="0">
                <a:solidFill>
                  <a:srgbClr val="444444"/>
                </a:solidFill>
                <a:latin typeface="Arial" pitchFamily="34" charset="0"/>
                <a:ea typeface="Arial" pitchFamily="34" charset="-122"/>
                <a:cs typeface="Arial" pitchFamily="34" charset="-120"/>
              </a:rPr>
              <a:t>2M+ models, 13M users</a:t>
            </a:r>
            <a:endParaRPr lang="en-US" sz="1100" dirty="0"/>
          </a:p>
        </p:txBody>
      </p:sp>
      <p:sp>
        <p:nvSpPr>
          <p:cNvPr id="28" name="Text 26"/>
          <p:cNvSpPr/>
          <p:nvPr/>
        </p:nvSpPr>
        <p:spPr>
          <a:xfrm>
            <a:off x="6400800" y="5669280"/>
            <a:ext cx="2240280" cy="365760"/>
          </a:xfrm>
          <a:prstGeom prst="rect">
            <a:avLst/>
          </a:prstGeom>
          <a:noFill/>
          <a:ln/>
        </p:spPr>
        <p:txBody>
          <a:bodyPr wrap="square" rtlCol="0" anchor="ctr"/>
          <a:lstStyle/>
          <a:p>
            <a:pPr indent="0" marL="0">
              <a:buNone/>
            </a:pPr>
            <a:r>
              <a:rPr lang="en-US" sz="1200" b="1" dirty="0">
                <a:solidFill>
                  <a:srgbClr val="1A1A1A"/>
                </a:solidFill>
                <a:latin typeface="Arial" pitchFamily="34" charset="0"/>
                <a:ea typeface="Arial" pitchFamily="34" charset="-122"/>
                <a:cs typeface="Arial" pitchFamily="34" charset="-120"/>
              </a:rPr>
              <a:t>$4.5B valuation</a:t>
            </a:r>
            <a:endParaRPr lang="en-US" sz="1200" dirty="0"/>
          </a:p>
        </p:txBody>
      </p:sp>
      <p:sp>
        <p:nvSpPr>
          <p:cNvPr id="29" name="Shape 27"/>
          <p:cNvSpPr/>
          <p:nvPr/>
        </p:nvSpPr>
        <p:spPr>
          <a:xfrm>
            <a:off x="9052560" y="3200400"/>
            <a:ext cx="2606040" cy="3200400"/>
          </a:xfrm>
          <a:prstGeom prst="roundRect">
            <a:avLst>
              <a:gd name="adj" fmla="val 7018"/>
            </a:avLst>
          </a:prstGeom>
          <a:solidFill>
            <a:srgbClr val="E8E8E8"/>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30" name="Text 28"/>
          <p:cNvSpPr/>
          <p:nvPr/>
        </p:nvSpPr>
        <p:spPr>
          <a:xfrm>
            <a:off x="9235440" y="3337560"/>
            <a:ext cx="2240280" cy="365760"/>
          </a:xfrm>
          <a:prstGeom prst="rect">
            <a:avLst/>
          </a:prstGeom>
          <a:noFill/>
          <a:ln/>
        </p:spPr>
        <p:txBody>
          <a:bodyPr wrap="square" rtlCol="0" anchor="ctr"/>
          <a:lstStyle/>
          <a:p>
            <a:pPr indent="0" marL="0">
              <a:buNone/>
            </a:pPr>
            <a:r>
              <a:rPr lang="en-US" sz="1600" b="1" dirty="0">
                <a:solidFill>
                  <a:srgbClr val="000000"/>
                </a:solidFill>
                <a:latin typeface="Arial" pitchFamily="34" charset="0"/>
                <a:ea typeface="Arial" pitchFamily="34" charset="-122"/>
                <a:cs typeface="Arial" pitchFamily="34" charset="-120"/>
              </a:rPr>
              <a:t>AI Agents</a:t>
            </a:r>
            <a:endParaRPr lang="en-US" sz="1600" dirty="0"/>
          </a:p>
        </p:txBody>
      </p:sp>
      <p:sp>
        <p:nvSpPr>
          <p:cNvPr id="31" name="Text 29"/>
          <p:cNvSpPr/>
          <p:nvPr/>
        </p:nvSpPr>
        <p:spPr>
          <a:xfrm>
            <a:off x="9235440" y="3703320"/>
            <a:ext cx="2240280" cy="274320"/>
          </a:xfrm>
          <a:prstGeom prst="rect">
            <a:avLst/>
          </a:prstGeom>
          <a:noFill/>
          <a:ln/>
        </p:spPr>
        <p:txBody>
          <a:bodyPr wrap="square" rtlCol="0" anchor="ctr"/>
          <a:lstStyle/>
          <a:p>
            <a:pPr indent="0" marL="0">
              <a:buNone/>
            </a:pPr>
            <a:r>
              <a:rPr lang="en-US" sz="1100" dirty="0">
                <a:solidFill>
                  <a:srgbClr val="777777"/>
                </a:solidFill>
                <a:latin typeface="Arial" pitchFamily="34" charset="0"/>
                <a:ea typeface="Arial" pitchFamily="34" charset="-122"/>
                <a:cs typeface="Arial" pitchFamily="34" charset="-120"/>
              </a:rPr>
              <a:t>2025</a:t>
            </a:r>
            <a:endParaRPr lang="en-US" sz="1100" dirty="0"/>
          </a:p>
        </p:txBody>
      </p:sp>
      <p:sp>
        <p:nvSpPr>
          <p:cNvPr id="32" name="Text 30"/>
          <p:cNvSpPr/>
          <p:nvPr/>
        </p:nvSpPr>
        <p:spPr>
          <a:xfrm>
            <a:off x="9235440" y="4114800"/>
            <a:ext cx="2240280" cy="182880"/>
          </a:xfrm>
          <a:prstGeom prst="rect">
            <a:avLst/>
          </a:prstGeom>
          <a:noFill/>
          <a:ln/>
        </p:spPr>
        <p:txBody>
          <a:bodyPr wrap="square" rtlCol="0" anchor="ctr"/>
          <a:lstStyle/>
          <a:p>
            <a:pPr indent="0" marL="0">
              <a:buNone/>
            </a:pPr>
            <a:r>
              <a:rPr lang="en-US" sz="800" b="1" dirty="0">
                <a:solidFill>
                  <a:srgbClr val="AAAAAA"/>
                </a:solidFill>
                <a:latin typeface="Arial" pitchFamily="34" charset="0"/>
                <a:ea typeface="Arial" pitchFamily="34" charset="-122"/>
                <a:cs typeface="Arial" pitchFamily="34" charset="-120"/>
              </a:rPr>
              <a:t>BEFORE</a:t>
            </a:r>
            <a:endParaRPr lang="en-US" sz="800" dirty="0"/>
          </a:p>
        </p:txBody>
      </p:sp>
      <p:sp>
        <p:nvSpPr>
          <p:cNvPr id="33" name="Text 31"/>
          <p:cNvSpPr/>
          <p:nvPr/>
        </p:nvSpPr>
        <p:spPr>
          <a:xfrm>
            <a:off x="9235440" y="4297680"/>
            <a:ext cx="2240280" cy="457200"/>
          </a:xfrm>
          <a:prstGeom prst="rect">
            <a:avLst/>
          </a:prstGeom>
          <a:noFill/>
          <a:ln/>
        </p:spPr>
        <p:txBody>
          <a:bodyPr wrap="square" rtlCol="0" anchor="ctr"/>
          <a:lstStyle/>
          <a:p>
            <a:pPr indent="0" marL="0">
              <a:lnSpc>
                <a:spcPct val="120000"/>
              </a:lnSpc>
              <a:buNone/>
            </a:pPr>
            <a:r>
              <a:rPr lang="en-US" sz="1100" dirty="0">
                <a:solidFill>
                  <a:srgbClr val="777777"/>
                </a:solidFill>
                <a:latin typeface="Arial" pitchFamily="34" charset="0"/>
                <a:ea typeface="Arial" pitchFamily="34" charset="-122"/>
                <a:cs typeface="Arial" pitchFamily="34" charset="-120"/>
              </a:rPr>
              <a:t>Locked to platforms</a:t>
            </a:r>
            <a:endParaRPr lang="en-US" sz="1100" dirty="0"/>
          </a:p>
        </p:txBody>
      </p:sp>
      <p:sp>
        <p:nvSpPr>
          <p:cNvPr id="34" name="Text 32"/>
          <p:cNvSpPr/>
          <p:nvPr/>
        </p:nvSpPr>
        <p:spPr>
          <a:xfrm>
            <a:off x="9235440" y="4846320"/>
            <a:ext cx="2240280" cy="182880"/>
          </a:xfrm>
          <a:prstGeom prst="rect">
            <a:avLst/>
          </a:prstGeom>
          <a:noFill/>
          <a:ln/>
        </p:spPr>
        <p:txBody>
          <a:bodyPr wrap="square" rtlCol="0" anchor="ctr"/>
          <a:lstStyle/>
          <a:p>
            <a:pPr indent="0" marL="0">
              <a:buNone/>
            </a:pPr>
            <a:r>
              <a:rPr lang="en-US" sz="800" b="1" dirty="0">
                <a:solidFill>
                  <a:srgbClr val="AAAAAA"/>
                </a:solidFill>
                <a:latin typeface="Arial" pitchFamily="34" charset="0"/>
                <a:ea typeface="Arial" pitchFamily="34" charset="-122"/>
                <a:cs typeface="Arial" pitchFamily="34" charset="-120"/>
              </a:rPr>
              <a:t>AFTER</a:t>
            </a:r>
            <a:endParaRPr lang="en-US" sz="800" dirty="0"/>
          </a:p>
        </p:txBody>
      </p:sp>
      <p:sp>
        <p:nvSpPr>
          <p:cNvPr id="35" name="Text 33"/>
          <p:cNvSpPr/>
          <p:nvPr/>
        </p:nvSpPr>
        <p:spPr>
          <a:xfrm>
            <a:off x="9235440" y="5029200"/>
            <a:ext cx="2240280" cy="457200"/>
          </a:xfrm>
          <a:prstGeom prst="rect">
            <a:avLst/>
          </a:prstGeom>
          <a:noFill/>
          <a:ln/>
        </p:spPr>
        <p:txBody>
          <a:bodyPr wrap="square" rtlCol="0" anchor="ctr"/>
          <a:lstStyle/>
          <a:p>
            <a:pPr indent="0" marL="0">
              <a:lnSpc>
                <a:spcPct val="120000"/>
              </a:lnSpc>
              <a:buNone/>
            </a:pPr>
            <a:r>
              <a:rPr lang="en-US" sz="1100" b="1" dirty="0">
                <a:solidFill>
                  <a:srgbClr val="444444"/>
                </a:solidFill>
                <a:latin typeface="Arial" pitchFamily="34" charset="0"/>
                <a:ea typeface="Arial" pitchFamily="34" charset="-122"/>
                <a:cs typeface="Arial" pitchFamily="34" charset="-120"/>
              </a:rPr>
              <a:t>???</a:t>
            </a:r>
            <a:endParaRPr lang="en-US" sz="1100" dirty="0"/>
          </a:p>
        </p:txBody>
      </p:sp>
      <p:sp>
        <p:nvSpPr>
          <p:cNvPr id="36" name="Text 34"/>
          <p:cNvSpPr/>
          <p:nvPr/>
        </p:nvSpPr>
        <p:spPr>
          <a:xfrm>
            <a:off x="9235440" y="5669280"/>
            <a:ext cx="2240280" cy="365760"/>
          </a:xfrm>
          <a:prstGeom prst="rect">
            <a:avLst/>
          </a:prstGeom>
          <a:noFill/>
          <a:ln/>
        </p:spPr>
        <p:txBody>
          <a:bodyPr wrap="square" rtlCol="0" anchor="ctr"/>
          <a:lstStyle/>
          <a:p>
            <a:pPr indent="0" marL="0">
              <a:buNone/>
            </a:pPr>
            <a:r>
              <a:rPr lang="en-US" sz="1200" b="1" dirty="0">
                <a:solidFill>
                  <a:srgbClr val="000000"/>
                </a:solidFill>
                <a:latin typeface="Arial" pitchFamily="34" charset="0"/>
                <a:ea typeface="Arial" pitchFamily="34" charset="-122"/>
                <a:cs typeface="Arial" pitchFamily="34" charset="-120"/>
              </a:rPr>
              <a:t>AgentOnAir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WHAT OTHERS MISS</a:t>
            </a:r>
            <a:endParaRPr lang="en-US" sz="1000" dirty="0"/>
          </a:p>
        </p:txBody>
      </p:sp>
      <p:sp>
        <p:nvSpPr>
          <p:cNvPr id="3" name="Text 1"/>
          <p:cNvSpPr/>
          <p:nvPr/>
        </p:nvSpPr>
        <p:spPr>
          <a:xfrm>
            <a:off x="731520" y="822960"/>
            <a:ext cx="10698480" cy="1280160"/>
          </a:xfrm>
          <a:prstGeom prst="rect">
            <a:avLst/>
          </a:prstGeom>
          <a:noFill/>
          <a:ln/>
        </p:spPr>
        <p:txBody>
          <a:bodyPr wrap="square" rtlCol="0" anchor="ctr"/>
          <a:lstStyle/>
          <a:p>
            <a:pPr indent="0" marL="0">
              <a:lnSpc>
                <a:spcPct val="130000"/>
              </a:lnSpc>
              <a:buNone/>
            </a:pPr>
            <a:r>
              <a:rPr lang="en-US" sz="2800" dirty="0">
                <a:solidFill>
                  <a:srgbClr val="1A1A1A"/>
                </a:solidFill>
              </a:rPr>
              <a:t>Everyone is building agent </a:t>
            </a:r>
            <a:pPr indent="0" marL="0">
              <a:lnSpc>
                <a:spcPct val="130000"/>
              </a:lnSpc>
              <a:buNone/>
            </a:pPr>
            <a:r>
              <a:rPr lang="en-US" sz="2800" b="1" u="sng" dirty="0">
                <a:solidFill>
                  <a:srgbClr val="1A1A1A"/>
                </a:solidFill>
              </a:rPr>
              <a:t>platforms</a:t>
            </a:r>
            <a:pPr indent="0" marL="0">
              <a:lnSpc>
                <a:spcPct val="130000"/>
              </a:lnSpc>
              <a:buNone/>
            </a:pPr>
            <a:r>
              <a:rPr lang="en-US" sz="2800" dirty="0">
                <a:solidFill>
                  <a:srgbClr val="1A1A1A"/>
                </a:solidFill>
              </a:rPr>
              <a:t>.</a:t>
            </a:r>
            <a:endParaRPr lang="en-US" sz="2800" dirty="0"/>
          </a:p>
          <a:p>
            <a:pPr indent="0" marL="0">
              <a:lnSpc>
                <a:spcPct val="130000"/>
              </a:lnSpc>
              <a:buNone/>
            </a:pPr>
            <a:r>
              <a:rPr lang="en-US" sz="2800" dirty="0">
                <a:solidFill>
                  <a:srgbClr val="1A1A1A"/>
                </a:solidFill>
              </a:rPr>
              <a:t>Nobody is building the agent </a:t>
            </a:r>
            <a:endParaRPr lang="en-US" sz="2800" dirty="0"/>
          </a:p>
          <a:p>
            <a:pPr indent="0" marL="0">
              <a:lnSpc>
                <a:spcPct val="130000"/>
              </a:lnSpc>
              <a:buNone/>
            </a:pPr>
            <a:r>
              <a:rPr lang="en-US" sz="2800" b="1" u="sng" dirty="0">
                <a:solidFill>
                  <a:srgbClr val="000000"/>
                </a:solidFill>
              </a:rPr>
              <a:t>sharing layer</a:t>
            </a:r>
            <a:pPr indent="0" marL="0">
              <a:lnSpc>
                <a:spcPct val="130000"/>
              </a:lnSpc>
              <a:buNone/>
            </a:pPr>
            <a:r>
              <a:rPr lang="en-US" sz="2800" dirty="0">
                <a:solidFill>
                  <a:srgbClr val="1A1A1A"/>
                </a:solidFill>
              </a:rPr>
              <a:t>.</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64240" cy="914400"/>
        </p:xfrm>
        <a:graphic>
          <a:graphicData uri="http://schemas.openxmlformats.org/drawingml/2006/table">
            <a:tbl>
              <a:tblPr/>
              <a:tblGrid>
                <a:gridCol w="2011680"/>
                <a:gridCol w="1371600"/>
                <a:gridCol w="1463040"/>
                <a:gridCol w="1371600"/>
                <a:gridCol w="1371600"/>
                <a:gridCol w="1188720"/>
                <a:gridCol w="1371600"/>
              </a:tblGrid>
              <a:tr h="502920">
                <a:tc>
                  <a:txBody>
                    <a:bodyPr/>
                    <a:lstStyle/>
                    <a:p>
                      <a:pPr algn="ctr" indent="0" marL="0">
                        <a:buNone/>
                      </a:pPr>
                      <a:endParaRPr lang="en-US" sz="9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algn="ctr" indent="0" marL="0">
                        <a:buNone/>
                      </a:pPr>
                      <a:r>
                        <a:rPr lang="en-US" sz="900" b="1" dirty="0">
                          <a:solidFill>
                            <a:srgbClr val="777777"/>
                          </a:solidFill>
                          <a:latin typeface="Arial" pitchFamily="34" charset="0"/>
                          <a:ea typeface="Arial" pitchFamily="34" charset="-122"/>
                          <a:cs typeface="Arial" pitchFamily="34" charset="-120"/>
                        </a:rPr>
                        <a:t>Portable</a:t>
                      </a:r>
                      <a:endParaRPr lang="en-US" sz="900" dirty="0">
                        <a:latin typeface="Arial" charset="0"/>
                        <a:ea typeface="Arial" charset="0"/>
                        <a:cs typeface="Arial" charset="0"/>
                      </a:endParaRPr>
                    </a:p>
                    <a:p>
                      <a:pPr algn="ctr" indent="0" marL="0">
                        <a:buNone/>
                      </a:pPr>
                      <a:r>
                        <a:rPr lang="en-US" sz="900" b="1" dirty="0">
                          <a:solidFill>
                            <a:srgbClr val="777777"/>
                          </a:solidFill>
                          <a:latin typeface="Arial" pitchFamily="34" charset="0"/>
                          <a:ea typeface="Arial" pitchFamily="34" charset="-122"/>
                          <a:cs typeface="Arial" pitchFamily="34" charset="-120"/>
                        </a:rPr>
                        <a:t>File</a:t>
                      </a:r>
                      <a:endParaRPr lang="en-US" sz="9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algn="ctr" indent="0" marL="0">
                        <a:buNone/>
                      </a:pPr>
                      <a:r>
                        <a:rPr lang="en-US" sz="900" b="1" dirty="0">
                          <a:solidFill>
                            <a:srgbClr val="777777"/>
                          </a:solidFill>
                          <a:latin typeface="Arial" pitchFamily="34" charset="0"/>
                          <a:ea typeface="Arial" pitchFamily="34" charset="-122"/>
                          <a:cs typeface="Arial" pitchFamily="34" charset="-120"/>
                        </a:rPr>
                        <a:t>Framework</a:t>
                      </a:r>
                      <a:endParaRPr lang="en-US" sz="900" dirty="0">
                        <a:latin typeface="Arial" charset="0"/>
                        <a:ea typeface="Arial" charset="0"/>
                        <a:cs typeface="Arial" charset="0"/>
                      </a:endParaRPr>
                    </a:p>
                    <a:p>
                      <a:pPr algn="ctr" indent="0" marL="0">
                        <a:buNone/>
                      </a:pPr>
                      <a:r>
                        <a:rPr lang="en-US" sz="900" b="1" dirty="0">
                          <a:solidFill>
                            <a:srgbClr val="777777"/>
                          </a:solidFill>
                          <a:latin typeface="Arial" pitchFamily="34" charset="0"/>
                          <a:ea typeface="Arial" pitchFamily="34" charset="-122"/>
                          <a:cs typeface="Arial" pitchFamily="34" charset="-120"/>
                        </a:rPr>
                        <a:t>Agnostic</a:t>
                      </a:r>
                      <a:endParaRPr lang="en-US" sz="9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algn="ctr" indent="0" marL="0">
                        <a:buNone/>
                      </a:pPr>
                      <a:r>
                        <a:rPr lang="en-US" sz="900" b="1" dirty="0">
                          <a:solidFill>
                            <a:srgbClr val="777777"/>
                          </a:solidFill>
                          <a:latin typeface="Arial" pitchFamily="34" charset="0"/>
                          <a:ea typeface="Arial" pitchFamily="34" charset="-122"/>
                          <a:cs typeface="Arial" pitchFamily="34" charset="-120"/>
                        </a:rPr>
                        <a:t>One-Cmd</a:t>
                      </a:r>
                      <a:endParaRPr lang="en-US" sz="900" dirty="0">
                        <a:latin typeface="Arial" charset="0"/>
                        <a:ea typeface="Arial" charset="0"/>
                        <a:cs typeface="Arial" charset="0"/>
                      </a:endParaRPr>
                    </a:p>
                    <a:p>
                      <a:pPr algn="ctr" indent="0" marL="0">
                        <a:buNone/>
                      </a:pPr>
                      <a:r>
                        <a:rPr lang="en-US" sz="900" b="1" dirty="0">
                          <a:solidFill>
                            <a:srgbClr val="777777"/>
                          </a:solidFill>
                          <a:latin typeface="Arial" pitchFamily="34" charset="0"/>
                          <a:ea typeface="Arial" pitchFamily="34" charset="-122"/>
                          <a:cs typeface="Arial" pitchFamily="34" charset="-120"/>
                        </a:rPr>
                        <a:t>Install</a:t>
                      </a:r>
                      <a:endParaRPr lang="en-US" sz="9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algn="ctr" indent="0" marL="0">
                        <a:buNone/>
                      </a:pPr>
                      <a:r>
                        <a:rPr lang="en-US" sz="900" b="1" dirty="0">
                          <a:solidFill>
                            <a:srgbClr val="777777"/>
                          </a:solidFill>
                          <a:latin typeface="Arial" pitchFamily="34" charset="0"/>
                          <a:ea typeface="Arial" pitchFamily="34" charset="-122"/>
                          <a:cs typeface="Arial" pitchFamily="34" charset="-120"/>
                        </a:rPr>
                        <a:t>Bundled</a:t>
                      </a:r>
                      <a:endParaRPr lang="en-US" sz="900" dirty="0">
                        <a:latin typeface="Arial" charset="0"/>
                        <a:ea typeface="Arial" charset="0"/>
                        <a:cs typeface="Arial" charset="0"/>
                      </a:endParaRPr>
                    </a:p>
                    <a:p>
                      <a:pPr algn="ctr" indent="0" marL="0">
                        <a:buNone/>
                      </a:pPr>
                      <a:r>
                        <a:rPr lang="en-US" sz="900" b="1" dirty="0">
                          <a:solidFill>
                            <a:srgbClr val="777777"/>
                          </a:solidFill>
                          <a:latin typeface="Arial" pitchFamily="34" charset="0"/>
                          <a:ea typeface="Arial" pitchFamily="34" charset="-122"/>
                          <a:cs typeface="Arial" pitchFamily="34" charset="-120"/>
                        </a:rPr>
                        <a:t>Knowledge</a:t>
                      </a:r>
                      <a:endParaRPr lang="en-US" sz="9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algn="ctr" indent="0" marL="0">
                        <a:buNone/>
                      </a:pPr>
                      <a:r>
                        <a:rPr lang="en-US" sz="900" b="1" dirty="0">
                          <a:solidFill>
                            <a:srgbClr val="777777"/>
                          </a:solidFill>
                          <a:latin typeface="Arial" pitchFamily="34" charset="0"/>
                          <a:ea typeface="Arial" pitchFamily="34" charset="-122"/>
                          <a:cs typeface="Arial" pitchFamily="34" charset="-120"/>
                        </a:rPr>
                        <a:t>Runs</a:t>
                      </a:r>
                      <a:endParaRPr lang="en-US" sz="900" dirty="0">
                        <a:latin typeface="Arial" charset="0"/>
                        <a:ea typeface="Arial" charset="0"/>
                        <a:cs typeface="Arial" charset="0"/>
                      </a:endParaRPr>
                    </a:p>
                    <a:p>
                      <a:pPr algn="ctr" indent="0" marL="0">
                        <a:buNone/>
                      </a:pPr>
                      <a:r>
                        <a:rPr lang="en-US" sz="900" b="1" dirty="0">
                          <a:solidFill>
                            <a:srgbClr val="777777"/>
                          </a:solidFill>
                          <a:latin typeface="Arial" pitchFamily="34" charset="0"/>
                          <a:ea typeface="Arial" pitchFamily="34" charset="-122"/>
                          <a:cs typeface="Arial" pitchFamily="34" charset="-120"/>
                        </a:rPr>
                        <a:t>Offline</a:t>
                      </a:r>
                      <a:endParaRPr lang="en-US" sz="9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c>
                  <a:txBody>
                    <a:bodyPr/>
                    <a:lstStyle/>
                    <a:p>
                      <a:pPr algn="ctr" indent="0" marL="0">
                        <a:buNone/>
                      </a:pPr>
                      <a:r>
                        <a:rPr lang="en-US" sz="900" b="1" dirty="0">
                          <a:solidFill>
                            <a:srgbClr val="777777"/>
                          </a:solidFill>
                          <a:latin typeface="Arial" pitchFamily="34" charset="0"/>
                          <a:ea typeface="Arial" pitchFamily="34" charset="-122"/>
                          <a:cs typeface="Arial" pitchFamily="34" charset="-120"/>
                        </a:rPr>
                        <a:t>Open</a:t>
                      </a:r>
                      <a:endParaRPr lang="en-US" sz="900" dirty="0">
                        <a:latin typeface="Arial" charset="0"/>
                        <a:ea typeface="Arial" charset="0"/>
                        <a:cs typeface="Arial" charset="0"/>
                      </a:endParaRPr>
                    </a:p>
                    <a:p>
                      <a:pPr algn="ctr" indent="0" marL="0">
                        <a:buNone/>
                      </a:pPr>
                      <a:r>
                        <a:rPr lang="en-US" sz="900" b="1" dirty="0">
                          <a:solidFill>
                            <a:srgbClr val="777777"/>
                          </a:solidFill>
                          <a:latin typeface="Arial" pitchFamily="34" charset="0"/>
                          <a:ea typeface="Arial" pitchFamily="34" charset="-122"/>
                          <a:cs typeface="Arial" pitchFamily="34" charset="-120"/>
                        </a:rPr>
                        <a:t>Registry</a:t>
                      </a:r>
                      <a:endParaRPr lang="en-US" sz="9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0F0F0"/>
                    </a:solidFill>
                  </a:tcPr>
                </a:tc>
              </a:tr>
              <a:tr h="411480">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Custom GPTs</a:t>
                      </a:r>
                      <a:endParaRPr lang="en-US" sz="11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777777"/>
                          </a:solidFill>
                          <a:latin typeface="Arial" pitchFamily="34" charset="0"/>
                          <a:ea typeface="Arial" pitchFamily="34" charset="-122"/>
                          <a:cs typeface="Arial" pitchFamily="34" charset="-120"/>
                        </a:rPr>
                        <a:t>OpenAI only</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777777"/>
                          </a:solidFill>
                          <a:latin typeface="Arial" pitchFamily="34" charset="0"/>
                          <a:ea typeface="Arial" pitchFamily="34" charset="-122"/>
                          <a:cs typeface="Arial" pitchFamily="34" charset="-120"/>
                        </a:rPr>
                        <a:t>Limited</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777777"/>
                          </a:solidFill>
                          <a:latin typeface="Arial" pitchFamily="34" charset="0"/>
                          <a:ea typeface="Arial" pitchFamily="34" charset="-122"/>
                          <a:cs typeface="Arial" pitchFamily="34" charset="-120"/>
                        </a:rPr>
                        <a:t>GPT Store</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CrewAI</a:t>
                      </a:r>
                      <a:endParaRPr lang="en-US" sz="11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777777"/>
                          </a:solidFill>
                          <a:latin typeface="Arial" pitchFamily="34" charset="0"/>
                          <a:ea typeface="Arial" pitchFamily="34" charset="-122"/>
                          <a:cs typeface="Arial" pitchFamily="34" charset="-120"/>
                        </a:rPr>
                        <a:t>CrewAI only</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777777"/>
                          </a:solidFill>
                          <a:latin typeface="Arial" pitchFamily="34" charset="0"/>
                          <a:ea typeface="Arial" pitchFamily="34" charset="-122"/>
                          <a:cs typeface="Arial" pitchFamily="34" charset="-120"/>
                        </a:rPr>
                        <a:t>Partial</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LangChain Hub</a:t>
                      </a:r>
                      <a:endParaRPr lang="en-US" sz="11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777777"/>
                          </a:solidFill>
                          <a:latin typeface="Arial" pitchFamily="34" charset="0"/>
                          <a:ea typeface="Arial" pitchFamily="34" charset="-122"/>
                          <a:cs typeface="Arial" pitchFamily="34" charset="-120"/>
                        </a:rPr>
                        <a:t>Partial</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A1A1A"/>
                          </a:solidFill>
                          <a:latin typeface="Arial" pitchFamily="34" charset="0"/>
                          <a:ea typeface="Arial" pitchFamily="34" charset="-122"/>
                          <a:cs typeface="Arial" pitchFamily="34" charset="-120"/>
                        </a:rPr>
                        <a:t>AutoGen</a:t>
                      </a:r>
                      <a:endParaRPr lang="en-US" sz="11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777777"/>
                          </a:solidFill>
                          <a:latin typeface="Arial" pitchFamily="34" charset="0"/>
                          <a:ea typeface="Arial" pitchFamily="34" charset="-122"/>
                          <a:cs typeface="Arial" pitchFamily="34" charset="-120"/>
                        </a:rPr>
                        <a:t>MS only</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777777"/>
                          </a:solidFill>
                          <a:latin typeface="Arial" pitchFamily="34" charset="0"/>
                          <a:ea typeface="Arial" pitchFamily="34" charset="-122"/>
                          <a:cs typeface="Arial" pitchFamily="34" charset="-120"/>
                        </a:rPr>
                        <a:t>Partial</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AAAAAA"/>
                          </a:solidFill>
                          <a:latin typeface="Arial" pitchFamily="34" charset="0"/>
                          <a:ea typeface="Arial" pitchFamily="34" charset="-122"/>
                          <a:cs typeface="Arial" pitchFamily="34" charset="-120"/>
                        </a:rPr>
                        <a:t>No</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000000"/>
                          </a:solidFill>
                          <a:latin typeface="Arial" pitchFamily="34" charset="0"/>
                          <a:ea typeface="Arial" pitchFamily="34" charset="-122"/>
                          <a:cs typeface="Arial" pitchFamily="34" charset="-120"/>
                        </a:rPr>
                        <a:t>AgentOnAir</a:t>
                      </a:r>
                      <a:endParaRPr lang="en-US" sz="11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8E8"/>
                    </a:solidFill>
                  </a:tcPr>
                </a:tc>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.agent</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8E8"/>
                    </a:solidFill>
                  </a:tcPr>
                </a:tc>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8E8"/>
                    </a:solidFill>
                  </a:tcPr>
                </a:tc>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8E8"/>
                    </a:solidFill>
                  </a:tcPr>
                </a:tc>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8E8"/>
                    </a:solidFill>
                  </a:tcPr>
                </a:tc>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8E8"/>
                    </a:solidFill>
                  </a:tcPr>
                </a:tc>
                <a:tc>
                  <a:txBody>
                    <a:bodyPr/>
                    <a:lstStyle/>
                    <a:p>
                      <a:pPr algn="ctr" indent="0" marL="0">
                        <a:buNone/>
                      </a:pPr>
                      <a:r>
                        <a:rPr lang="en-US" sz="1000" b="1" dirty="0">
                          <a:solidFill>
                            <a:srgbClr val="000000"/>
                          </a:solidFill>
                          <a:latin typeface="Arial" pitchFamily="34" charset="0"/>
                          <a:ea typeface="Arial" pitchFamily="34" charset="-122"/>
                          <a:cs typeface="Arial" pitchFamily="34" charset="-120"/>
                        </a:rPr>
                        <a:t>Yes</a:t>
                      </a:r>
                      <a:endParaRPr lang="en-US" sz="1000" dirty="0">
                        <a:latin typeface="Arial" charset="0"/>
                        <a:ea typeface="Arial" charset="0"/>
                        <a:cs typeface="Arial" charset="0"/>
                      </a:endParaRPr>
                    </a:p>
                  </a:txBody>
                  <a:tcPr marL="76200" marR="76200" marT="50800" marB="5080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8E8E8"/>
                    </a:solidFill>
                  </a:tcPr>
                </a:tc>
              </a:tr>
            </a:tbl>
          </a:graphicData>
        </a:graphic>
      </p:graphicFrame>
      <p:sp>
        <p:nvSpPr>
          <p:cNvPr id="5" name="Shape 2"/>
          <p:cNvSpPr/>
          <p:nvPr/>
        </p:nvSpPr>
        <p:spPr>
          <a:xfrm>
            <a:off x="548640" y="5120640"/>
            <a:ext cx="11064240" cy="1188720"/>
          </a:xfrm>
          <a:prstGeom prst="roundRect">
            <a:avLst>
              <a:gd name="adj" fmla="val 15385"/>
            </a:avLst>
          </a:prstGeom>
          <a:solidFill>
            <a:srgbClr val="F0F0F0"/>
          </a:solidFill>
          <a:ln w="6350">
            <a:solidFill>
              <a:srgbClr val="DDDDDD"/>
            </a:solidFill>
            <a:prstDash val="solid"/>
          </a:ln>
        </p:spPr>
      </p:sp>
      <p:sp>
        <p:nvSpPr>
          <p:cNvPr id="6" name="Text 3"/>
          <p:cNvSpPr/>
          <p:nvPr/>
        </p:nvSpPr>
        <p:spPr>
          <a:xfrm>
            <a:off x="914400" y="5303520"/>
            <a:ext cx="10332720" cy="822960"/>
          </a:xfrm>
          <a:prstGeom prst="rect">
            <a:avLst/>
          </a:prstGeom>
          <a:noFill/>
          <a:ln/>
        </p:spPr>
        <p:txBody>
          <a:bodyPr wrap="square" rtlCol="0" anchor="ctr"/>
          <a:lstStyle/>
          <a:p>
            <a:pPr indent="0" marL="0">
              <a:lnSpc>
                <a:spcPct val="140000"/>
              </a:lnSpc>
              <a:buNone/>
            </a:pPr>
            <a:r>
              <a:rPr lang="en-US" sz="1200" b="1" dirty="0">
                <a:solidFill>
                  <a:srgbClr val="1A1A1A"/>
                </a:solidFill>
              </a:rPr>
              <a:t>What about MCP? </a:t>
            </a:r>
            <a:pPr indent="0" marL="0">
              <a:lnSpc>
                <a:spcPct val="140000"/>
              </a:lnSpc>
              <a:buNone/>
            </a:pPr>
            <a:r>
              <a:rPr lang="en-US" sz="1100" dirty="0">
                <a:solidFill>
                  <a:srgbClr val="777777"/>
                </a:solidFill>
              </a:rPr>
              <a:t>Anthropic's Model Context Protocol standardized tool calling — 28% of Fortune 500 adopted it by Q1 2025. </a:t>
            </a:r>
            <a:pPr indent="0" marL="0">
              <a:lnSpc>
                <a:spcPct val="140000"/>
              </a:lnSpc>
              <a:buNone/>
            </a:pPr>
            <a:r>
              <a:rPr lang="en-US" sz="1100" b="1" dirty="0">
                <a:solidFill>
                  <a:srgbClr val="1A1A1A"/>
                </a:solidFill>
              </a:rPr>
              <a:t>But MCP solves tool CALLING, not agent SHARING. </a:t>
            </a:r>
            <a:pPr indent="0" marL="0">
              <a:lnSpc>
                <a:spcPct val="140000"/>
              </a:lnSpc>
              <a:buNone/>
            </a:pPr>
            <a:r>
              <a:rPr lang="en-US" sz="1100" dirty="0">
                <a:solidFill>
                  <a:srgbClr val="777777"/>
                </a:solidFill>
              </a:rPr>
              <a:t>You still can't package an agent with its prompts, knowledge, and config into a file and hand it to someone.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731520"/>
            <a:ext cx="2743200" cy="1828800"/>
          </a:xfrm>
          <a:prstGeom prst="rect">
            <a:avLst/>
          </a:prstGeom>
          <a:noFill/>
          <a:ln/>
        </p:spPr>
        <p:txBody>
          <a:bodyPr wrap="square" rtlCol="0" anchor="ctr"/>
          <a:lstStyle/>
          <a:p>
            <a:pPr indent="0" marL="0">
              <a:buNone/>
            </a:pPr>
            <a:r>
              <a:rPr lang="en-US" sz="12000" b="1" dirty="0">
                <a:solidFill>
                  <a:srgbClr val="222222"/>
                </a:solidFill>
                <a:latin typeface="Arial" pitchFamily="34" charset="0"/>
                <a:ea typeface="Arial" pitchFamily="34" charset="-122"/>
                <a:cs typeface="Arial" pitchFamily="34" charset="-120"/>
              </a:rPr>
              <a:t>02</a:t>
            </a:r>
            <a:endParaRPr lang="en-US" sz="12000" dirty="0"/>
          </a:p>
        </p:txBody>
      </p:sp>
      <p:sp>
        <p:nvSpPr>
          <p:cNvPr id="3" name="Text 1"/>
          <p:cNvSpPr/>
          <p:nvPr/>
        </p:nvSpPr>
        <p:spPr>
          <a:xfrm>
            <a:off x="731520" y="2286000"/>
            <a:ext cx="10698480" cy="1828800"/>
          </a:xfrm>
          <a:prstGeom prst="rect">
            <a:avLst/>
          </a:prstGeom>
          <a:noFill/>
          <a:ln/>
        </p:spPr>
        <p:txBody>
          <a:bodyPr wrap="square" rtlCol="0" anchor="ctr"/>
          <a:lstStyle/>
          <a:p>
            <a:pPr indent="0" marL="0">
              <a:lnSpc>
                <a:spcPct val="120000"/>
              </a:lnSpc>
              <a:buNone/>
            </a:pPr>
            <a:r>
              <a:rPr lang="en-US" sz="4000" b="1" dirty="0">
                <a:solidFill>
                  <a:srgbClr val="FFFFFF"/>
                </a:solidFill>
                <a:latin typeface="Arial" pitchFamily="34" charset="0"/>
                <a:ea typeface="Arial" pitchFamily="34" charset="-122"/>
                <a:cs typeface="Arial" pitchFamily="34" charset="-120"/>
              </a:rPr>
              <a:t>How do we know that</a:t>
            </a:r>
            <a:endParaRPr lang="en-US" sz="4000" dirty="0"/>
          </a:p>
          <a:p>
            <a:pPr indent="0" marL="0">
              <a:lnSpc>
                <a:spcPct val="120000"/>
              </a:lnSpc>
              <a:buNone/>
            </a:pPr>
            <a:r>
              <a:rPr lang="en-US" sz="4000" b="1" dirty="0">
                <a:solidFill>
                  <a:srgbClr val="FFFFFF"/>
                </a:solidFill>
                <a:latin typeface="Arial" pitchFamily="34" charset="0"/>
                <a:ea typeface="Arial" pitchFamily="34" charset="-122"/>
                <a:cs typeface="Arial" pitchFamily="34" charset="-120"/>
              </a:rPr>
              <a:t>real users need this?</a:t>
            </a:r>
            <a:endParaRPr lang="en-US" sz="4000" dirty="0"/>
          </a:p>
        </p:txBody>
      </p:sp>
      <p:sp>
        <p:nvSpPr>
          <p:cNvPr id="4" name="Text 2"/>
          <p:cNvSpPr/>
          <p:nvPr/>
        </p:nvSpPr>
        <p:spPr>
          <a:xfrm>
            <a:off x="731520" y="4206240"/>
            <a:ext cx="10698480" cy="548640"/>
          </a:xfrm>
          <a:prstGeom prst="rect">
            <a:avLst/>
          </a:prstGeom>
          <a:noFill/>
          <a:ln/>
        </p:spPr>
        <p:txBody>
          <a:bodyPr wrap="square" rtlCol="0" anchor="ctr"/>
          <a:lstStyle/>
          <a:p>
            <a:pPr indent="0" marL="0">
              <a:buNone/>
            </a:pPr>
            <a:r>
              <a:rPr lang="en-US" sz="1600" dirty="0">
                <a:solidFill>
                  <a:srgbClr val="888888"/>
                </a:solidFill>
                <a:latin typeface="Arial" pitchFamily="34" charset="0"/>
                <a:ea typeface="Arial" pitchFamily="34" charset="-122"/>
                <a:cs typeface="Arial" pitchFamily="34" charset="-120"/>
              </a:rPr>
              <a:t>Evidence from the market, not assumptions.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THE EVIDENCE</a:t>
            </a:r>
            <a:endParaRPr lang="en-US" sz="1000" dirty="0"/>
          </a:p>
        </p:txBody>
      </p:sp>
      <p:sp>
        <p:nvSpPr>
          <p:cNvPr id="3" name="Text 1"/>
          <p:cNvSpPr/>
          <p:nvPr/>
        </p:nvSpPr>
        <p:spPr>
          <a:xfrm>
            <a:off x="731520" y="822960"/>
            <a:ext cx="10698480" cy="640080"/>
          </a:xfrm>
          <a:prstGeom prst="rect">
            <a:avLst/>
          </a:prstGeom>
          <a:noFill/>
          <a:ln/>
        </p:spPr>
        <p:txBody>
          <a:bodyPr wrap="square" rtlCol="0" anchor="ctr"/>
          <a:lstStyle/>
          <a:p>
            <a:pPr indent="0" marL="0">
              <a:buNone/>
            </a:pPr>
            <a:r>
              <a:rPr lang="en-US" sz="2600" b="1" dirty="0">
                <a:solidFill>
                  <a:srgbClr val="1A1A1A"/>
                </a:solidFill>
                <a:latin typeface="Arial" pitchFamily="34" charset="0"/>
                <a:ea typeface="Arial" pitchFamily="34" charset="-122"/>
                <a:cs typeface="Arial" pitchFamily="34" charset="-120"/>
              </a:rPr>
              <a:t>We didn't assume the problem. We found it everywhere.</a:t>
            </a:r>
            <a:endParaRPr lang="en-US" sz="2600" dirty="0"/>
          </a:p>
        </p:txBody>
      </p:sp>
      <p:sp>
        <p:nvSpPr>
          <p:cNvPr id="4" name="Shape 2"/>
          <p:cNvSpPr/>
          <p:nvPr/>
        </p:nvSpPr>
        <p:spPr>
          <a:xfrm>
            <a:off x="548640" y="1645920"/>
            <a:ext cx="53035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822960" y="1828800"/>
            <a:ext cx="4754880" cy="365760"/>
          </a:xfrm>
          <a:prstGeom prst="rect">
            <a:avLst/>
          </a:prstGeom>
          <a:noFill/>
          <a:ln/>
        </p:spPr>
        <p:txBody>
          <a:bodyPr wrap="square" rtlCol="0" anchor="ctr"/>
          <a:lstStyle/>
          <a:p>
            <a:pPr indent="0" marL="0">
              <a:buNone/>
            </a:pPr>
            <a:r>
              <a:rPr lang="en-US" sz="1300" b="1" dirty="0">
                <a:solidFill>
                  <a:srgbClr val="000000"/>
                </a:solidFill>
                <a:latin typeface="Arial" pitchFamily="34" charset="0"/>
                <a:ea typeface="Arial" pitchFamily="34" charset="-122"/>
                <a:cs typeface="Arial" pitchFamily="34" charset="-120"/>
              </a:rPr>
              <a:t>OpenAI's GPT Store Proves the Demand</a:t>
            </a:r>
            <a:endParaRPr lang="en-US" sz="1300" dirty="0"/>
          </a:p>
        </p:txBody>
      </p:sp>
      <p:sp>
        <p:nvSpPr>
          <p:cNvPr id="6" name="Text 4"/>
          <p:cNvSpPr/>
          <p:nvPr/>
        </p:nvSpPr>
        <p:spPr>
          <a:xfrm>
            <a:off x="822960" y="2240280"/>
            <a:ext cx="4754880" cy="164592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3M+ custom GPTs created in months. But they're locked to ChatGPT Plus ($20/mo). Can't embed on websites. Can't export. Users report GPTs reverting to base ChatGPT, losing all custom behavior. The demand for custom agents is massive — the distribution is broken.</a:t>
            </a:r>
            <a:endParaRPr lang="en-US" sz="1100" dirty="0"/>
          </a:p>
        </p:txBody>
      </p:sp>
      <p:sp>
        <p:nvSpPr>
          <p:cNvPr id="7" name="Shape 5"/>
          <p:cNvSpPr/>
          <p:nvPr/>
        </p:nvSpPr>
        <p:spPr>
          <a:xfrm>
            <a:off x="6172200" y="1645920"/>
            <a:ext cx="53035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8" name="Text 6"/>
          <p:cNvSpPr/>
          <p:nvPr/>
        </p:nvSpPr>
        <p:spPr>
          <a:xfrm>
            <a:off x="6446520" y="1828800"/>
            <a:ext cx="4754880" cy="365760"/>
          </a:xfrm>
          <a:prstGeom prst="rect">
            <a:avLst/>
          </a:prstGeom>
          <a:noFill/>
          <a:ln/>
        </p:spPr>
        <p:txBody>
          <a:bodyPr wrap="square" rtlCol="0" anchor="ctr"/>
          <a:lstStyle/>
          <a:p>
            <a:pPr indent="0" marL="0">
              <a:buNone/>
            </a:pPr>
            <a:r>
              <a:rPr lang="en-US" sz="1300" b="1" dirty="0">
                <a:solidFill>
                  <a:srgbClr val="000000"/>
                </a:solidFill>
                <a:latin typeface="Arial" pitchFamily="34" charset="0"/>
                <a:ea typeface="Arial" pitchFamily="34" charset="-122"/>
                <a:cs typeface="Arial" pitchFamily="34" charset="-120"/>
              </a:rPr>
              <a:t>Stack Overflow 2025 Developer Survey</a:t>
            </a:r>
            <a:endParaRPr lang="en-US" sz="1300" dirty="0"/>
          </a:p>
        </p:txBody>
      </p:sp>
      <p:sp>
        <p:nvSpPr>
          <p:cNvPr id="9" name="Text 7"/>
          <p:cNvSpPr/>
          <p:nvPr/>
        </p:nvSpPr>
        <p:spPr>
          <a:xfrm>
            <a:off x="6446520" y="2240280"/>
            <a:ext cx="4754880" cy="164592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51% of developers use AI agents daily. But only 17% report improved team collaboration — the LOWEST rated benefit. 38% have no plans to adopt agents at all. Why? Because agents are personal tools with no sharing mechanism. They help individuals, not teams.</a:t>
            </a:r>
            <a:endParaRPr lang="en-US" sz="1100" dirty="0"/>
          </a:p>
        </p:txBody>
      </p:sp>
      <p:sp>
        <p:nvSpPr>
          <p:cNvPr id="10" name="Shape 8"/>
          <p:cNvSpPr/>
          <p:nvPr/>
        </p:nvSpPr>
        <p:spPr>
          <a:xfrm>
            <a:off x="548640" y="4251960"/>
            <a:ext cx="53035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1" name="Text 9"/>
          <p:cNvSpPr/>
          <p:nvPr/>
        </p:nvSpPr>
        <p:spPr>
          <a:xfrm>
            <a:off x="822960" y="4434840"/>
            <a:ext cx="4754880" cy="365760"/>
          </a:xfrm>
          <a:prstGeom prst="rect">
            <a:avLst/>
          </a:prstGeom>
          <a:noFill/>
          <a:ln/>
        </p:spPr>
        <p:txBody>
          <a:bodyPr wrap="square" rtlCol="0" anchor="ctr"/>
          <a:lstStyle/>
          <a:p>
            <a:pPr indent="0" marL="0">
              <a:buNone/>
            </a:pPr>
            <a:r>
              <a:rPr lang="en-US" sz="1300" b="1" dirty="0">
                <a:solidFill>
                  <a:srgbClr val="000000"/>
                </a:solidFill>
                <a:latin typeface="Arial" pitchFamily="34" charset="0"/>
                <a:ea typeface="Arial" pitchFamily="34" charset="-122"/>
                <a:cs typeface="Arial" pitchFamily="34" charset="-120"/>
              </a:rPr>
              <a:t>Enterprise Interop Failures</a:t>
            </a:r>
            <a:endParaRPr lang="en-US" sz="1300" dirty="0"/>
          </a:p>
        </p:txBody>
      </p:sp>
      <p:sp>
        <p:nvSpPr>
          <p:cNvPr id="12" name="Text 10"/>
          <p:cNvSpPr/>
          <p:nvPr/>
        </p:nvSpPr>
        <p:spPr>
          <a:xfrm>
            <a:off x="822960" y="4846320"/>
            <a:ext cx="4754880" cy="164592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35% of multi-agent projects fail from protocol mismatches. 3-6 month delays. Integration costs scale quadratically. Agents from CrewAI can't talk to LangChain agents. No shared format means no composability.</a:t>
            </a:r>
            <a:endParaRPr lang="en-US" sz="1100" dirty="0"/>
          </a:p>
        </p:txBody>
      </p:sp>
      <p:sp>
        <p:nvSpPr>
          <p:cNvPr id="13" name="Shape 11"/>
          <p:cNvSpPr/>
          <p:nvPr/>
        </p:nvSpPr>
        <p:spPr>
          <a:xfrm>
            <a:off x="6172200" y="4251960"/>
            <a:ext cx="53035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4" name="Text 12"/>
          <p:cNvSpPr/>
          <p:nvPr/>
        </p:nvSpPr>
        <p:spPr>
          <a:xfrm>
            <a:off x="6446520" y="4434840"/>
            <a:ext cx="4754880" cy="365760"/>
          </a:xfrm>
          <a:prstGeom prst="rect">
            <a:avLst/>
          </a:prstGeom>
          <a:noFill/>
          <a:ln/>
        </p:spPr>
        <p:txBody>
          <a:bodyPr wrap="square" rtlCol="0" anchor="ctr"/>
          <a:lstStyle/>
          <a:p>
            <a:pPr indent="0" marL="0">
              <a:buNone/>
            </a:pPr>
            <a:r>
              <a:rPr lang="en-US" sz="1300" b="1" dirty="0">
                <a:solidFill>
                  <a:srgbClr val="000000"/>
                </a:solidFill>
                <a:latin typeface="Arial" pitchFamily="34" charset="0"/>
                <a:ea typeface="Arial" pitchFamily="34" charset="-122"/>
                <a:cs typeface="Arial" pitchFamily="34" charset="-120"/>
              </a:rPr>
              <a:t>The "AirDrop Moment" Everyone Wants</a:t>
            </a:r>
            <a:endParaRPr lang="en-US" sz="1300" dirty="0"/>
          </a:p>
        </p:txBody>
      </p:sp>
      <p:sp>
        <p:nvSpPr>
          <p:cNvPr id="15" name="Text 13"/>
          <p:cNvSpPr/>
          <p:nvPr/>
        </p:nvSpPr>
        <p:spPr>
          <a:xfrm>
            <a:off x="6446520" y="4846320"/>
            <a:ext cx="4754880" cy="164592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Your email agent works perfectly. Your friend wants it. Today: "rebuild it yourself" or "use my account." With AgentOnAir: agentbox install email-agent.agent — done in 3 seconds. Like sending a file. This is the UX people expect in 2025.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THE SOLUTION</a:t>
            </a:r>
            <a:endParaRPr lang="en-US" sz="1000" dirty="0"/>
          </a:p>
        </p:txBody>
      </p:sp>
      <p:sp>
        <p:nvSpPr>
          <p:cNvPr id="3" name="Text 1"/>
          <p:cNvSpPr/>
          <p:nvPr/>
        </p:nvSpPr>
        <p:spPr>
          <a:xfrm>
            <a:off x="731520" y="822960"/>
            <a:ext cx="10698480" cy="731520"/>
          </a:xfrm>
          <a:prstGeom prst="rect">
            <a:avLst/>
          </a:prstGeom>
          <a:noFill/>
          <a:ln/>
        </p:spPr>
        <p:txBody>
          <a:bodyPr wrap="square" rtlCol="0" anchor="ctr"/>
          <a:lstStyle/>
          <a:p>
            <a:pPr indent="0" marL="0">
              <a:buNone/>
            </a:pPr>
            <a:r>
              <a:rPr lang="en-US" sz="3400" b="1" dirty="0">
                <a:solidFill>
                  <a:srgbClr val="1A1A1A"/>
                </a:solidFill>
              </a:rPr>
              <a:t>One file. One command. </a:t>
            </a:r>
            <a:pPr indent="0" marL="0">
              <a:buNone/>
            </a:pPr>
            <a:r>
              <a:rPr lang="en-US" sz="3400" b="1" dirty="0">
                <a:solidFill>
                  <a:srgbClr val="000000"/>
                </a:solidFill>
              </a:rPr>
              <a:t>Agents that travel.</a:t>
            </a:r>
            <a:endParaRPr lang="en-US" sz="3400" dirty="0"/>
          </a:p>
        </p:txBody>
      </p:sp>
      <p:sp>
        <p:nvSpPr>
          <p:cNvPr id="4" name="Text 2"/>
          <p:cNvSpPr/>
          <p:nvPr/>
        </p:nvSpPr>
        <p:spPr>
          <a:xfrm>
            <a:off x="731520" y="1645920"/>
            <a:ext cx="10698480" cy="640080"/>
          </a:xfrm>
          <a:prstGeom prst="rect">
            <a:avLst/>
          </a:prstGeom>
          <a:noFill/>
          <a:ln/>
        </p:spPr>
        <p:txBody>
          <a:bodyPr wrap="square" rtlCol="0" anchor="ctr"/>
          <a:lstStyle/>
          <a:p>
            <a:pPr indent="0" marL="0">
              <a:lnSpc>
                <a:spcPct val="140000"/>
              </a:lnSpc>
              <a:buNone/>
            </a:pPr>
            <a:r>
              <a:rPr lang="en-US" sz="1300" dirty="0">
                <a:solidFill>
                  <a:srgbClr val="777777"/>
                </a:solidFill>
                <a:latin typeface="Arial" pitchFamily="34" charset="0"/>
                <a:ea typeface="Arial" pitchFamily="34" charset="-122"/>
                <a:cs typeface="Arial" pitchFamily="34" charset="-120"/>
              </a:rPr>
              <a:t>The .agent file — a portable, self-contained bundle that packages everything about an AI agent: system prompt, model config, knowledge files, tools, and metadata. Framework-agnostic. Provider-agnostic. Share it like a file. Run it anywhere.</a:t>
            </a:r>
            <a:endParaRPr lang="en-US" sz="1300" dirty="0"/>
          </a:p>
        </p:txBody>
      </p:sp>
      <p:sp>
        <p:nvSpPr>
          <p:cNvPr id="5" name="Shape 3"/>
          <p:cNvSpPr/>
          <p:nvPr/>
        </p:nvSpPr>
        <p:spPr>
          <a:xfrm>
            <a:off x="548640" y="2560320"/>
            <a:ext cx="11064240" cy="3840480"/>
          </a:xfrm>
          <a:prstGeom prst="roundRect">
            <a:avLst>
              <a:gd name="adj" fmla="val 4762"/>
            </a:avLst>
          </a:prstGeom>
          <a:solidFill>
            <a:srgbClr val="1A1A1A"/>
          </a:solidFill>
          <a:ln w="6350">
            <a:solidFill>
              <a:srgbClr val="DDDDDD"/>
            </a:solidFill>
            <a:prstDash val="solid"/>
          </a:ln>
        </p:spPr>
      </p:sp>
      <p:sp>
        <p:nvSpPr>
          <p:cNvPr id="6" name="Text 4"/>
          <p:cNvSpPr/>
          <p:nvPr/>
        </p:nvSpPr>
        <p:spPr>
          <a:xfrm>
            <a:off x="1097280" y="2834640"/>
            <a:ext cx="10058400" cy="3200400"/>
          </a:xfrm>
          <a:prstGeom prst="rect">
            <a:avLst/>
          </a:prstGeom>
          <a:noFill/>
          <a:ln/>
        </p:spPr>
        <p:txBody>
          <a:bodyPr wrap="square" rtlCol="0" anchor="t"/>
          <a:lstStyle/>
          <a:p>
            <a:pPr indent="0" marL="0">
              <a:lnSpc>
                <a:spcPct val="140000"/>
              </a:lnSpc>
              <a:buNone/>
            </a:pPr>
            <a:r>
              <a:rPr lang="en-US" sz="1400" dirty="0">
                <a:solidFill>
                  <a:srgbClr val="6E7681"/>
                </a:solidFill>
                <a:latin typeface="Courier New" pitchFamily="34" charset="0"/>
                <a:ea typeface="Courier New" pitchFamily="34" charset="-122"/>
                <a:cs typeface="Courier New" pitchFamily="34" charset="-120"/>
              </a:rPr>
              <a:t># You built an agent. Share it.
</a:t>
            </a:r>
            <a:pPr indent="0" marL="0">
              <a:lnSpc>
                <a:spcPct val="140000"/>
              </a:lnSpc>
              <a:buNone/>
            </a:pPr>
            <a:r>
              <a:rPr lang="en-US" sz="1500" b="1" dirty="0">
                <a:solidFill>
                  <a:srgbClr val="FFFFFF"/>
                </a:solidFill>
                <a:latin typeface="Courier New" pitchFamily="34" charset="0"/>
                <a:ea typeface="Courier New" pitchFamily="34" charset="-122"/>
                <a:cs typeface="Courier New" pitchFamily="34" charset="-120"/>
              </a:rPr>
              <a:t>$ agentbox pack</a:t>
            </a:r>
            <a:pPr indent="0" marL="0">
              <a:lnSpc>
                <a:spcPct val="140000"/>
              </a:lnSpc>
              <a:buNone/>
            </a:pPr>
            <a:r>
              <a:rPr lang="en-US" sz="1500" dirty="0">
                <a:solidFill>
                  <a:srgbClr val="AAAAAA"/>
                </a:solidFill>
                <a:latin typeface="Courier New" pitchFamily="34" charset="0"/>
                <a:ea typeface="Courier New" pitchFamily="34" charset="-122"/>
                <a:cs typeface="Courier New" pitchFamily="34" charset="-120"/>
              </a:rPr>
              <a:t> .
</a:t>
            </a:r>
            <a:pPr indent="0" marL="0">
              <a:lnSpc>
                <a:spcPct val="140000"/>
              </a:lnSpc>
              <a:buNone/>
            </a:pPr>
            <a:r>
              <a:rPr lang="en-US" sz="1300" dirty="0">
                <a:solidFill>
                  <a:srgbClr val="888888"/>
                </a:solidFill>
                <a:latin typeface="Courier New" pitchFamily="34" charset="0"/>
                <a:ea typeface="Courier New" pitchFamily="34" charset="-122"/>
                <a:cs typeface="Courier New" pitchFamily="34" charset="-120"/>
              </a:rPr>
              <a:t>  -&gt; email-agent-1.0.0.agent (0.8 KB)
</a:t>
            </a:r>
            <a:pPr indent="0" marL="0">
              <a:lnSpc>
                <a:spcPct val="140000"/>
              </a:lnSpc>
              <a:buNone/>
            </a:pPr>
            <a:r>
              <a:rPr lang="en-US" sz="1400" dirty="0">
                <a:solidFill>
                  <a:srgbClr val="6E7681"/>
                </a:solidFill>
                <a:latin typeface="Courier New" pitchFamily="34" charset="0"/>
                <a:ea typeface="Courier New" pitchFamily="34" charset="-122"/>
                <a:cs typeface="Courier New" pitchFamily="34" charset="-120"/>
              </a:rPr>
              <a:t># Your friend receives it. One command.
</a:t>
            </a:r>
            <a:pPr indent="0" marL="0">
              <a:lnSpc>
                <a:spcPct val="140000"/>
              </a:lnSpc>
              <a:buNone/>
            </a:pPr>
            <a:r>
              <a:rPr lang="en-US" sz="1500" b="1" dirty="0">
                <a:solidFill>
                  <a:srgbClr val="FFFFFF"/>
                </a:solidFill>
                <a:latin typeface="Courier New" pitchFamily="34" charset="0"/>
                <a:ea typeface="Courier New" pitchFamily="34" charset="-122"/>
                <a:cs typeface="Courier New" pitchFamily="34" charset="-120"/>
              </a:rPr>
              <a:t>$ agentbox install</a:t>
            </a:r>
            <a:pPr indent="0" marL="0">
              <a:lnSpc>
                <a:spcPct val="140000"/>
              </a:lnSpc>
              <a:buNone/>
            </a:pPr>
            <a:r>
              <a:rPr lang="en-US" sz="1500" dirty="0">
                <a:solidFill>
                  <a:srgbClr val="AAAAAA"/>
                </a:solidFill>
                <a:latin typeface="Courier New" pitchFamily="34" charset="0"/>
                <a:ea typeface="Courier New" pitchFamily="34" charset="-122"/>
                <a:cs typeface="Courier New" pitchFamily="34" charset="-120"/>
              </a:rPr>
              <a:t> email-agent-1.0.0.agent
</a:t>
            </a:r>
            <a:pPr indent="0" marL="0">
              <a:lnSpc>
                <a:spcPct val="140000"/>
              </a:lnSpc>
              <a:buNone/>
            </a:pPr>
            <a:r>
              <a:rPr lang="en-US" sz="1300" dirty="0">
                <a:solidFill>
                  <a:srgbClr val="888888"/>
                </a:solidFill>
                <a:latin typeface="Courier New" pitchFamily="34" charset="0"/>
                <a:ea typeface="Courier New" pitchFamily="34" charset="-122"/>
                <a:cs typeface="Courier New" pitchFamily="34" charset="-120"/>
              </a:rPr>
              <a:t>  -&gt; Installed to ~/.agentbox/agents/email-agent/
</a:t>
            </a:r>
            <a:pPr indent="0" marL="0">
              <a:lnSpc>
                <a:spcPct val="140000"/>
              </a:lnSpc>
              <a:buNone/>
            </a:pPr>
            <a:r>
              <a:rPr lang="en-US" sz="1500" b="1" dirty="0">
                <a:solidFill>
                  <a:srgbClr val="FFFFFF"/>
                </a:solidFill>
                <a:latin typeface="Courier New" pitchFamily="34" charset="0"/>
                <a:ea typeface="Courier New" pitchFamily="34" charset="-122"/>
                <a:cs typeface="Courier New" pitchFamily="34" charset="-120"/>
              </a:rPr>
              <a:t>$ agentbox run</a:t>
            </a:r>
            <a:pPr indent="0" marL="0">
              <a:lnSpc>
                <a:spcPct val="140000"/>
              </a:lnSpc>
              <a:buNone/>
            </a:pPr>
            <a:r>
              <a:rPr lang="en-US" sz="1500" dirty="0">
                <a:solidFill>
                  <a:srgbClr val="AAAAAA"/>
                </a:solidFill>
                <a:latin typeface="Courier New" pitchFamily="34" charset="0"/>
                <a:ea typeface="Courier New" pitchFamily="34" charset="-122"/>
                <a:cs typeface="Courier New" pitchFamily="34" charset="-120"/>
              </a:rPr>
              <a:t> email-agent </a:t>
            </a:r>
            <a:pPr indent="0" marL="0">
              <a:lnSpc>
                <a:spcPct val="140000"/>
              </a:lnSpc>
              <a:buNone/>
            </a:pPr>
            <a:r>
              <a:rPr lang="en-US" sz="1500" dirty="0">
                <a:solidFill>
                  <a:srgbClr val="AAAAAA"/>
                </a:solidFill>
                <a:latin typeface="Courier New" pitchFamily="34" charset="0"/>
                <a:ea typeface="Courier New" pitchFamily="34" charset="-122"/>
                <a:cs typeface="Courier New" pitchFamily="34" charset="-120"/>
              </a:rPr>
              <a:t>-m</a:t>
            </a:r>
            <a:pPr indent="0" marL="0">
              <a:lnSpc>
                <a:spcPct val="140000"/>
              </a:lnSpc>
              <a:buNone/>
            </a:pPr>
            <a:r>
              <a:rPr lang="en-US" sz="1500" dirty="0">
                <a:solidFill>
                  <a:srgbClr val="CCCCCC"/>
                </a:solidFill>
                <a:latin typeface="Courier New" pitchFamily="34" charset="0"/>
                <a:ea typeface="Courier New" pitchFamily="34" charset="-122"/>
                <a:cs typeface="Courier New" pitchFamily="34" charset="-120"/>
              </a:rPr>
              <a:t> "Check my inbox and reply to everything"
</a:t>
            </a:r>
            <a:pPr indent="0" marL="0">
              <a:lnSpc>
                <a:spcPct val="140000"/>
              </a:lnSpc>
              <a:buNone/>
            </a:pPr>
            <a:r>
              <a:rPr lang="en-US" sz="1300" dirty="0">
                <a:solidFill>
                  <a:srgbClr val="888888"/>
                </a:solidFill>
                <a:latin typeface="Courier New" pitchFamily="34" charset="0"/>
                <a:ea typeface="Courier New" pitchFamily="34" charset="-122"/>
                <a:cs typeface="Courier New" pitchFamily="34" charset="-120"/>
              </a:rPr>
              <a:t>  -&gt; Agent running with 2 knowledge files loaded. No setup needed.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HOW IT WORKS</a:t>
            </a:r>
            <a:endParaRPr lang="en-US" sz="1000" dirty="0"/>
          </a:p>
        </p:txBody>
      </p:sp>
      <p:sp>
        <p:nvSpPr>
          <p:cNvPr id="3" name="Text 1"/>
          <p:cNvSpPr/>
          <p:nvPr/>
        </p:nvSpPr>
        <p:spPr>
          <a:xfrm>
            <a:off x="731520" y="822960"/>
            <a:ext cx="10698480" cy="640080"/>
          </a:xfrm>
          <a:prstGeom prst="rect">
            <a:avLst/>
          </a:prstGeom>
          <a:noFill/>
          <a:ln/>
        </p:spPr>
        <p:txBody>
          <a:bodyPr wrap="square" rtlCol="0" anchor="ctr"/>
          <a:lstStyle/>
          <a:p>
            <a:pPr indent="0" marL="0">
              <a:buNone/>
            </a:pPr>
            <a:r>
              <a:rPr lang="en-US" sz="2800" b="1" dirty="0">
                <a:solidFill>
                  <a:srgbClr val="1A1A1A"/>
                </a:solidFill>
                <a:latin typeface="Arial" pitchFamily="34" charset="0"/>
                <a:ea typeface="Arial" pitchFamily="34" charset="-122"/>
                <a:cs typeface="Arial" pitchFamily="34" charset="-120"/>
              </a:rPr>
              <a:t>The full agent lifecycle in 4 commands</a:t>
            </a:r>
            <a:endParaRPr lang="en-US" sz="2800" dirty="0"/>
          </a:p>
        </p:txBody>
      </p:sp>
      <p:sp>
        <p:nvSpPr>
          <p:cNvPr id="4" name="Shape 2"/>
          <p:cNvSpPr/>
          <p:nvPr/>
        </p:nvSpPr>
        <p:spPr>
          <a:xfrm>
            <a:off x="548640" y="1645920"/>
            <a:ext cx="2651760" cy="4754880"/>
          </a:xfrm>
          <a:prstGeom prst="roundRect">
            <a:avLst>
              <a:gd name="adj" fmla="val 689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731520" y="1783080"/>
            <a:ext cx="2286000" cy="548640"/>
          </a:xfrm>
          <a:prstGeom prst="rect">
            <a:avLst/>
          </a:prstGeom>
          <a:noFill/>
          <a:ln/>
        </p:spPr>
        <p:txBody>
          <a:bodyPr wrap="square" rtlCol="0" anchor="ctr"/>
          <a:lstStyle/>
          <a:p>
            <a:pPr indent="0" marL="0">
              <a:buNone/>
            </a:pPr>
            <a:r>
              <a:rPr lang="en-US" sz="3200" b="1" dirty="0">
                <a:solidFill>
                  <a:srgbClr val="E8E8E8"/>
                </a:solidFill>
                <a:latin typeface="Arial" pitchFamily="34" charset="0"/>
                <a:ea typeface="Arial" pitchFamily="34" charset="-122"/>
                <a:cs typeface="Arial" pitchFamily="34" charset="-120"/>
              </a:rPr>
              <a:t>01</a:t>
            </a:r>
            <a:endParaRPr lang="en-US" sz="3200" dirty="0"/>
          </a:p>
        </p:txBody>
      </p:sp>
      <p:sp>
        <p:nvSpPr>
          <p:cNvPr id="6" name="Text 4"/>
          <p:cNvSpPr/>
          <p:nvPr/>
        </p:nvSpPr>
        <p:spPr>
          <a:xfrm>
            <a:off x="731520" y="2377440"/>
            <a:ext cx="2286000" cy="365760"/>
          </a:xfrm>
          <a:prstGeom prst="roundRect">
            <a:avLst>
              <a:gd name="adj" fmla="val 20000"/>
            </a:avLst>
          </a:prstGeom>
          <a:solidFill>
            <a:srgbClr val="F0F0F0"/>
          </a:solidFill>
          <a:ln/>
        </p:spPr>
        <p:txBody>
          <a:bodyPr wrap="square" rtlCol="0" anchor="ctr"/>
          <a:lstStyle/>
          <a:p>
            <a:pPr algn="ctr" indent="0" marL="0">
              <a:buNone/>
            </a:pPr>
            <a:r>
              <a:rPr lang="en-US" sz="1100" b="1" dirty="0">
                <a:solidFill>
                  <a:srgbClr val="000000"/>
                </a:solidFill>
                <a:latin typeface="Courier New" pitchFamily="34" charset="0"/>
                <a:ea typeface="Courier New" pitchFamily="34" charset="-122"/>
                <a:cs typeface="Courier New" pitchFamily="34" charset="-120"/>
              </a:rPr>
              <a:t>agentbox init</a:t>
            </a:r>
            <a:endParaRPr lang="en-US" sz="1100" dirty="0"/>
          </a:p>
        </p:txBody>
      </p:sp>
      <p:sp>
        <p:nvSpPr>
          <p:cNvPr id="7" name="Text 5"/>
          <p:cNvSpPr/>
          <p:nvPr/>
        </p:nvSpPr>
        <p:spPr>
          <a:xfrm>
            <a:off x="731520" y="2926080"/>
            <a:ext cx="2286000" cy="45720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Create</a:t>
            </a:r>
            <a:endParaRPr lang="en-US" sz="2000" dirty="0"/>
          </a:p>
        </p:txBody>
      </p:sp>
      <p:sp>
        <p:nvSpPr>
          <p:cNvPr id="8" name="Text 6"/>
          <p:cNvSpPr/>
          <p:nvPr/>
        </p:nvSpPr>
        <p:spPr>
          <a:xfrm>
            <a:off x="731520" y="3383280"/>
            <a:ext cx="2286000" cy="274320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Scaffold an agent project with templates (research, code-review, outreach). Generates agent.yaml manifest with system prompt, model config, and directories for knowledge files and tools.</a:t>
            </a:r>
            <a:endParaRPr lang="en-US" sz="1100" dirty="0"/>
          </a:p>
        </p:txBody>
      </p:sp>
      <p:sp>
        <p:nvSpPr>
          <p:cNvPr id="9" name="Shape 7"/>
          <p:cNvSpPr/>
          <p:nvPr/>
        </p:nvSpPr>
        <p:spPr>
          <a:xfrm>
            <a:off x="3429000" y="1645920"/>
            <a:ext cx="2651760" cy="4754880"/>
          </a:xfrm>
          <a:prstGeom prst="roundRect">
            <a:avLst>
              <a:gd name="adj" fmla="val 689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0" name="Text 8"/>
          <p:cNvSpPr/>
          <p:nvPr/>
        </p:nvSpPr>
        <p:spPr>
          <a:xfrm>
            <a:off x="3611880" y="1783080"/>
            <a:ext cx="2286000" cy="548640"/>
          </a:xfrm>
          <a:prstGeom prst="rect">
            <a:avLst/>
          </a:prstGeom>
          <a:noFill/>
          <a:ln/>
        </p:spPr>
        <p:txBody>
          <a:bodyPr wrap="square" rtlCol="0" anchor="ctr"/>
          <a:lstStyle/>
          <a:p>
            <a:pPr indent="0" marL="0">
              <a:buNone/>
            </a:pPr>
            <a:r>
              <a:rPr lang="en-US" sz="3200" b="1" dirty="0">
                <a:solidFill>
                  <a:srgbClr val="E8E8E8"/>
                </a:solidFill>
                <a:latin typeface="Arial" pitchFamily="34" charset="0"/>
                <a:ea typeface="Arial" pitchFamily="34" charset="-122"/>
                <a:cs typeface="Arial" pitchFamily="34" charset="-120"/>
              </a:rPr>
              <a:t>02</a:t>
            </a:r>
            <a:endParaRPr lang="en-US" sz="3200" dirty="0"/>
          </a:p>
        </p:txBody>
      </p:sp>
      <p:sp>
        <p:nvSpPr>
          <p:cNvPr id="11" name="Text 9"/>
          <p:cNvSpPr/>
          <p:nvPr/>
        </p:nvSpPr>
        <p:spPr>
          <a:xfrm>
            <a:off x="3611880" y="2377440"/>
            <a:ext cx="2286000" cy="365760"/>
          </a:xfrm>
          <a:prstGeom prst="roundRect">
            <a:avLst>
              <a:gd name="adj" fmla="val 20000"/>
            </a:avLst>
          </a:prstGeom>
          <a:solidFill>
            <a:srgbClr val="F0F0F0"/>
          </a:solidFill>
          <a:ln/>
        </p:spPr>
        <p:txBody>
          <a:bodyPr wrap="square" rtlCol="0" anchor="ctr"/>
          <a:lstStyle/>
          <a:p>
            <a:pPr algn="ctr" indent="0" marL="0">
              <a:buNone/>
            </a:pPr>
            <a:r>
              <a:rPr lang="en-US" sz="1100" b="1" dirty="0">
                <a:solidFill>
                  <a:srgbClr val="000000"/>
                </a:solidFill>
                <a:latin typeface="Courier New" pitchFamily="34" charset="0"/>
                <a:ea typeface="Courier New" pitchFamily="34" charset="-122"/>
                <a:cs typeface="Courier New" pitchFamily="34" charset="-120"/>
              </a:rPr>
              <a:t>agentbox pack</a:t>
            </a:r>
            <a:endParaRPr lang="en-US" sz="1100" dirty="0"/>
          </a:p>
        </p:txBody>
      </p:sp>
      <p:sp>
        <p:nvSpPr>
          <p:cNvPr id="12" name="Text 10"/>
          <p:cNvSpPr/>
          <p:nvPr/>
        </p:nvSpPr>
        <p:spPr>
          <a:xfrm>
            <a:off x="3611880" y="2926080"/>
            <a:ext cx="2286000" cy="45720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Pack</a:t>
            </a:r>
            <a:endParaRPr lang="en-US" sz="2000" dirty="0"/>
          </a:p>
        </p:txBody>
      </p:sp>
      <p:sp>
        <p:nvSpPr>
          <p:cNvPr id="13" name="Text 11"/>
          <p:cNvSpPr/>
          <p:nvPr/>
        </p:nvSpPr>
        <p:spPr>
          <a:xfrm>
            <a:off x="3611880" y="3383280"/>
            <a:ext cx="2286000" cy="274320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Bundle the entire agent directory into a single portable .agent file. Typically under 1KB. Contains everything needed to run — no external dependencies.</a:t>
            </a:r>
            <a:endParaRPr lang="en-US" sz="1100" dirty="0"/>
          </a:p>
        </p:txBody>
      </p:sp>
      <p:sp>
        <p:nvSpPr>
          <p:cNvPr id="14" name="Shape 12"/>
          <p:cNvSpPr/>
          <p:nvPr/>
        </p:nvSpPr>
        <p:spPr>
          <a:xfrm>
            <a:off x="6309360" y="1645920"/>
            <a:ext cx="2651760" cy="4754880"/>
          </a:xfrm>
          <a:prstGeom prst="roundRect">
            <a:avLst>
              <a:gd name="adj" fmla="val 689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5" name="Text 13"/>
          <p:cNvSpPr/>
          <p:nvPr/>
        </p:nvSpPr>
        <p:spPr>
          <a:xfrm>
            <a:off x="6492240" y="1783080"/>
            <a:ext cx="2286000" cy="548640"/>
          </a:xfrm>
          <a:prstGeom prst="rect">
            <a:avLst/>
          </a:prstGeom>
          <a:noFill/>
          <a:ln/>
        </p:spPr>
        <p:txBody>
          <a:bodyPr wrap="square" rtlCol="0" anchor="ctr"/>
          <a:lstStyle/>
          <a:p>
            <a:pPr indent="0" marL="0">
              <a:buNone/>
            </a:pPr>
            <a:r>
              <a:rPr lang="en-US" sz="3200" b="1" dirty="0">
                <a:solidFill>
                  <a:srgbClr val="E8E8E8"/>
                </a:solidFill>
                <a:latin typeface="Arial" pitchFamily="34" charset="0"/>
                <a:ea typeface="Arial" pitchFamily="34" charset="-122"/>
                <a:cs typeface="Arial" pitchFamily="34" charset="-120"/>
              </a:rPr>
              <a:t>03</a:t>
            </a:r>
            <a:endParaRPr lang="en-US" sz="3200" dirty="0"/>
          </a:p>
        </p:txBody>
      </p:sp>
      <p:sp>
        <p:nvSpPr>
          <p:cNvPr id="16" name="Text 14"/>
          <p:cNvSpPr/>
          <p:nvPr/>
        </p:nvSpPr>
        <p:spPr>
          <a:xfrm>
            <a:off x="6492240" y="2377440"/>
            <a:ext cx="2286000" cy="365760"/>
          </a:xfrm>
          <a:prstGeom prst="roundRect">
            <a:avLst>
              <a:gd name="adj" fmla="val 20000"/>
            </a:avLst>
          </a:prstGeom>
          <a:solidFill>
            <a:srgbClr val="F0F0F0"/>
          </a:solidFill>
          <a:ln/>
        </p:spPr>
        <p:txBody>
          <a:bodyPr wrap="square" rtlCol="0" anchor="ctr"/>
          <a:lstStyle/>
          <a:p>
            <a:pPr algn="ctr" indent="0" marL="0">
              <a:buNone/>
            </a:pPr>
            <a:r>
              <a:rPr lang="en-US" sz="1100" b="1" dirty="0">
                <a:solidFill>
                  <a:srgbClr val="000000"/>
                </a:solidFill>
                <a:latin typeface="Courier New" pitchFamily="34" charset="0"/>
                <a:ea typeface="Courier New" pitchFamily="34" charset="-122"/>
                <a:cs typeface="Courier New" pitchFamily="34" charset="-120"/>
              </a:rPr>
              <a:t>agentbox publish</a:t>
            </a:r>
            <a:endParaRPr lang="en-US" sz="1100" dirty="0"/>
          </a:p>
        </p:txBody>
      </p:sp>
      <p:sp>
        <p:nvSpPr>
          <p:cNvPr id="17" name="Text 15"/>
          <p:cNvSpPr/>
          <p:nvPr/>
        </p:nvSpPr>
        <p:spPr>
          <a:xfrm>
            <a:off x="6492240" y="2926080"/>
            <a:ext cx="2286000" cy="45720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Share</a:t>
            </a:r>
            <a:endParaRPr lang="en-US" sz="2000" dirty="0"/>
          </a:p>
        </p:txBody>
      </p:sp>
      <p:sp>
        <p:nvSpPr>
          <p:cNvPr id="18" name="Text 16"/>
          <p:cNvSpPr/>
          <p:nvPr/>
        </p:nvSpPr>
        <p:spPr>
          <a:xfrm>
            <a:off x="6492240" y="3383280"/>
            <a:ext cx="2286000" cy="274320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Publish to the registry under your @scope (e.g., @piyush/tax-agent). Or skip the registry entirely — just send the .agent file directly. Like AirDrop.</a:t>
            </a:r>
            <a:endParaRPr lang="en-US" sz="1100" dirty="0"/>
          </a:p>
        </p:txBody>
      </p:sp>
      <p:sp>
        <p:nvSpPr>
          <p:cNvPr id="19" name="Shape 17"/>
          <p:cNvSpPr/>
          <p:nvPr/>
        </p:nvSpPr>
        <p:spPr>
          <a:xfrm>
            <a:off x="9189720" y="1645920"/>
            <a:ext cx="2651760" cy="4754880"/>
          </a:xfrm>
          <a:prstGeom prst="roundRect">
            <a:avLst>
              <a:gd name="adj" fmla="val 689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0" name="Text 18"/>
          <p:cNvSpPr/>
          <p:nvPr/>
        </p:nvSpPr>
        <p:spPr>
          <a:xfrm>
            <a:off x="9372600" y="1783080"/>
            <a:ext cx="2286000" cy="548640"/>
          </a:xfrm>
          <a:prstGeom prst="rect">
            <a:avLst/>
          </a:prstGeom>
          <a:noFill/>
          <a:ln/>
        </p:spPr>
        <p:txBody>
          <a:bodyPr wrap="square" rtlCol="0" anchor="ctr"/>
          <a:lstStyle/>
          <a:p>
            <a:pPr indent="0" marL="0">
              <a:buNone/>
            </a:pPr>
            <a:r>
              <a:rPr lang="en-US" sz="3200" b="1" dirty="0">
                <a:solidFill>
                  <a:srgbClr val="E8E8E8"/>
                </a:solidFill>
                <a:latin typeface="Arial" pitchFamily="34" charset="0"/>
                <a:ea typeface="Arial" pitchFamily="34" charset="-122"/>
                <a:cs typeface="Arial" pitchFamily="34" charset="-120"/>
              </a:rPr>
              <a:t>04</a:t>
            </a:r>
            <a:endParaRPr lang="en-US" sz="3200" dirty="0"/>
          </a:p>
        </p:txBody>
      </p:sp>
      <p:sp>
        <p:nvSpPr>
          <p:cNvPr id="21" name="Text 19"/>
          <p:cNvSpPr/>
          <p:nvPr/>
        </p:nvSpPr>
        <p:spPr>
          <a:xfrm>
            <a:off x="9372600" y="2377440"/>
            <a:ext cx="2286000" cy="365760"/>
          </a:xfrm>
          <a:prstGeom prst="roundRect">
            <a:avLst>
              <a:gd name="adj" fmla="val 20000"/>
            </a:avLst>
          </a:prstGeom>
          <a:solidFill>
            <a:srgbClr val="F0F0F0"/>
          </a:solidFill>
          <a:ln/>
        </p:spPr>
        <p:txBody>
          <a:bodyPr wrap="square" rtlCol="0" anchor="ctr"/>
          <a:lstStyle/>
          <a:p>
            <a:pPr algn="ctr" indent="0" marL="0">
              <a:buNone/>
            </a:pPr>
            <a:r>
              <a:rPr lang="en-US" sz="1100" b="1" dirty="0">
                <a:solidFill>
                  <a:srgbClr val="000000"/>
                </a:solidFill>
                <a:latin typeface="Courier New" pitchFamily="34" charset="0"/>
                <a:ea typeface="Courier New" pitchFamily="34" charset="-122"/>
                <a:cs typeface="Courier New" pitchFamily="34" charset="-120"/>
              </a:rPr>
              <a:t>agentbox run</a:t>
            </a:r>
            <a:endParaRPr lang="en-US" sz="1100" dirty="0"/>
          </a:p>
        </p:txBody>
      </p:sp>
      <p:sp>
        <p:nvSpPr>
          <p:cNvPr id="22" name="Text 20"/>
          <p:cNvSpPr/>
          <p:nvPr/>
        </p:nvSpPr>
        <p:spPr>
          <a:xfrm>
            <a:off x="9372600" y="2926080"/>
            <a:ext cx="2286000" cy="457200"/>
          </a:xfrm>
          <a:prstGeom prst="rect">
            <a:avLst/>
          </a:prstGeom>
          <a:noFill/>
          <a:ln/>
        </p:spPr>
        <p:txBody>
          <a:bodyPr wrap="square" rtlCol="0" anchor="ctr"/>
          <a:lstStyle/>
          <a:p>
            <a:pPr indent="0" marL="0">
              <a:buNone/>
            </a:pPr>
            <a:r>
              <a:rPr lang="en-US" sz="2000" b="1" dirty="0">
                <a:solidFill>
                  <a:srgbClr val="1A1A1A"/>
                </a:solidFill>
                <a:latin typeface="Arial" pitchFamily="34" charset="0"/>
                <a:ea typeface="Arial" pitchFamily="34" charset="-122"/>
                <a:cs typeface="Arial" pitchFamily="34" charset="-120"/>
              </a:rPr>
              <a:t>Run</a:t>
            </a:r>
            <a:endParaRPr lang="en-US" sz="2000" dirty="0"/>
          </a:p>
        </p:txBody>
      </p:sp>
      <p:sp>
        <p:nvSpPr>
          <p:cNvPr id="23" name="Text 21"/>
          <p:cNvSpPr/>
          <p:nvPr/>
        </p:nvSpPr>
        <p:spPr>
          <a:xfrm>
            <a:off x="9372600" y="3383280"/>
            <a:ext cx="2286000" cy="274320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Install and run any agent with one command. Works with OpenAI API, or use built-in demo mode with zero API keys. Category-aware responses out of the box.</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WORKING POC</a:t>
            </a:r>
            <a:endParaRPr lang="en-US" sz="1000" dirty="0"/>
          </a:p>
        </p:txBody>
      </p:sp>
      <p:sp>
        <p:nvSpPr>
          <p:cNvPr id="3" name="Text 1"/>
          <p:cNvSpPr/>
          <p:nvPr/>
        </p:nvSpPr>
        <p:spPr>
          <a:xfrm>
            <a:off x="731520" y="822960"/>
            <a:ext cx="10698480" cy="640080"/>
          </a:xfrm>
          <a:prstGeom prst="rect">
            <a:avLst/>
          </a:prstGeom>
          <a:noFill/>
          <a:ln/>
        </p:spPr>
        <p:txBody>
          <a:bodyPr wrap="square" rtlCol="0" anchor="ctr"/>
          <a:lstStyle/>
          <a:p>
            <a:pPr indent="0" marL="0">
              <a:buNone/>
            </a:pPr>
            <a:r>
              <a:rPr lang="en-US" sz="2600" b="1" dirty="0">
                <a:solidFill>
                  <a:srgbClr val="1A1A1A"/>
                </a:solidFill>
                <a:latin typeface="Arial" pitchFamily="34" charset="0"/>
                <a:ea typeface="Arial" pitchFamily="34" charset="-122"/>
                <a:cs typeface="Arial" pitchFamily="34" charset="-120"/>
              </a:rPr>
              <a:t>This isn't a concept. It's shipped code you can run right now.</a:t>
            </a:r>
            <a:endParaRPr lang="en-US" sz="2600" dirty="0"/>
          </a:p>
        </p:txBody>
      </p:sp>
      <p:sp>
        <p:nvSpPr>
          <p:cNvPr id="4" name="Shape 2"/>
          <p:cNvSpPr/>
          <p:nvPr/>
        </p:nvSpPr>
        <p:spPr>
          <a:xfrm>
            <a:off x="548640" y="1645920"/>
            <a:ext cx="3474720" cy="2240280"/>
          </a:xfrm>
          <a:prstGeom prst="roundRect">
            <a:avLst>
              <a:gd name="adj" fmla="val 816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822960" y="1783080"/>
            <a:ext cx="2926080" cy="731520"/>
          </a:xfrm>
          <a:prstGeom prst="rect">
            <a:avLst/>
          </a:prstGeom>
          <a:noFill/>
          <a:ln/>
        </p:spPr>
        <p:txBody>
          <a:bodyPr wrap="square" rtlCol="0" anchor="ctr"/>
          <a:lstStyle/>
          <a:p>
            <a:pPr indent="0" marL="0">
              <a:buNone/>
            </a:pPr>
            <a:r>
              <a:rPr lang="en-US" sz="3600" b="1" dirty="0">
                <a:solidFill>
                  <a:srgbClr val="000000"/>
                </a:solidFill>
                <a:latin typeface="Arial" pitchFamily="34" charset="0"/>
                <a:ea typeface="Arial" pitchFamily="34" charset="-122"/>
                <a:cs typeface="Arial" pitchFamily="34" charset="-120"/>
              </a:rPr>
              <a:t>8</a:t>
            </a:r>
            <a:endParaRPr lang="en-US" sz="3600" dirty="0"/>
          </a:p>
        </p:txBody>
      </p:sp>
      <p:sp>
        <p:nvSpPr>
          <p:cNvPr id="6" name="Text 4"/>
          <p:cNvSpPr/>
          <p:nvPr/>
        </p:nvSpPr>
        <p:spPr>
          <a:xfrm>
            <a:off x="822960" y="2468880"/>
            <a:ext cx="2926080" cy="457200"/>
          </a:xfrm>
          <a:prstGeom prst="rect">
            <a:avLst/>
          </a:prstGeom>
          <a:noFill/>
          <a:ln/>
        </p:spPr>
        <p:txBody>
          <a:bodyPr wrap="square" rtlCol="0" anchor="ctr"/>
          <a:lstStyle/>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CLI commands</a:t>
            </a:r>
            <a:endParaRPr lang="en-US" sz="1200" dirty="0"/>
          </a:p>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fully working</a:t>
            </a:r>
            <a:endParaRPr lang="en-US" sz="1200" dirty="0"/>
          </a:p>
        </p:txBody>
      </p:sp>
      <p:sp>
        <p:nvSpPr>
          <p:cNvPr id="7" name="Text 5"/>
          <p:cNvSpPr/>
          <p:nvPr/>
        </p:nvSpPr>
        <p:spPr>
          <a:xfrm>
            <a:off x="822960" y="3017520"/>
            <a:ext cx="292608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init, pack, publish, install,</a:t>
            </a:r>
            <a:endParaRPr lang="en-US" sz="1000" dirty="0"/>
          </a:p>
          <a:p>
            <a:pPr indent="0" marL="0">
              <a:lnSpc>
                <a:spcPct val="130000"/>
              </a:lnSpc>
              <a:buNone/>
            </a:pPr>
            <a:r>
              <a:rPr lang="en-US" sz="1000" dirty="0">
                <a:solidFill>
                  <a:srgbClr val="777777"/>
                </a:solidFill>
                <a:latin typeface="Arial" pitchFamily="34" charset="0"/>
                <a:ea typeface="Arial" pitchFamily="34" charset="-122"/>
                <a:cs typeface="Arial" pitchFamily="34" charset="-120"/>
              </a:rPr>
              <a:t>run, list, inspect, registry</a:t>
            </a:r>
            <a:endParaRPr lang="en-US" sz="1000" dirty="0"/>
          </a:p>
        </p:txBody>
      </p:sp>
      <p:sp>
        <p:nvSpPr>
          <p:cNvPr id="8" name="Shape 6"/>
          <p:cNvSpPr/>
          <p:nvPr/>
        </p:nvSpPr>
        <p:spPr>
          <a:xfrm>
            <a:off x="4297680" y="1645920"/>
            <a:ext cx="3474720" cy="2240280"/>
          </a:xfrm>
          <a:prstGeom prst="roundRect">
            <a:avLst>
              <a:gd name="adj" fmla="val 816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9" name="Text 7"/>
          <p:cNvSpPr/>
          <p:nvPr/>
        </p:nvSpPr>
        <p:spPr>
          <a:xfrm>
            <a:off x="4572000" y="1783080"/>
            <a:ext cx="2926080" cy="731520"/>
          </a:xfrm>
          <a:prstGeom prst="rect">
            <a:avLst/>
          </a:prstGeom>
          <a:noFill/>
          <a:ln/>
        </p:spPr>
        <p:txBody>
          <a:bodyPr wrap="square" rtlCol="0" anchor="ctr"/>
          <a:lstStyle/>
          <a:p>
            <a:pPr indent="0" marL="0">
              <a:buNone/>
            </a:pPr>
            <a:r>
              <a:rPr lang="en-US" sz="3600" b="1" dirty="0">
                <a:solidFill>
                  <a:srgbClr val="000000"/>
                </a:solidFill>
                <a:latin typeface="Arial" pitchFamily="34" charset="0"/>
                <a:ea typeface="Arial" pitchFamily="34" charset="-122"/>
                <a:cs typeface="Arial" pitchFamily="34" charset="-120"/>
              </a:rPr>
              <a:t>27</a:t>
            </a:r>
            <a:endParaRPr lang="en-US" sz="3600" dirty="0"/>
          </a:p>
        </p:txBody>
      </p:sp>
      <p:sp>
        <p:nvSpPr>
          <p:cNvPr id="10" name="Text 8"/>
          <p:cNvSpPr/>
          <p:nvPr/>
        </p:nvSpPr>
        <p:spPr>
          <a:xfrm>
            <a:off x="4572000" y="2468880"/>
            <a:ext cx="2926080" cy="457200"/>
          </a:xfrm>
          <a:prstGeom prst="rect">
            <a:avLst/>
          </a:prstGeom>
          <a:noFill/>
          <a:ln/>
        </p:spPr>
        <p:txBody>
          <a:bodyPr wrap="square" rtlCol="0" anchor="ctr"/>
          <a:lstStyle/>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Tests passing</a:t>
            </a:r>
            <a:endParaRPr lang="en-US" sz="1200" dirty="0"/>
          </a:p>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100% green</a:t>
            </a:r>
            <a:endParaRPr lang="en-US" sz="1200" dirty="0"/>
          </a:p>
        </p:txBody>
      </p:sp>
      <p:sp>
        <p:nvSpPr>
          <p:cNvPr id="11" name="Text 9"/>
          <p:cNvSpPr/>
          <p:nvPr/>
        </p:nvSpPr>
        <p:spPr>
          <a:xfrm>
            <a:off x="4572000" y="3017520"/>
            <a:ext cx="292608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Unit tests, integration tests,</a:t>
            </a:r>
            <a:endParaRPr lang="en-US" sz="1000" dirty="0"/>
          </a:p>
          <a:p>
            <a:pPr indent="0" marL="0">
              <a:lnSpc>
                <a:spcPct val="130000"/>
              </a:lnSpc>
              <a:buNone/>
            </a:pPr>
            <a:r>
              <a:rPr lang="en-US" sz="1000" dirty="0">
                <a:solidFill>
                  <a:srgbClr val="777777"/>
                </a:solidFill>
                <a:latin typeface="Arial" pitchFamily="34" charset="0"/>
                <a:ea typeface="Arial" pitchFamily="34" charset="-122"/>
                <a:cs typeface="Arial" pitchFamily="34" charset="-120"/>
              </a:rPr>
              <a:t>end-to-end flow tests</a:t>
            </a:r>
            <a:endParaRPr lang="en-US" sz="1000" dirty="0"/>
          </a:p>
        </p:txBody>
      </p:sp>
      <p:sp>
        <p:nvSpPr>
          <p:cNvPr id="12" name="Shape 10"/>
          <p:cNvSpPr/>
          <p:nvPr/>
        </p:nvSpPr>
        <p:spPr>
          <a:xfrm>
            <a:off x="8046720" y="1645920"/>
            <a:ext cx="3474720" cy="2240280"/>
          </a:xfrm>
          <a:prstGeom prst="roundRect">
            <a:avLst>
              <a:gd name="adj" fmla="val 816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3" name="Text 11"/>
          <p:cNvSpPr/>
          <p:nvPr/>
        </p:nvSpPr>
        <p:spPr>
          <a:xfrm>
            <a:off x="8321040" y="1783080"/>
            <a:ext cx="2926080" cy="731520"/>
          </a:xfrm>
          <a:prstGeom prst="rect">
            <a:avLst/>
          </a:prstGeom>
          <a:noFill/>
          <a:ln/>
        </p:spPr>
        <p:txBody>
          <a:bodyPr wrap="square" rtlCol="0" anchor="ctr"/>
          <a:lstStyle/>
          <a:p>
            <a:pPr indent="0" marL="0">
              <a:buNone/>
            </a:pPr>
            <a:r>
              <a:rPr lang="en-US" sz="3600" b="1" dirty="0">
                <a:solidFill>
                  <a:srgbClr val="000000"/>
                </a:solidFill>
                <a:latin typeface="Arial" pitchFamily="34" charset="0"/>
                <a:ea typeface="Arial" pitchFamily="34" charset="-122"/>
                <a:cs typeface="Arial" pitchFamily="34" charset="-120"/>
              </a:rPr>
              <a:t>&lt;1KB</a:t>
            </a:r>
            <a:endParaRPr lang="en-US" sz="3600" dirty="0"/>
          </a:p>
        </p:txBody>
      </p:sp>
      <p:sp>
        <p:nvSpPr>
          <p:cNvPr id="14" name="Text 12"/>
          <p:cNvSpPr/>
          <p:nvPr/>
        </p:nvSpPr>
        <p:spPr>
          <a:xfrm>
            <a:off x="8321040" y="2468880"/>
            <a:ext cx="2926080" cy="457200"/>
          </a:xfrm>
          <a:prstGeom prst="rect">
            <a:avLst/>
          </a:prstGeom>
          <a:noFill/>
          <a:ln/>
        </p:spPr>
        <p:txBody>
          <a:bodyPr wrap="square" rtlCol="0" anchor="ctr"/>
          <a:lstStyle/>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Average .agent</a:t>
            </a:r>
            <a:endParaRPr lang="en-US" sz="1200" dirty="0"/>
          </a:p>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file size</a:t>
            </a:r>
            <a:endParaRPr lang="en-US" sz="1200" dirty="0"/>
          </a:p>
        </p:txBody>
      </p:sp>
      <p:sp>
        <p:nvSpPr>
          <p:cNvPr id="15" name="Text 13"/>
          <p:cNvSpPr/>
          <p:nvPr/>
        </p:nvSpPr>
        <p:spPr>
          <a:xfrm>
            <a:off x="8321040" y="3017520"/>
            <a:ext cx="292608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Tiny portable bundles.</a:t>
            </a:r>
            <a:endParaRPr lang="en-US" sz="1000" dirty="0"/>
          </a:p>
          <a:p>
            <a:pPr indent="0" marL="0">
              <a:lnSpc>
                <a:spcPct val="130000"/>
              </a:lnSpc>
              <a:buNone/>
            </a:pPr>
            <a:r>
              <a:rPr lang="en-US" sz="1000" dirty="0">
                <a:solidFill>
                  <a:srgbClr val="777777"/>
                </a:solidFill>
                <a:latin typeface="Arial" pitchFamily="34" charset="0"/>
                <a:ea typeface="Arial" pitchFamily="34" charset="-122"/>
                <a:cs typeface="Arial" pitchFamily="34" charset="-120"/>
              </a:rPr>
              <a:t>Smaller than a tweet.</a:t>
            </a:r>
            <a:endParaRPr lang="en-US" sz="1000" dirty="0"/>
          </a:p>
        </p:txBody>
      </p:sp>
      <p:sp>
        <p:nvSpPr>
          <p:cNvPr id="16" name="Shape 14"/>
          <p:cNvSpPr/>
          <p:nvPr/>
        </p:nvSpPr>
        <p:spPr>
          <a:xfrm>
            <a:off x="548640" y="4114800"/>
            <a:ext cx="3474720" cy="2240280"/>
          </a:xfrm>
          <a:prstGeom prst="roundRect">
            <a:avLst>
              <a:gd name="adj" fmla="val 816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7" name="Text 15"/>
          <p:cNvSpPr/>
          <p:nvPr/>
        </p:nvSpPr>
        <p:spPr>
          <a:xfrm>
            <a:off x="822960" y="4251960"/>
            <a:ext cx="2926080" cy="731520"/>
          </a:xfrm>
          <a:prstGeom prst="rect">
            <a:avLst/>
          </a:prstGeom>
          <a:noFill/>
          <a:ln/>
        </p:spPr>
        <p:txBody>
          <a:bodyPr wrap="square" rtlCol="0" anchor="ctr"/>
          <a:lstStyle/>
          <a:p>
            <a:pPr indent="0" marL="0">
              <a:buNone/>
            </a:pPr>
            <a:r>
              <a:rPr lang="en-US" sz="3600" b="1" dirty="0">
                <a:solidFill>
                  <a:srgbClr val="000000"/>
                </a:solidFill>
                <a:latin typeface="Arial" pitchFamily="34" charset="0"/>
                <a:ea typeface="Arial" pitchFamily="34" charset="-122"/>
                <a:cs typeface="Arial" pitchFamily="34" charset="-120"/>
              </a:rPr>
              <a:t>3</a:t>
            </a:r>
            <a:endParaRPr lang="en-US" sz="3600" dirty="0"/>
          </a:p>
        </p:txBody>
      </p:sp>
      <p:sp>
        <p:nvSpPr>
          <p:cNvPr id="18" name="Text 16"/>
          <p:cNvSpPr/>
          <p:nvPr/>
        </p:nvSpPr>
        <p:spPr>
          <a:xfrm>
            <a:off x="822960" y="4937760"/>
            <a:ext cx="2926080" cy="457200"/>
          </a:xfrm>
          <a:prstGeom prst="rect">
            <a:avLst/>
          </a:prstGeom>
          <a:noFill/>
          <a:ln/>
        </p:spPr>
        <p:txBody>
          <a:bodyPr wrap="square" rtlCol="0" anchor="ctr"/>
          <a:lstStyle/>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Example agents</a:t>
            </a:r>
            <a:endParaRPr lang="en-US" sz="1200" dirty="0"/>
          </a:p>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published</a:t>
            </a:r>
            <a:endParaRPr lang="en-US" sz="1200" dirty="0"/>
          </a:p>
        </p:txBody>
      </p:sp>
      <p:sp>
        <p:nvSpPr>
          <p:cNvPr id="19" name="Text 17"/>
          <p:cNvSpPr/>
          <p:nvPr/>
        </p:nvSpPr>
        <p:spPr>
          <a:xfrm>
            <a:off x="822960" y="5486400"/>
            <a:ext cx="292608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Tax advisor, research assistant,</a:t>
            </a:r>
            <a:endParaRPr lang="en-US" sz="1000" dirty="0"/>
          </a:p>
          <a:p>
            <a:pPr indent="0" marL="0">
              <a:lnSpc>
                <a:spcPct val="130000"/>
              </a:lnSpc>
              <a:buNone/>
            </a:pPr>
            <a:r>
              <a:rPr lang="en-US" sz="1000" dirty="0">
                <a:solidFill>
                  <a:srgbClr val="777777"/>
                </a:solidFill>
                <a:latin typeface="Arial" pitchFamily="34" charset="0"/>
                <a:ea typeface="Arial" pitchFamily="34" charset="-122"/>
                <a:cs typeface="Arial" pitchFamily="34" charset="-120"/>
              </a:rPr>
              <a:t>cold outreach writer</a:t>
            </a:r>
            <a:endParaRPr lang="en-US" sz="1000" dirty="0"/>
          </a:p>
        </p:txBody>
      </p:sp>
      <p:sp>
        <p:nvSpPr>
          <p:cNvPr id="20" name="Shape 18"/>
          <p:cNvSpPr/>
          <p:nvPr/>
        </p:nvSpPr>
        <p:spPr>
          <a:xfrm>
            <a:off x="4297680" y="4114800"/>
            <a:ext cx="3474720" cy="2240280"/>
          </a:xfrm>
          <a:prstGeom prst="roundRect">
            <a:avLst>
              <a:gd name="adj" fmla="val 816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1" name="Text 19"/>
          <p:cNvSpPr/>
          <p:nvPr/>
        </p:nvSpPr>
        <p:spPr>
          <a:xfrm>
            <a:off x="4572000" y="4251960"/>
            <a:ext cx="2926080" cy="731520"/>
          </a:xfrm>
          <a:prstGeom prst="rect">
            <a:avLst/>
          </a:prstGeom>
          <a:noFill/>
          <a:ln/>
        </p:spPr>
        <p:txBody>
          <a:bodyPr wrap="square" rtlCol="0" anchor="ctr"/>
          <a:lstStyle/>
          <a:p>
            <a:pPr indent="0" marL="0">
              <a:buNone/>
            </a:pPr>
            <a:r>
              <a:rPr lang="en-US" sz="3600" b="1" dirty="0">
                <a:solidFill>
                  <a:srgbClr val="000000"/>
                </a:solidFill>
                <a:latin typeface="Arial" pitchFamily="34" charset="0"/>
                <a:ea typeface="Arial" pitchFamily="34" charset="-122"/>
                <a:cs typeface="Arial" pitchFamily="34" charset="-120"/>
              </a:rPr>
              <a:t>1 cmd</a:t>
            </a:r>
            <a:endParaRPr lang="en-US" sz="3600" dirty="0"/>
          </a:p>
        </p:txBody>
      </p:sp>
      <p:sp>
        <p:nvSpPr>
          <p:cNvPr id="22" name="Text 20"/>
          <p:cNvSpPr/>
          <p:nvPr/>
        </p:nvSpPr>
        <p:spPr>
          <a:xfrm>
            <a:off x="4572000" y="4937760"/>
            <a:ext cx="2926080" cy="457200"/>
          </a:xfrm>
          <a:prstGeom prst="rect">
            <a:avLst/>
          </a:prstGeom>
          <a:noFill/>
          <a:ln/>
        </p:spPr>
        <p:txBody>
          <a:bodyPr wrap="square" rtlCol="0" anchor="ctr"/>
          <a:lstStyle/>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To install and</a:t>
            </a:r>
            <a:endParaRPr lang="en-US" sz="1200" dirty="0"/>
          </a:p>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run any agent</a:t>
            </a:r>
            <a:endParaRPr lang="en-US" sz="1200" dirty="0"/>
          </a:p>
        </p:txBody>
      </p:sp>
      <p:sp>
        <p:nvSpPr>
          <p:cNvPr id="23" name="Text 21"/>
          <p:cNvSpPr/>
          <p:nvPr/>
        </p:nvSpPr>
        <p:spPr>
          <a:xfrm>
            <a:off x="4572000" y="5486400"/>
            <a:ext cx="292608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Zero config. Zero setup.</a:t>
            </a:r>
            <a:endParaRPr lang="en-US" sz="1000" dirty="0"/>
          </a:p>
          <a:p>
            <a:pPr indent="0" marL="0">
              <a:lnSpc>
                <a:spcPct val="130000"/>
              </a:lnSpc>
              <a:buNone/>
            </a:pPr>
            <a:r>
              <a:rPr lang="en-US" sz="1000" dirty="0">
                <a:solidFill>
                  <a:srgbClr val="777777"/>
                </a:solidFill>
                <a:latin typeface="Arial" pitchFamily="34" charset="0"/>
                <a:ea typeface="Arial" pitchFamily="34" charset="-122"/>
                <a:cs typeface="Arial" pitchFamily="34" charset="-120"/>
              </a:rPr>
              <a:t>Just works.</a:t>
            </a:r>
            <a:endParaRPr lang="en-US" sz="1000" dirty="0"/>
          </a:p>
        </p:txBody>
      </p:sp>
      <p:sp>
        <p:nvSpPr>
          <p:cNvPr id="24" name="Shape 22"/>
          <p:cNvSpPr/>
          <p:nvPr/>
        </p:nvSpPr>
        <p:spPr>
          <a:xfrm>
            <a:off x="8046720" y="4114800"/>
            <a:ext cx="3474720" cy="2240280"/>
          </a:xfrm>
          <a:prstGeom prst="roundRect">
            <a:avLst>
              <a:gd name="adj" fmla="val 8163"/>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5" name="Text 23"/>
          <p:cNvSpPr/>
          <p:nvPr/>
        </p:nvSpPr>
        <p:spPr>
          <a:xfrm>
            <a:off x="8321040" y="4251960"/>
            <a:ext cx="2926080" cy="731520"/>
          </a:xfrm>
          <a:prstGeom prst="rect">
            <a:avLst/>
          </a:prstGeom>
          <a:noFill/>
          <a:ln/>
        </p:spPr>
        <p:txBody>
          <a:bodyPr wrap="square" rtlCol="0" anchor="ctr"/>
          <a:lstStyle/>
          <a:p>
            <a:pPr indent="0" marL="0">
              <a:buNone/>
            </a:pPr>
            <a:r>
              <a:rPr lang="en-US" sz="3600" b="1" dirty="0">
                <a:solidFill>
                  <a:srgbClr val="000000"/>
                </a:solidFill>
                <a:latin typeface="Arial" pitchFamily="34" charset="0"/>
                <a:ea typeface="Arial" pitchFamily="34" charset="-122"/>
                <a:cs typeface="Arial" pitchFamily="34" charset="-120"/>
              </a:rPr>
              <a:t>0</a:t>
            </a:r>
            <a:endParaRPr lang="en-US" sz="3600" dirty="0"/>
          </a:p>
        </p:txBody>
      </p:sp>
      <p:sp>
        <p:nvSpPr>
          <p:cNvPr id="26" name="Text 24"/>
          <p:cNvSpPr/>
          <p:nvPr/>
        </p:nvSpPr>
        <p:spPr>
          <a:xfrm>
            <a:off x="8321040" y="4937760"/>
            <a:ext cx="2926080" cy="457200"/>
          </a:xfrm>
          <a:prstGeom prst="rect">
            <a:avLst/>
          </a:prstGeom>
          <a:noFill/>
          <a:ln/>
        </p:spPr>
        <p:txBody>
          <a:bodyPr wrap="square" rtlCol="0" anchor="ctr"/>
          <a:lstStyle/>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API keys needed</a:t>
            </a:r>
            <a:endParaRPr lang="en-US" sz="1200" dirty="0"/>
          </a:p>
          <a:p>
            <a:pPr indent="0" marL="0">
              <a:lnSpc>
                <a:spcPct val="120000"/>
              </a:lnSpc>
              <a:buNone/>
            </a:pPr>
            <a:r>
              <a:rPr lang="en-US" sz="1200" b="1" dirty="0">
                <a:solidFill>
                  <a:srgbClr val="444444"/>
                </a:solidFill>
                <a:latin typeface="Arial" pitchFamily="34" charset="0"/>
                <a:ea typeface="Arial" pitchFamily="34" charset="-122"/>
                <a:cs typeface="Arial" pitchFamily="34" charset="-120"/>
              </a:rPr>
              <a:t>for demo mode</a:t>
            </a:r>
            <a:endParaRPr lang="en-US" sz="1200" dirty="0"/>
          </a:p>
        </p:txBody>
      </p:sp>
      <p:sp>
        <p:nvSpPr>
          <p:cNvPr id="27" name="Text 25"/>
          <p:cNvSpPr/>
          <p:nvPr/>
        </p:nvSpPr>
        <p:spPr>
          <a:xfrm>
            <a:off x="8321040" y="5486400"/>
            <a:ext cx="2926080" cy="640080"/>
          </a:xfrm>
          <a:prstGeom prst="rect">
            <a:avLst/>
          </a:prstGeom>
          <a:noFill/>
          <a:ln/>
        </p:spPr>
        <p:txBody>
          <a:bodyPr wrap="square" rtlCol="0" anchor="ctr"/>
          <a:lstStyle/>
          <a:p>
            <a:pPr indent="0" marL="0">
              <a:lnSpc>
                <a:spcPct val="130000"/>
              </a:lnSpc>
              <a:buNone/>
            </a:pPr>
            <a:r>
              <a:rPr lang="en-US" sz="1000" dirty="0">
                <a:solidFill>
                  <a:srgbClr val="777777"/>
                </a:solidFill>
                <a:latin typeface="Arial" pitchFamily="34" charset="0"/>
                <a:ea typeface="Arial" pitchFamily="34" charset="-122"/>
                <a:cs typeface="Arial" pitchFamily="34" charset="-120"/>
              </a:rPr>
              <a:t>Category-aware simulated</a:t>
            </a:r>
            <a:endParaRPr lang="en-US" sz="1000" dirty="0"/>
          </a:p>
          <a:p>
            <a:pPr indent="0" marL="0">
              <a:lnSpc>
                <a:spcPct val="130000"/>
              </a:lnSpc>
              <a:buNone/>
            </a:pPr>
            <a:r>
              <a:rPr lang="en-US" sz="1000" dirty="0">
                <a:solidFill>
                  <a:srgbClr val="777777"/>
                </a:solidFill>
                <a:latin typeface="Arial" pitchFamily="34" charset="0"/>
                <a:ea typeface="Arial" pitchFamily="34" charset="-122"/>
                <a:cs typeface="Arial" pitchFamily="34" charset="-120"/>
              </a:rPr>
              <a:t>responses built in</a:t>
            </a:r>
            <a:endParaRPr lang="en-US" sz="1000" dirty="0"/>
          </a:p>
        </p:txBody>
      </p:sp>
      <p:sp>
        <p:nvSpPr>
          <p:cNvPr id="28" name="Text 26"/>
          <p:cNvSpPr/>
          <p:nvPr/>
        </p:nvSpPr>
        <p:spPr>
          <a:xfrm>
            <a:off x="731520" y="6400800"/>
            <a:ext cx="10698480" cy="274320"/>
          </a:xfrm>
          <a:prstGeom prst="rect">
            <a:avLst/>
          </a:prstGeom>
          <a:noFill/>
          <a:ln/>
        </p:spPr>
        <p:txBody>
          <a:bodyPr wrap="square" rtlCol="0" anchor="ctr"/>
          <a:lstStyle/>
          <a:p>
            <a:pPr algn="ctr" indent="0" marL="0">
              <a:buNone/>
            </a:pPr>
            <a:r>
              <a:rPr lang="en-US" sz="1100" dirty="0">
                <a:solidFill>
                  <a:srgbClr val="777777"/>
                </a:solidFill>
                <a:latin typeface="Courier New" pitchFamily="34" charset="0"/>
                <a:ea typeface="Courier New" pitchFamily="34" charset="-122"/>
                <a:cs typeface="Courier New" pitchFamily="34" charset="-120"/>
              </a:rPr>
              <a:t>github.com/piyushhhxyz/AgentsOnAir  |  npm install -g agentbox  |  Try it now</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731520"/>
            <a:ext cx="2743200" cy="1828800"/>
          </a:xfrm>
          <a:prstGeom prst="rect">
            <a:avLst/>
          </a:prstGeom>
          <a:noFill/>
          <a:ln/>
        </p:spPr>
        <p:txBody>
          <a:bodyPr wrap="square" rtlCol="0" anchor="ctr"/>
          <a:lstStyle/>
          <a:p>
            <a:pPr indent="0" marL="0">
              <a:buNone/>
            </a:pPr>
            <a:r>
              <a:rPr lang="en-US" sz="12000" b="1" dirty="0">
                <a:solidFill>
                  <a:srgbClr val="222222"/>
                </a:solidFill>
                <a:latin typeface="Arial" pitchFamily="34" charset="0"/>
                <a:ea typeface="Arial" pitchFamily="34" charset="-122"/>
                <a:cs typeface="Arial" pitchFamily="34" charset="-120"/>
              </a:rPr>
              <a:t>03</a:t>
            </a:r>
            <a:endParaRPr lang="en-US" sz="12000" dirty="0"/>
          </a:p>
        </p:txBody>
      </p:sp>
      <p:sp>
        <p:nvSpPr>
          <p:cNvPr id="3" name="Text 1"/>
          <p:cNvSpPr/>
          <p:nvPr/>
        </p:nvSpPr>
        <p:spPr>
          <a:xfrm>
            <a:off x="731520" y="2286000"/>
            <a:ext cx="10698480" cy="109728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How big can this get?</a:t>
            </a:r>
            <a:endParaRPr lang="en-US" sz="4400" dirty="0"/>
          </a:p>
        </p:txBody>
      </p:sp>
      <p:sp>
        <p:nvSpPr>
          <p:cNvPr id="4" name="Text 2"/>
          <p:cNvSpPr/>
          <p:nvPr/>
        </p:nvSpPr>
        <p:spPr>
          <a:xfrm>
            <a:off x="731520" y="3474720"/>
            <a:ext cx="10698480" cy="548640"/>
          </a:xfrm>
          <a:prstGeom prst="rect">
            <a:avLst/>
          </a:prstGeom>
          <a:noFill/>
          <a:ln/>
        </p:spPr>
        <p:txBody>
          <a:bodyPr wrap="square" rtlCol="0" anchor="ctr"/>
          <a:lstStyle/>
          <a:p>
            <a:pPr indent="0" marL="0">
              <a:buNone/>
            </a:pPr>
            <a:r>
              <a:rPr lang="en-US" sz="1600" dirty="0">
                <a:solidFill>
                  <a:srgbClr val="888888"/>
                </a:solidFill>
                <a:latin typeface="Arial" pitchFamily="34" charset="0"/>
                <a:ea typeface="Arial" pitchFamily="34" charset="-122"/>
                <a:cs typeface="Arial" pitchFamily="34" charset="-120"/>
              </a:rPr>
              <a:t>Market potential, route to first 100 users, and path to $1-10L MRR.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MARKET SIZE</a:t>
            </a:r>
            <a:endParaRPr lang="en-US" sz="1000" dirty="0"/>
          </a:p>
        </p:txBody>
      </p:sp>
      <p:sp>
        <p:nvSpPr>
          <p:cNvPr id="3" name="Text 1"/>
          <p:cNvSpPr/>
          <p:nvPr/>
        </p:nvSpPr>
        <p:spPr>
          <a:xfrm>
            <a:off x="731520" y="822960"/>
            <a:ext cx="10698480" cy="640080"/>
          </a:xfrm>
          <a:prstGeom prst="rect">
            <a:avLst/>
          </a:prstGeom>
          <a:noFill/>
          <a:ln/>
        </p:spPr>
        <p:txBody>
          <a:bodyPr wrap="square" rtlCol="0" anchor="ctr"/>
          <a:lstStyle/>
          <a:p>
            <a:pPr indent="0" marL="0">
              <a:buNone/>
            </a:pPr>
            <a:r>
              <a:rPr lang="en-US" sz="2800" b="1" dirty="0">
                <a:solidFill>
                  <a:srgbClr val="1A1A1A"/>
                </a:solidFill>
                <a:latin typeface="Arial" pitchFamily="34" charset="0"/>
                <a:ea typeface="Arial" pitchFamily="34" charset="-122"/>
                <a:cs typeface="Arial" pitchFamily="34" charset="-120"/>
              </a:rPr>
              <a:t>The infrastructure layer for agent distribution</a:t>
            </a:r>
            <a:endParaRPr lang="en-US" sz="2800" dirty="0"/>
          </a:p>
        </p:txBody>
      </p:sp>
      <p:sp>
        <p:nvSpPr>
          <p:cNvPr id="4" name="Shape 2"/>
          <p:cNvSpPr/>
          <p:nvPr/>
        </p:nvSpPr>
        <p:spPr>
          <a:xfrm>
            <a:off x="548640" y="1645920"/>
            <a:ext cx="3657600" cy="3200400"/>
          </a:xfrm>
          <a:prstGeom prst="roundRect">
            <a:avLst>
              <a:gd name="adj" fmla="val 5714"/>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914400" y="1828800"/>
            <a:ext cx="292608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TAM</a:t>
            </a:r>
            <a:endParaRPr lang="en-US" sz="1000" dirty="0"/>
          </a:p>
        </p:txBody>
      </p:sp>
      <p:sp>
        <p:nvSpPr>
          <p:cNvPr id="6" name="Text 4"/>
          <p:cNvSpPr/>
          <p:nvPr/>
        </p:nvSpPr>
        <p:spPr>
          <a:xfrm>
            <a:off x="914400" y="2103120"/>
            <a:ext cx="2926080" cy="914400"/>
          </a:xfrm>
          <a:prstGeom prst="rect">
            <a:avLst/>
          </a:prstGeom>
          <a:noFill/>
          <a:ln/>
        </p:spPr>
        <p:txBody>
          <a:bodyPr wrap="square" rtlCol="0" anchor="ctr"/>
          <a:lstStyle/>
          <a:p>
            <a:pPr indent="0" marL="0">
              <a:buNone/>
            </a:pPr>
            <a:r>
              <a:rPr lang="en-US" sz="5600" b="1" dirty="0">
                <a:solidFill>
                  <a:srgbClr val="000000"/>
                </a:solidFill>
                <a:latin typeface="Arial" pitchFamily="34" charset="0"/>
                <a:ea typeface="Arial" pitchFamily="34" charset="-122"/>
                <a:cs typeface="Arial" pitchFamily="34" charset="-120"/>
              </a:rPr>
              <a:t>$52B</a:t>
            </a:r>
            <a:endParaRPr lang="en-US" sz="5600" dirty="0"/>
          </a:p>
        </p:txBody>
      </p:sp>
      <p:sp>
        <p:nvSpPr>
          <p:cNvPr id="7" name="Text 5"/>
          <p:cNvSpPr/>
          <p:nvPr/>
        </p:nvSpPr>
        <p:spPr>
          <a:xfrm>
            <a:off x="914400" y="2926080"/>
            <a:ext cx="2926080" cy="274320"/>
          </a:xfrm>
          <a:prstGeom prst="rect">
            <a:avLst/>
          </a:prstGeom>
          <a:noFill/>
          <a:ln/>
        </p:spPr>
        <p:txBody>
          <a:bodyPr wrap="square" rtlCol="0" anchor="ctr"/>
          <a:lstStyle/>
          <a:p>
            <a:pPr indent="0" marL="0">
              <a:buNone/>
            </a:pPr>
            <a:r>
              <a:rPr lang="en-US" sz="1400" dirty="0">
                <a:solidFill>
                  <a:srgbClr val="777777"/>
                </a:solidFill>
                <a:latin typeface="Arial" pitchFamily="34" charset="0"/>
                <a:ea typeface="Arial" pitchFamily="34" charset="-122"/>
                <a:cs typeface="Arial" pitchFamily="34" charset="-120"/>
              </a:rPr>
              <a:t>by 2030</a:t>
            </a:r>
            <a:endParaRPr lang="en-US" sz="1400" dirty="0"/>
          </a:p>
        </p:txBody>
      </p:sp>
      <p:sp>
        <p:nvSpPr>
          <p:cNvPr id="8" name="Text 6"/>
          <p:cNvSpPr/>
          <p:nvPr/>
        </p:nvSpPr>
        <p:spPr>
          <a:xfrm>
            <a:off x="914400" y="3291840"/>
            <a:ext cx="2926080" cy="914400"/>
          </a:xfrm>
          <a:prstGeom prst="rect">
            <a:avLst/>
          </a:prstGeom>
          <a:noFill/>
          <a:ln/>
        </p:spPr>
        <p:txBody>
          <a:bodyPr wrap="square" rtlCol="0" anchor="ctr"/>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Global AI agent market.</a:t>
            </a:r>
            <a:endParaRPr lang="en-US" sz="1100" dirty="0"/>
          </a:p>
          <a:p>
            <a:pPr indent="0" marL="0">
              <a:lnSpc>
                <a:spcPct val="140000"/>
              </a:lnSpc>
              <a:buNone/>
            </a:pPr>
            <a:r>
              <a:rPr lang="en-US" sz="1100" dirty="0">
                <a:solidFill>
                  <a:srgbClr val="777777"/>
                </a:solidFill>
                <a:latin typeface="Arial" pitchFamily="34" charset="0"/>
                <a:ea typeface="Arial" pitchFamily="34" charset="-122"/>
                <a:cs typeface="Arial" pitchFamily="34" charset="-120"/>
              </a:rPr>
              <a:t>46.3% CAGR.</a:t>
            </a:r>
            <a:endParaRPr lang="en-US" sz="1100" dirty="0"/>
          </a:p>
          <a:p>
            <a:pPr indent="0" marL="0">
              <a:lnSpc>
                <a:spcPct val="140000"/>
              </a:lnSpc>
              <a:buNone/>
            </a:pPr>
            <a:r>
              <a:rPr lang="en-US" sz="1100" dirty="0">
                <a:solidFill>
                  <a:srgbClr val="777777"/>
                </a:solidFill>
                <a:latin typeface="Arial" pitchFamily="34" charset="0"/>
                <a:ea typeface="Arial" pitchFamily="34" charset="-122"/>
                <a:cs typeface="Arial" pitchFamily="34" charset="-120"/>
              </a:rPr>
              <a:t>Source: MarketsandMarkets 2025</a:t>
            </a:r>
            <a:endParaRPr lang="en-US" sz="1100" dirty="0"/>
          </a:p>
        </p:txBody>
      </p:sp>
      <p:sp>
        <p:nvSpPr>
          <p:cNvPr id="9" name="Shape 7"/>
          <p:cNvSpPr/>
          <p:nvPr/>
        </p:nvSpPr>
        <p:spPr>
          <a:xfrm>
            <a:off x="4480560" y="1645920"/>
            <a:ext cx="3474720" cy="3200400"/>
          </a:xfrm>
          <a:prstGeom prst="roundRect">
            <a:avLst>
              <a:gd name="adj" fmla="val 5714"/>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0" name="Text 8"/>
          <p:cNvSpPr/>
          <p:nvPr/>
        </p:nvSpPr>
        <p:spPr>
          <a:xfrm>
            <a:off x="4846320" y="1828800"/>
            <a:ext cx="27432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SAM</a:t>
            </a:r>
            <a:endParaRPr lang="en-US" sz="1000" dirty="0"/>
          </a:p>
        </p:txBody>
      </p:sp>
      <p:sp>
        <p:nvSpPr>
          <p:cNvPr id="11" name="Text 9"/>
          <p:cNvSpPr/>
          <p:nvPr/>
        </p:nvSpPr>
        <p:spPr>
          <a:xfrm>
            <a:off x="4846320" y="2103120"/>
            <a:ext cx="2743200" cy="914400"/>
          </a:xfrm>
          <a:prstGeom prst="rect">
            <a:avLst/>
          </a:prstGeom>
          <a:noFill/>
          <a:ln/>
        </p:spPr>
        <p:txBody>
          <a:bodyPr wrap="square" rtlCol="0" anchor="ctr"/>
          <a:lstStyle/>
          <a:p>
            <a:pPr indent="0" marL="0">
              <a:buNone/>
            </a:pPr>
            <a:r>
              <a:rPr lang="en-US" sz="5200" b="1" dirty="0">
                <a:solidFill>
                  <a:srgbClr val="000000"/>
                </a:solidFill>
                <a:latin typeface="Arial" pitchFamily="34" charset="0"/>
                <a:ea typeface="Arial" pitchFamily="34" charset="-122"/>
                <a:cs typeface="Arial" pitchFamily="34" charset="-120"/>
              </a:rPr>
              <a:t>$8B</a:t>
            </a:r>
            <a:endParaRPr lang="en-US" sz="5200" dirty="0"/>
          </a:p>
        </p:txBody>
      </p:sp>
      <p:sp>
        <p:nvSpPr>
          <p:cNvPr id="12" name="Text 10"/>
          <p:cNvSpPr/>
          <p:nvPr/>
        </p:nvSpPr>
        <p:spPr>
          <a:xfrm>
            <a:off x="4846320" y="2926080"/>
            <a:ext cx="2743200" cy="274320"/>
          </a:xfrm>
          <a:prstGeom prst="rect">
            <a:avLst/>
          </a:prstGeom>
          <a:noFill/>
          <a:ln/>
        </p:spPr>
        <p:txBody>
          <a:bodyPr wrap="square" rtlCol="0" anchor="ctr"/>
          <a:lstStyle/>
          <a:p>
            <a:pPr indent="0" marL="0">
              <a:buNone/>
            </a:pPr>
            <a:r>
              <a:rPr lang="en-US" sz="1400" dirty="0">
                <a:solidFill>
                  <a:srgbClr val="777777"/>
                </a:solidFill>
                <a:latin typeface="Arial" pitchFamily="34" charset="0"/>
                <a:ea typeface="Arial" pitchFamily="34" charset="-122"/>
                <a:cs typeface="Arial" pitchFamily="34" charset="-120"/>
              </a:rPr>
              <a:t>by 2028</a:t>
            </a:r>
            <a:endParaRPr lang="en-US" sz="1400" dirty="0"/>
          </a:p>
        </p:txBody>
      </p:sp>
      <p:sp>
        <p:nvSpPr>
          <p:cNvPr id="13" name="Text 11"/>
          <p:cNvSpPr/>
          <p:nvPr/>
        </p:nvSpPr>
        <p:spPr>
          <a:xfrm>
            <a:off x="4846320" y="3291840"/>
            <a:ext cx="2743200" cy="914400"/>
          </a:xfrm>
          <a:prstGeom prst="rect">
            <a:avLst/>
          </a:prstGeom>
          <a:noFill/>
          <a:ln/>
        </p:spPr>
        <p:txBody>
          <a:bodyPr wrap="square" rtlCol="0" anchor="ctr"/>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Agent tooling, distribution,</a:t>
            </a:r>
            <a:endParaRPr lang="en-US" sz="1100" dirty="0"/>
          </a:p>
          <a:p>
            <a:pPr indent="0" marL="0">
              <a:lnSpc>
                <a:spcPct val="140000"/>
              </a:lnSpc>
              <a:buNone/>
            </a:pPr>
            <a:r>
              <a:rPr lang="en-US" sz="1100" dirty="0">
                <a:solidFill>
                  <a:srgbClr val="777777"/>
                </a:solidFill>
                <a:latin typeface="Arial" pitchFamily="34" charset="0"/>
                <a:ea typeface="Arial" pitchFamily="34" charset="-122"/>
                <a:cs typeface="Arial" pitchFamily="34" charset="-120"/>
              </a:rPr>
              <a:t>and developer platforms.</a:t>
            </a:r>
            <a:endParaRPr lang="en-US" sz="1100" dirty="0"/>
          </a:p>
          <a:p>
            <a:pPr indent="0" marL="0">
              <a:lnSpc>
                <a:spcPct val="140000"/>
              </a:lnSpc>
              <a:buNone/>
            </a:pPr>
            <a:r>
              <a:rPr lang="en-US" sz="1100" dirty="0">
                <a:solidFill>
                  <a:srgbClr val="777777"/>
                </a:solidFill>
                <a:latin typeface="Arial" pitchFamily="34" charset="0"/>
                <a:ea typeface="Arial" pitchFamily="34" charset="-122"/>
                <a:cs typeface="Arial" pitchFamily="34" charset="-120"/>
              </a:rPr>
              <a:t>Fastest-growing segment.</a:t>
            </a:r>
            <a:endParaRPr lang="en-US" sz="1100" dirty="0"/>
          </a:p>
        </p:txBody>
      </p:sp>
      <p:sp>
        <p:nvSpPr>
          <p:cNvPr id="14" name="Shape 12"/>
          <p:cNvSpPr/>
          <p:nvPr/>
        </p:nvSpPr>
        <p:spPr>
          <a:xfrm>
            <a:off x="8229600" y="1645920"/>
            <a:ext cx="3383280" cy="3200400"/>
          </a:xfrm>
          <a:prstGeom prst="roundRect">
            <a:avLst>
              <a:gd name="adj" fmla="val 5714"/>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5" name="Text 13"/>
          <p:cNvSpPr/>
          <p:nvPr/>
        </p:nvSpPr>
        <p:spPr>
          <a:xfrm>
            <a:off x="8595360" y="1828800"/>
            <a:ext cx="265176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SOM</a:t>
            </a:r>
            <a:endParaRPr lang="en-US" sz="1000" dirty="0"/>
          </a:p>
        </p:txBody>
      </p:sp>
      <p:sp>
        <p:nvSpPr>
          <p:cNvPr id="16" name="Text 14"/>
          <p:cNvSpPr/>
          <p:nvPr/>
        </p:nvSpPr>
        <p:spPr>
          <a:xfrm>
            <a:off x="8595360" y="2103120"/>
            <a:ext cx="2651760" cy="914400"/>
          </a:xfrm>
          <a:prstGeom prst="rect">
            <a:avLst/>
          </a:prstGeom>
          <a:noFill/>
          <a:ln/>
        </p:spPr>
        <p:txBody>
          <a:bodyPr wrap="square" rtlCol="0" anchor="ctr"/>
          <a:lstStyle/>
          <a:p>
            <a:pPr indent="0" marL="0">
              <a:buNone/>
            </a:pPr>
            <a:r>
              <a:rPr lang="en-US" sz="4400" b="1" dirty="0">
                <a:solidFill>
                  <a:srgbClr val="000000"/>
                </a:solidFill>
                <a:latin typeface="Arial" pitchFamily="34" charset="0"/>
                <a:ea typeface="Arial" pitchFamily="34" charset="-122"/>
                <a:cs typeface="Arial" pitchFamily="34" charset="-120"/>
              </a:rPr>
              <a:t>$500M</a:t>
            </a:r>
            <a:endParaRPr lang="en-US" sz="4400" dirty="0"/>
          </a:p>
        </p:txBody>
      </p:sp>
      <p:sp>
        <p:nvSpPr>
          <p:cNvPr id="17" name="Text 15"/>
          <p:cNvSpPr/>
          <p:nvPr/>
        </p:nvSpPr>
        <p:spPr>
          <a:xfrm>
            <a:off x="8595360" y="2926080"/>
            <a:ext cx="2651760" cy="274320"/>
          </a:xfrm>
          <a:prstGeom prst="rect">
            <a:avLst/>
          </a:prstGeom>
          <a:noFill/>
          <a:ln/>
        </p:spPr>
        <p:txBody>
          <a:bodyPr wrap="square" rtlCol="0" anchor="ctr"/>
          <a:lstStyle/>
          <a:p>
            <a:pPr indent="0" marL="0">
              <a:buNone/>
            </a:pPr>
            <a:r>
              <a:rPr lang="en-US" sz="1400" dirty="0">
                <a:solidFill>
                  <a:srgbClr val="777777"/>
                </a:solidFill>
                <a:latin typeface="Arial" pitchFamily="34" charset="0"/>
                <a:ea typeface="Arial" pitchFamily="34" charset="-122"/>
                <a:cs typeface="Arial" pitchFamily="34" charset="-120"/>
              </a:rPr>
              <a:t>by 2027</a:t>
            </a:r>
            <a:endParaRPr lang="en-US" sz="1400" dirty="0"/>
          </a:p>
        </p:txBody>
      </p:sp>
      <p:sp>
        <p:nvSpPr>
          <p:cNvPr id="18" name="Text 16"/>
          <p:cNvSpPr/>
          <p:nvPr/>
        </p:nvSpPr>
        <p:spPr>
          <a:xfrm>
            <a:off x="8595360" y="3291840"/>
            <a:ext cx="2651760" cy="914400"/>
          </a:xfrm>
          <a:prstGeom prst="rect">
            <a:avLst/>
          </a:prstGeom>
          <a:noFill/>
          <a:ln/>
        </p:spPr>
        <p:txBody>
          <a:bodyPr wrap="square" rtlCol="0" anchor="ctr"/>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Agent packaging, registry,</a:t>
            </a:r>
            <a:endParaRPr lang="en-US" sz="1100" dirty="0"/>
          </a:p>
          <a:p>
            <a:pPr indent="0" marL="0">
              <a:lnSpc>
                <a:spcPct val="140000"/>
              </a:lnSpc>
              <a:buNone/>
            </a:pPr>
            <a:r>
              <a:rPr lang="en-US" sz="1100" dirty="0">
                <a:solidFill>
                  <a:srgbClr val="777777"/>
                </a:solidFill>
                <a:latin typeface="Arial" pitchFamily="34" charset="0"/>
                <a:ea typeface="Arial" pitchFamily="34" charset="-122"/>
                <a:cs typeface="Arial" pitchFamily="34" charset="-120"/>
              </a:rPr>
              <a:t>and marketplace.</a:t>
            </a:r>
            <a:endParaRPr lang="en-US" sz="1100" dirty="0"/>
          </a:p>
          <a:p>
            <a:pPr indent="0" marL="0">
              <a:lnSpc>
                <a:spcPct val="140000"/>
              </a:lnSpc>
              <a:buNone/>
            </a:pPr>
            <a:r>
              <a:rPr lang="en-US" sz="1100" dirty="0">
                <a:solidFill>
                  <a:srgbClr val="777777"/>
                </a:solidFill>
                <a:latin typeface="Arial" pitchFamily="34" charset="0"/>
                <a:ea typeface="Arial" pitchFamily="34" charset="-122"/>
                <a:cs typeface="Arial" pitchFamily="34" charset="-120"/>
              </a:rPr>
              <a:t>Our direct addressable market.</a:t>
            </a:r>
            <a:endParaRPr lang="en-US" sz="1100" dirty="0"/>
          </a:p>
        </p:txBody>
      </p:sp>
      <p:sp>
        <p:nvSpPr>
          <p:cNvPr id="19" name="Shape 17"/>
          <p:cNvSpPr/>
          <p:nvPr/>
        </p:nvSpPr>
        <p:spPr>
          <a:xfrm>
            <a:off x="548640" y="5120640"/>
            <a:ext cx="5303520" cy="1280160"/>
          </a:xfrm>
          <a:prstGeom prst="roundRect">
            <a:avLst>
              <a:gd name="adj" fmla="val 14286"/>
            </a:avLst>
          </a:prstGeom>
          <a:solidFill>
            <a:srgbClr val="F0F0F0"/>
          </a:solidFill>
          <a:ln w="6350">
            <a:solidFill>
              <a:srgbClr val="DDDDDD"/>
            </a:solidFill>
            <a:prstDash val="solid"/>
          </a:ln>
        </p:spPr>
      </p:sp>
      <p:sp>
        <p:nvSpPr>
          <p:cNvPr id="20" name="Text 18"/>
          <p:cNvSpPr/>
          <p:nvPr/>
        </p:nvSpPr>
        <p:spPr>
          <a:xfrm>
            <a:off x="914400" y="5303520"/>
            <a:ext cx="4572000" cy="914400"/>
          </a:xfrm>
          <a:prstGeom prst="rect">
            <a:avLst/>
          </a:prstGeom>
          <a:noFill/>
          <a:ln/>
        </p:spPr>
        <p:txBody>
          <a:bodyPr wrap="square" rtlCol="0" anchor="ctr"/>
          <a:lstStyle/>
          <a:p>
            <a:pPr indent="0" marL="0">
              <a:lnSpc>
                <a:spcPct val="130000"/>
              </a:lnSpc>
              <a:buNone/>
            </a:pPr>
            <a:r>
              <a:rPr lang="en-US" sz="1200" b="1" dirty="0">
                <a:solidFill>
                  <a:srgbClr val="1A1A1A"/>
                </a:solidFill>
              </a:rPr>
              <a:t>By 2028, 33% of enterprise software </a:t>
            </a:r>
            <a:pPr indent="0" marL="0">
              <a:lnSpc>
                <a:spcPct val="130000"/>
              </a:lnSpc>
              <a:buNone/>
            </a:pPr>
            <a:r>
              <a:rPr lang="en-US" sz="1200" dirty="0">
                <a:solidFill>
                  <a:srgbClr val="777777"/>
                </a:solidFill>
              </a:rPr>
              <a:t>will include agentic AI, up from &lt;1% in 2024. Every one of those agents needs packaging and distribution.</a:t>
            </a:r>
            <a:endParaRPr lang="en-US" sz="1200" dirty="0"/>
          </a:p>
        </p:txBody>
      </p:sp>
      <p:sp>
        <p:nvSpPr>
          <p:cNvPr id="21" name="Shape 19"/>
          <p:cNvSpPr/>
          <p:nvPr/>
        </p:nvSpPr>
        <p:spPr>
          <a:xfrm>
            <a:off x="6126480" y="5120640"/>
            <a:ext cx="5303520" cy="1280160"/>
          </a:xfrm>
          <a:prstGeom prst="roundRect">
            <a:avLst>
              <a:gd name="adj" fmla="val 14286"/>
            </a:avLst>
          </a:prstGeom>
          <a:solidFill>
            <a:srgbClr val="F0F0F0"/>
          </a:solidFill>
          <a:ln w="6350">
            <a:solidFill>
              <a:srgbClr val="DDDDDD"/>
            </a:solidFill>
            <a:prstDash val="solid"/>
          </a:ln>
        </p:spPr>
      </p:sp>
      <p:sp>
        <p:nvSpPr>
          <p:cNvPr id="22" name="Text 20"/>
          <p:cNvSpPr/>
          <p:nvPr/>
        </p:nvSpPr>
        <p:spPr>
          <a:xfrm>
            <a:off x="6492240" y="5303520"/>
            <a:ext cx="4572000" cy="914400"/>
          </a:xfrm>
          <a:prstGeom prst="rect">
            <a:avLst/>
          </a:prstGeom>
          <a:noFill/>
          <a:ln/>
        </p:spPr>
        <p:txBody>
          <a:bodyPr wrap="square" rtlCol="0" anchor="ctr"/>
          <a:lstStyle/>
          <a:p>
            <a:pPr indent="0" marL="0">
              <a:lnSpc>
                <a:spcPct val="130000"/>
              </a:lnSpc>
              <a:buNone/>
            </a:pPr>
            <a:r>
              <a:rPr lang="en-US" sz="1200" b="1" dirty="0">
                <a:solidFill>
                  <a:srgbClr val="1A1A1A"/>
                </a:solidFill>
              </a:rPr>
              <a:t>75-79% of enterprises </a:t>
            </a:r>
            <a:pPr indent="0" marL="0">
              <a:lnSpc>
                <a:spcPct val="130000"/>
              </a:lnSpc>
              <a:buNone/>
            </a:pPr>
            <a:r>
              <a:rPr lang="en-US" sz="1200" dirty="0">
                <a:solidFill>
                  <a:srgbClr val="777777"/>
                </a:solidFill>
              </a:rPr>
              <a:t>are testing or deploying AI agents as of 2026 (PwC). The wave is here. The plumbing isn't.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WHY NOW</a:t>
            </a:r>
            <a:endParaRPr lang="en-US" sz="1000" dirty="0"/>
          </a:p>
        </p:txBody>
      </p:sp>
      <p:sp>
        <p:nvSpPr>
          <p:cNvPr id="3" name="Text 1"/>
          <p:cNvSpPr/>
          <p:nvPr/>
        </p:nvSpPr>
        <p:spPr>
          <a:xfrm>
            <a:off x="731520" y="822960"/>
            <a:ext cx="10698480" cy="640080"/>
          </a:xfrm>
          <a:prstGeom prst="rect">
            <a:avLst/>
          </a:prstGeom>
          <a:noFill/>
          <a:ln/>
        </p:spPr>
        <p:txBody>
          <a:bodyPr wrap="square" rtlCol="0" anchor="ctr"/>
          <a:lstStyle/>
          <a:p>
            <a:pPr indent="0" marL="0">
              <a:buNone/>
            </a:pPr>
            <a:r>
              <a:rPr lang="en-US" sz="2800" b="1" dirty="0">
                <a:solidFill>
                  <a:srgbClr val="1A1A1A"/>
                </a:solidFill>
                <a:latin typeface="Arial" pitchFamily="34" charset="0"/>
                <a:ea typeface="Arial" pitchFamily="34" charset="-122"/>
                <a:cs typeface="Arial" pitchFamily="34" charset="-120"/>
              </a:rPr>
              <a:t>Five forces converging at the same time</a:t>
            </a:r>
            <a:endParaRPr lang="en-US" sz="2800" dirty="0"/>
          </a:p>
        </p:txBody>
      </p:sp>
      <p:sp>
        <p:nvSpPr>
          <p:cNvPr id="4" name="Shape 2"/>
          <p:cNvSpPr/>
          <p:nvPr/>
        </p:nvSpPr>
        <p:spPr>
          <a:xfrm>
            <a:off x="548640" y="1645920"/>
            <a:ext cx="34747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822960" y="1828800"/>
            <a:ext cx="2926080" cy="36576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Agent Explosion</a:t>
            </a:r>
            <a:endParaRPr lang="en-US" sz="1400" dirty="0"/>
          </a:p>
        </p:txBody>
      </p:sp>
      <p:sp>
        <p:nvSpPr>
          <p:cNvPr id="6" name="Text 4"/>
          <p:cNvSpPr/>
          <p:nvPr/>
        </p:nvSpPr>
        <p:spPr>
          <a:xfrm>
            <a:off x="822960" y="2286000"/>
            <a:ext cx="2926080" cy="155448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$7.8B market in 2025, growing 46% YoY. OpenAI, Google, Anthropic, Microsoft — everyone shipping agent frameworks. The supply of agents is exploding.</a:t>
            </a:r>
            <a:endParaRPr lang="en-US" sz="1100" dirty="0"/>
          </a:p>
        </p:txBody>
      </p:sp>
      <p:sp>
        <p:nvSpPr>
          <p:cNvPr id="7" name="Shape 5"/>
          <p:cNvSpPr/>
          <p:nvPr/>
        </p:nvSpPr>
        <p:spPr>
          <a:xfrm>
            <a:off x="4297680" y="1645920"/>
            <a:ext cx="34747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8" name="Text 6"/>
          <p:cNvSpPr/>
          <p:nvPr/>
        </p:nvSpPr>
        <p:spPr>
          <a:xfrm>
            <a:off x="4572000" y="1828800"/>
            <a:ext cx="2926080" cy="36576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MCP Proved Standards Win</a:t>
            </a:r>
            <a:endParaRPr lang="en-US" sz="1400" dirty="0"/>
          </a:p>
        </p:txBody>
      </p:sp>
      <p:sp>
        <p:nvSpPr>
          <p:cNvPr id="9" name="Text 7"/>
          <p:cNvSpPr/>
          <p:nvPr/>
        </p:nvSpPr>
        <p:spPr>
          <a:xfrm>
            <a:off x="4572000" y="2286000"/>
            <a:ext cx="2926080" cy="155448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Anthropic's MCP standardized tool calling in 12 months. 28% of Fortune 500 adopted it. The market is hungry for standards. Agent sharing is next.</a:t>
            </a:r>
            <a:endParaRPr lang="en-US" sz="1100" dirty="0"/>
          </a:p>
        </p:txBody>
      </p:sp>
      <p:sp>
        <p:nvSpPr>
          <p:cNvPr id="10" name="Shape 8"/>
          <p:cNvSpPr/>
          <p:nvPr/>
        </p:nvSpPr>
        <p:spPr>
          <a:xfrm>
            <a:off x="8046720" y="1645920"/>
            <a:ext cx="34747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1" name="Text 9"/>
          <p:cNvSpPr/>
          <p:nvPr/>
        </p:nvSpPr>
        <p:spPr>
          <a:xfrm>
            <a:off x="8321040" y="1828800"/>
            <a:ext cx="2926080" cy="36576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Personal AI Goes Mainstream</a:t>
            </a:r>
            <a:endParaRPr lang="en-US" sz="1400" dirty="0"/>
          </a:p>
        </p:txBody>
      </p:sp>
      <p:sp>
        <p:nvSpPr>
          <p:cNvPr id="12" name="Text 10"/>
          <p:cNvSpPr/>
          <p:nvPr/>
        </p:nvSpPr>
        <p:spPr>
          <a:xfrm>
            <a:off x="8321040" y="2286000"/>
            <a:ext cx="2926080" cy="155448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ChatGPT hit 800M weekly active users. Everyone is building personal assistants for email, scheduling, research. The next step: sharing them.</a:t>
            </a:r>
            <a:endParaRPr lang="en-US" sz="1100" dirty="0"/>
          </a:p>
        </p:txBody>
      </p:sp>
      <p:sp>
        <p:nvSpPr>
          <p:cNvPr id="13" name="Shape 11"/>
          <p:cNvSpPr/>
          <p:nvPr/>
        </p:nvSpPr>
        <p:spPr>
          <a:xfrm>
            <a:off x="548640" y="4297680"/>
            <a:ext cx="53035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4" name="Text 12"/>
          <p:cNvSpPr/>
          <p:nvPr/>
        </p:nvSpPr>
        <p:spPr>
          <a:xfrm>
            <a:off x="822960" y="4480560"/>
            <a:ext cx="4754880" cy="36576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Platform Lock-in Backlash</a:t>
            </a:r>
            <a:endParaRPr lang="en-US" sz="1400" dirty="0"/>
          </a:p>
        </p:txBody>
      </p:sp>
      <p:sp>
        <p:nvSpPr>
          <p:cNvPr id="15" name="Text 13"/>
          <p:cNvSpPr/>
          <p:nvPr/>
        </p:nvSpPr>
        <p:spPr>
          <a:xfrm>
            <a:off x="822960" y="4937760"/>
            <a:ext cx="4754880" cy="155448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3M+ GPTs locked to OpenAI. CrewAI agents locked to CrewAI. Developers are frustrated with walled gardens. Open, portable formats always win.</a:t>
            </a:r>
            <a:endParaRPr lang="en-US" sz="1100" dirty="0"/>
          </a:p>
        </p:txBody>
      </p:sp>
      <p:sp>
        <p:nvSpPr>
          <p:cNvPr id="16" name="Shape 14"/>
          <p:cNvSpPr/>
          <p:nvPr/>
        </p:nvSpPr>
        <p:spPr>
          <a:xfrm>
            <a:off x="6172200" y="4297680"/>
            <a:ext cx="5303520" cy="2377440"/>
          </a:xfrm>
          <a:prstGeom prst="roundRect">
            <a:avLst>
              <a:gd name="adj" fmla="val 7692"/>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7" name="Text 15"/>
          <p:cNvSpPr/>
          <p:nvPr/>
        </p:nvSpPr>
        <p:spPr>
          <a:xfrm>
            <a:off x="6446520" y="4480560"/>
            <a:ext cx="4754880" cy="36576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The Precedent is Proven</a:t>
            </a:r>
            <a:endParaRPr lang="en-US" sz="1400" dirty="0"/>
          </a:p>
        </p:txBody>
      </p:sp>
      <p:sp>
        <p:nvSpPr>
          <p:cNvPr id="18" name="Text 16"/>
          <p:cNvSpPr/>
          <p:nvPr/>
        </p:nvSpPr>
        <p:spPr>
          <a:xfrm>
            <a:off x="6446520" y="4937760"/>
            <a:ext cx="4754880" cy="155448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npm: 0 to 2M packages, ~$200M exit. Docker Hub: 15M repos. Hugging Face: 2M models, $4.5B valuation. Sharing layers become massive businesses.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9144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ROUTE TO FIRST 100 USERS &amp; $1-10L MRR</a:t>
            </a:r>
            <a:endParaRPr lang="en-US" sz="1000" dirty="0"/>
          </a:p>
        </p:txBody>
      </p:sp>
      <p:sp>
        <p:nvSpPr>
          <p:cNvPr id="3" name="Text 1"/>
          <p:cNvSpPr/>
          <p:nvPr/>
        </p:nvSpPr>
        <p:spPr>
          <a:xfrm>
            <a:off x="731520" y="822960"/>
            <a:ext cx="10698480" cy="640080"/>
          </a:xfrm>
          <a:prstGeom prst="rect">
            <a:avLst/>
          </a:prstGeom>
          <a:noFill/>
          <a:ln/>
        </p:spPr>
        <p:txBody>
          <a:bodyPr wrap="square" rtlCol="0" anchor="ctr"/>
          <a:lstStyle/>
          <a:p>
            <a:pPr indent="0" marL="0">
              <a:buNone/>
            </a:pPr>
            <a:r>
              <a:rPr lang="en-US" sz="2600" b="1" dirty="0">
                <a:solidFill>
                  <a:srgbClr val="1A1A1A"/>
                </a:solidFill>
                <a:latin typeface="Arial" pitchFamily="34" charset="0"/>
                <a:ea typeface="Arial" pitchFamily="34" charset="-122"/>
                <a:cs typeface="Arial" pitchFamily="34" charset="-120"/>
              </a:rPr>
              <a:t>Community-led growth, the npm playbook</a:t>
            </a:r>
            <a:endParaRPr lang="en-US" sz="2600" dirty="0"/>
          </a:p>
        </p:txBody>
      </p:sp>
      <p:sp>
        <p:nvSpPr>
          <p:cNvPr id="4" name="Shape 2"/>
          <p:cNvSpPr/>
          <p:nvPr/>
        </p:nvSpPr>
        <p:spPr>
          <a:xfrm>
            <a:off x="548640" y="1645920"/>
            <a:ext cx="3566160" cy="4937760"/>
          </a:xfrm>
          <a:prstGeom prst="roundRect">
            <a:avLst>
              <a:gd name="adj" fmla="val 512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822960" y="1783080"/>
            <a:ext cx="301752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WEEK 1-4</a:t>
            </a:r>
            <a:endParaRPr lang="en-US" sz="1000" dirty="0"/>
          </a:p>
        </p:txBody>
      </p:sp>
      <p:sp>
        <p:nvSpPr>
          <p:cNvPr id="6" name="Text 4"/>
          <p:cNvSpPr/>
          <p:nvPr/>
        </p:nvSpPr>
        <p:spPr>
          <a:xfrm>
            <a:off x="822960" y="2103120"/>
            <a:ext cx="3017520" cy="45720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Launch &amp; Seed</a:t>
            </a:r>
            <a:endParaRPr lang="en-US" sz="1800" dirty="0"/>
          </a:p>
        </p:txBody>
      </p:sp>
      <p:sp>
        <p:nvSpPr>
          <p:cNvPr id="7" name="Text 5"/>
          <p:cNvSpPr/>
          <p:nvPr/>
        </p:nvSpPr>
        <p:spPr>
          <a:xfrm>
            <a:off x="822960" y="2651760"/>
            <a:ext cx="3017520" cy="2926080"/>
          </a:xfrm>
          <a:prstGeom prst="rect">
            <a:avLst/>
          </a:prstGeom>
          <a:noFill/>
          <a:ln/>
        </p:spPr>
        <p:txBody>
          <a:bodyPr wrap="square" rtlCol="0" anchor="t"/>
          <a:lstStyle/>
          <a:p>
            <a:pPr indent="0" marL="0">
              <a:lnSpc>
                <a:spcPct val="150000"/>
              </a:lnSpc>
              <a:buNone/>
            </a:pPr>
            <a:r>
              <a:rPr lang="en-US" sz="1100" dirty="0">
                <a:solidFill>
                  <a:srgbClr val="777777"/>
                </a:solidFill>
                <a:latin typeface="Arial" pitchFamily="34" charset="0"/>
                <a:ea typeface="Arial" pitchFamily="34" charset="-122"/>
                <a:cs typeface="Arial" pitchFamily="34" charset="-120"/>
              </a:rPr>
              <a:t>Show HN post (dev tools get 200-500 upvotes)</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Product Hunt launch mid-week</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r/MachineLearning, r/LocalLLaMA posts</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Dev.to "build in public" story</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Target: 50 users from launch burst</a:t>
            </a:r>
            <a:endParaRPr lang="en-US" sz="1100" dirty="0"/>
          </a:p>
        </p:txBody>
      </p:sp>
      <p:sp>
        <p:nvSpPr>
          <p:cNvPr id="8" name="Shape 6"/>
          <p:cNvSpPr/>
          <p:nvPr/>
        </p:nvSpPr>
        <p:spPr>
          <a:xfrm>
            <a:off x="822960" y="5760720"/>
            <a:ext cx="3017520" cy="502920"/>
          </a:xfrm>
          <a:prstGeom prst="roundRect">
            <a:avLst>
              <a:gd name="adj" fmla="val 18182"/>
            </a:avLst>
          </a:prstGeom>
          <a:solidFill>
            <a:srgbClr val="F0F0F0"/>
          </a:solidFill>
          <a:ln w="6350">
            <a:solidFill>
              <a:srgbClr val="DDDDDD"/>
            </a:solidFill>
            <a:prstDash val="solid"/>
          </a:ln>
        </p:spPr>
      </p:sp>
      <p:sp>
        <p:nvSpPr>
          <p:cNvPr id="9" name="Text 7"/>
          <p:cNvSpPr/>
          <p:nvPr/>
        </p:nvSpPr>
        <p:spPr>
          <a:xfrm>
            <a:off x="822960" y="5760720"/>
            <a:ext cx="3017520" cy="502920"/>
          </a:xfrm>
          <a:prstGeom prst="rect">
            <a:avLst/>
          </a:prstGeom>
          <a:noFill/>
          <a:ln/>
        </p:spPr>
        <p:txBody>
          <a:bodyPr wrap="square"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50 users</a:t>
            </a:r>
            <a:endParaRPr lang="en-US" sz="1400" dirty="0"/>
          </a:p>
        </p:txBody>
      </p:sp>
      <p:sp>
        <p:nvSpPr>
          <p:cNvPr id="10" name="Shape 8"/>
          <p:cNvSpPr/>
          <p:nvPr/>
        </p:nvSpPr>
        <p:spPr>
          <a:xfrm>
            <a:off x="4343400" y="1645920"/>
            <a:ext cx="3566160" cy="4937760"/>
          </a:xfrm>
          <a:prstGeom prst="roundRect">
            <a:avLst>
              <a:gd name="adj" fmla="val 512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1" name="Text 9"/>
          <p:cNvSpPr/>
          <p:nvPr/>
        </p:nvSpPr>
        <p:spPr>
          <a:xfrm>
            <a:off x="4617720" y="1783080"/>
            <a:ext cx="301752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MONTH 2-3</a:t>
            </a:r>
            <a:endParaRPr lang="en-US" sz="1000" dirty="0"/>
          </a:p>
        </p:txBody>
      </p:sp>
      <p:sp>
        <p:nvSpPr>
          <p:cNvPr id="12" name="Text 10"/>
          <p:cNvSpPr/>
          <p:nvPr/>
        </p:nvSpPr>
        <p:spPr>
          <a:xfrm>
            <a:off x="4617720" y="2103120"/>
            <a:ext cx="3017520" cy="45720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Community Loop</a:t>
            </a:r>
            <a:endParaRPr lang="en-US" sz="1800" dirty="0"/>
          </a:p>
        </p:txBody>
      </p:sp>
      <p:sp>
        <p:nvSpPr>
          <p:cNvPr id="13" name="Text 11"/>
          <p:cNvSpPr/>
          <p:nvPr/>
        </p:nvSpPr>
        <p:spPr>
          <a:xfrm>
            <a:off x="4617720" y="2651760"/>
            <a:ext cx="3017520" cy="2926080"/>
          </a:xfrm>
          <a:prstGeom prst="rect">
            <a:avLst/>
          </a:prstGeom>
          <a:noFill/>
          <a:ln/>
        </p:spPr>
        <p:txBody>
          <a:bodyPr wrap="square" rtlCol="0" anchor="t"/>
          <a:lstStyle/>
          <a:p>
            <a:pPr indent="0" marL="0">
              <a:lnSpc>
                <a:spcPct val="150000"/>
              </a:lnSpc>
              <a:buNone/>
            </a:pPr>
            <a:r>
              <a:rPr lang="en-US" sz="1100" dirty="0">
                <a:solidFill>
                  <a:srgbClr val="777777"/>
                </a:solidFill>
                <a:latin typeface="Arial" pitchFamily="34" charset="0"/>
                <a:ea typeface="Arial" pitchFamily="34" charset="-122"/>
                <a:cs typeface="Arial" pitchFamily="34" charset="-120"/>
              </a:rPr>
              <a:t>Publish 10+ example agents people actually want</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GitHub stars campaign — aim for 1000+</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Discord community for agent builders</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SEO: "How to share AI agents" guides</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Integration tutorials for LangChain, CrewAI</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Target: 100+ users, first paid interest</a:t>
            </a:r>
            <a:endParaRPr lang="en-US" sz="1100" dirty="0"/>
          </a:p>
        </p:txBody>
      </p:sp>
      <p:sp>
        <p:nvSpPr>
          <p:cNvPr id="14" name="Shape 12"/>
          <p:cNvSpPr/>
          <p:nvPr/>
        </p:nvSpPr>
        <p:spPr>
          <a:xfrm>
            <a:off x="4617720" y="5760720"/>
            <a:ext cx="3017520" cy="502920"/>
          </a:xfrm>
          <a:prstGeom prst="roundRect">
            <a:avLst>
              <a:gd name="adj" fmla="val 18182"/>
            </a:avLst>
          </a:prstGeom>
          <a:solidFill>
            <a:srgbClr val="F0F0F0"/>
          </a:solidFill>
          <a:ln w="6350">
            <a:solidFill>
              <a:srgbClr val="DDDDDD"/>
            </a:solidFill>
            <a:prstDash val="solid"/>
          </a:ln>
        </p:spPr>
      </p:sp>
      <p:sp>
        <p:nvSpPr>
          <p:cNvPr id="15" name="Text 13"/>
          <p:cNvSpPr/>
          <p:nvPr/>
        </p:nvSpPr>
        <p:spPr>
          <a:xfrm>
            <a:off x="4617720" y="5760720"/>
            <a:ext cx="3017520" cy="502920"/>
          </a:xfrm>
          <a:prstGeom prst="rect">
            <a:avLst/>
          </a:prstGeom>
          <a:noFill/>
          <a:ln/>
        </p:spPr>
        <p:txBody>
          <a:bodyPr wrap="square"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100+ users</a:t>
            </a:r>
            <a:endParaRPr lang="en-US" sz="1400" dirty="0"/>
          </a:p>
        </p:txBody>
      </p:sp>
      <p:sp>
        <p:nvSpPr>
          <p:cNvPr id="16" name="Shape 14"/>
          <p:cNvSpPr/>
          <p:nvPr/>
        </p:nvSpPr>
        <p:spPr>
          <a:xfrm>
            <a:off x="8138160" y="1645920"/>
            <a:ext cx="3566160" cy="4937760"/>
          </a:xfrm>
          <a:prstGeom prst="roundRect">
            <a:avLst>
              <a:gd name="adj" fmla="val 512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7" name="Text 15"/>
          <p:cNvSpPr/>
          <p:nvPr/>
        </p:nvSpPr>
        <p:spPr>
          <a:xfrm>
            <a:off x="8412480" y="1783080"/>
            <a:ext cx="301752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MONTH 4-12</a:t>
            </a:r>
            <a:endParaRPr lang="en-US" sz="1000" dirty="0"/>
          </a:p>
        </p:txBody>
      </p:sp>
      <p:sp>
        <p:nvSpPr>
          <p:cNvPr id="18" name="Text 16"/>
          <p:cNvSpPr/>
          <p:nvPr/>
        </p:nvSpPr>
        <p:spPr>
          <a:xfrm>
            <a:off x="8412480" y="2103120"/>
            <a:ext cx="3017520" cy="45720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Monetize &amp; Scale</a:t>
            </a:r>
            <a:endParaRPr lang="en-US" sz="1800" dirty="0"/>
          </a:p>
        </p:txBody>
      </p:sp>
      <p:sp>
        <p:nvSpPr>
          <p:cNvPr id="19" name="Text 17"/>
          <p:cNvSpPr/>
          <p:nvPr/>
        </p:nvSpPr>
        <p:spPr>
          <a:xfrm>
            <a:off x="8412480" y="2651760"/>
            <a:ext cx="3017520" cy="2926080"/>
          </a:xfrm>
          <a:prstGeom prst="rect">
            <a:avLst/>
          </a:prstGeom>
          <a:noFill/>
          <a:ln/>
        </p:spPr>
        <p:txBody>
          <a:bodyPr wrap="square" rtlCol="0" anchor="t"/>
          <a:lstStyle/>
          <a:p>
            <a:pPr indent="0" marL="0">
              <a:lnSpc>
                <a:spcPct val="150000"/>
              </a:lnSpc>
              <a:buNone/>
            </a:pPr>
            <a:r>
              <a:rPr lang="en-US" sz="1100" dirty="0">
                <a:solidFill>
                  <a:srgbClr val="777777"/>
                </a:solidFill>
                <a:latin typeface="Arial" pitchFamily="34" charset="0"/>
                <a:ea typeface="Arial" pitchFamily="34" charset="-122"/>
                <a:cs typeface="Arial" pitchFamily="34" charset="-120"/>
              </a:rPr>
              <a:t>Launch Pro Registry at $20/seat/mo</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500 seats = $10K MRR ($1.2L ARR)</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Agent Cloud at $99/seat/mo</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1000 seats = $99K MRR ($12L ARR)</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Agent marketplace with revenue share</a:t>
            </a:r>
            <a:endParaRPr lang="en-US" sz="1100" dirty="0"/>
          </a:p>
          <a:p>
            <a:pPr indent="0" marL="0">
              <a:lnSpc>
                <a:spcPct val="150000"/>
              </a:lnSpc>
              <a:buNone/>
            </a:pPr>
            <a:r>
              <a:rPr lang="en-US" sz="1100" dirty="0">
                <a:solidFill>
                  <a:srgbClr val="777777"/>
                </a:solidFill>
                <a:latin typeface="Arial" pitchFamily="34" charset="0"/>
                <a:ea typeface="Arial" pitchFamily="34" charset="-122"/>
                <a:cs typeface="Arial" pitchFamily="34" charset="-120"/>
              </a:rPr>
              <a:t>Enterprise pilots and team licenses</a:t>
            </a:r>
            <a:endParaRPr lang="en-US" sz="1100" dirty="0"/>
          </a:p>
        </p:txBody>
      </p:sp>
      <p:sp>
        <p:nvSpPr>
          <p:cNvPr id="20" name="Shape 18"/>
          <p:cNvSpPr/>
          <p:nvPr/>
        </p:nvSpPr>
        <p:spPr>
          <a:xfrm>
            <a:off x="8412480" y="5760720"/>
            <a:ext cx="3017520" cy="502920"/>
          </a:xfrm>
          <a:prstGeom prst="roundRect">
            <a:avLst>
              <a:gd name="adj" fmla="val 18182"/>
            </a:avLst>
          </a:prstGeom>
          <a:solidFill>
            <a:srgbClr val="F0F0F0"/>
          </a:solidFill>
          <a:ln w="6350">
            <a:solidFill>
              <a:srgbClr val="DDDDDD"/>
            </a:solidFill>
            <a:prstDash val="solid"/>
          </a:ln>
        </p:spPr>
      </p:sp>
      <p:sp>
        <p:nvSpPr>
          <p:cNvPr id="21" name="Text 19"/>
          <p:cNvSpPr/>
          <p:nvPr/>
        </p:nvSpPr>
        <p:spPr>
          <a:xfrm>
            <a:off x="8412480" y="5760720"/>
            <a:ext cx="3017520" cy="502920"/>
          </a:xfrm>
          <a:prstGeom prst="rect">
            <a:avLst/>
          </a:prstGeom>
          <a:noFill/>
          <a:ln/>
        </p:spPr>
        <p:txBody>
          <a:bodyPr wrap="square" rtlCol="0" anchor="ctr"/>
          <a:lstStyle/>
          <a:p>
            <a:pPr algn="ctr" indent="0" marL="0">
              <a:buNone/>
            </a:pPr>
            <a:r>
              <a:rPr lang="en-US" sz="1400" b="1" dirty="0">
                <a:solidFill>
                  <a:srgbClr val="000000"/>
                </a:solidFill>
                <a:latin typeface="Arial" pitchFamily="34" charset="0"/>
                <a:ea typeface="Arial" pitchFamily="34" charset="-122"/>
                <a:cs typeface="Arial" pitchFamily="34" charset="-120"/>
              </a:rPr>
              <a:t>$1-10L MRR</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BUSINESS MODEL</a:t>
            </a:r>
            <a:endParaRPr lang="en-US" sz="1000" dirty="0"/>
          </a:p>
        </p:txBody>
      </p:sp>
      <p:sp>
        <p:nvSpPr>
          <p:cNvPr id="3" name="Text 1"/>
          <p:cNvSpPr/>
          <p:nvPr/>
        </p:nvSpPr>
        <p:spPr>
          <a:xfrm>
            <a:off x="731520" y="822960"/>
            <a:ext cx="10698480" cy="640080"/>
          </a:xfrm>
          <a:prstGeom prst="rect">
            <a:avLst/>
          </a:prstGeom>
          <a:noFill/>
          <a:ln/>
        </p:spPr>
        <p:txBody>
          <a:bodyPr wrap="square" rtlCol="0" anchor="ctr"/>
          <a:lstStyle/>
          <a:p>
            <a:pPr indent="0" marL="0">
              <a:buNone/>
            </a:pPr>
            <a:r>
              <a:rPr lang="en-US" sz="2800" b="1" dirty="0">
                <a:solidFill>
                  <a:srgbClr val="1A1A1A"/>
                </a:solidFill>
                <a:latin typeface="Arial" pitchFamily="34" charset="0"/>
                <a:ea typeface="Arial" pitchFamily="34" charset="-122"/>
                <a:cs typeface="Arial" pitchFamily="34" charset="-120"/>
              </a:rPr>
              <a:t>The npm playbook, adapted for agents</a:t>
            </a:r>
            <a:endParaRPr lang="en-US" sz="2800" dirty="0"/>
          </a:p>
        </p:txBody>
      </p:sp>
      <p:sp>
        <p:nvSpPr>
          <p:cNvPr id="4" name="Shape 2"/>
          <p:cNvSpPr/>
          <p:nvPr/>
        </p:nvSpPr>
        <p:spPr>
          <a:xfrm>
            <a:off x="548640" y="1645920"/>
            <a:ext cx="3566160" cy="3657600"/>
          </a:xfrm>
          <a:prstGeom prst="roundRect">
            <a:avLst>
              <a:gd name="adj" fmla="val 512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5" name="Text 3"/>
          <p:cNvSpPr/>
          <p:nvPr/>
        </p:nvSpPr>
        <p:spPr>
          <a:xfrm>
            <a:off x="822960" y="1783080"/>
            <a:ext cx="301752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NOW</a:t>
            </a:r>
            <a:endParaRPr lang="en-US" sz="1000" dirty="0"/>
          </a:p>
        </p:txBody>
      </p:sp>
      <p:sp>
        <p:nvSpPr>
          <p:cNvPr id="6" name="Text 4"/>
          <p:cNvSpPr/>
          <p:nvPr/>
        </p:nvSpPr>
        <p:spPr>
          <a:xfrm>
            <a:off x="822960" y="2103120"/>
            <a:ext cx="2011680" cy="45720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Open Standard</a:t>
            </a:r>
            <a:endParaRPr lang="en-US" sz="1800" dirty="0"/>
          </a:p>
        </p:txBody>
      </p:sp>
      <p:sp>
        <p:nvSpPr>
          <p:cNvPr id="7" name="Text 5"/>
          <p:cNvSpPr/>
          <p:nvPr/>
        </p:nvSpPr>
        <p:spPr>
          <a:xfrm>
            <a:off x="2560320" y="2103120"/>
            <a:ext cx="1280160" cy="457200"/>
          </a:xfrm>
          <a:prstGeom prst="rect">
            <a:avLst/>
          </a:prstGeom>
          <a:noFill/>
          <a:ln/>
        </p:spPr>
        <p:txBody>
          <a:bodyPr wrap="square" rtlCol="0" anchor="ctr"/>
          <a:lstStyle/>
          <a:p>
            <a:pPr algn="r" indent="0" marL="0">
              <a:buNone/>
            </a:pPr>
            <a:r>
              <a:rPr lang="en-US" sz="1400" b="1" dirty="0">
                <a:solidFill>
                  <a:srgbClr val="000000"/>
                </a:solidFill>
                <a:latin typeface="Arial" pitchFamily="34" charset="0"/>
                <a:ea typeface="Arial" pitchFamily="34" charset="-122"/>
                <a:cs typeface="Arial" pitchFamily="34" charset="-120"/>
              </a:rPr>
              <a:t>Free</a:t>
            </a:r>
            <a:endParaRPr lang="en-US" sz="1400" dirty="0"/>
          </a:p>
        </p:txBody>
      </p:sp>
      <p:sp>
        <p:nvSpPr>
          <p:cNvPr id="8" name="Text 6"/>
          <p:cNvSpPr/>
          <p:nvPr/>
        </p:nvSpPr>
        <p:spPr>
          <a:xfrm>
            <a:off x="822960" y="2743200"/>
            <a:ext cx="3017520" cy="137160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Free CLI + .agent format. Build the ecosystem. Win developer love. Become the default. This is the npm install moment.</a:t>
            </a:r>
            <a:endParaRPr lang="en-US" sz="1100" dirty="0"/>
          </a:p>
        </p:txBody>
      </p:sp>
      <p:sp>
        <p:nvSpPr>
          <p:cNvPr id="9" name="Shape 7"/>
          <p:cNvSpPr/>
          <p:nvPr/>
        </p:nvSpPr>
        <p:spPr>
          <a:xfrm>
            <a:off x="822960" y="4389120"/>
            <a:ext cx="3017520" cy="502920"/>
          </a:xfrm>
          <a:prstGeom prst="roundRect">
            <a:avLst>
              <a:gd name="adj" fmla="val 18182"/>
            </a:avLst>
          </a:prstGeom>
          <a:solidFill>
            <a:srgbClr val="F0F0F0"/>
          </a:solidFill>
          <a:ln w="6350">
            <a:solidFill>
              <a:srgbClr val="DDDDDD"/>
            </a:solidFill>
            <a:prstDash val="solid"/>
          </a:ln>
        </p:spPr>
      </p:sp>
      <p:sp>
        <p:nvSpPr>
          <p:cNvPr id="10" name="Text 8"/>
          <p:cNvSpPr/>
          <p:nvPr/>
        </p:nvSpPr>
        <p:spPr>
          <a:xfrm>
            <a:off x="822960" y="4389120"/>
            <a:ext cx="3017520" cy="502920"/>
          </a:xfrm>
          <a:prstGeom prst="rect">
            <a:avLst/>
          </a:prstGeom>
          <a:noFill/>
          <a:ln/>
        </p:spPr>
        <p:txBody>
          <a:bodyPr wrap="square" rtlCol="0" anchor="ctr"/>
          <a:lstStyle/>
          <a:p>
            <a:pPr algn="ctr" indent="0" marL="0">
              <a:buNone/>
            </a:pPr>
            <a:r>
              <a:rPr lang="en-US" sz="1000" dirty="0">
                <a:solidFill>
                  <a:srgbClr val="444444"/>
                </a:solidFill>
                <a:latin typeface="Courier New" pitchFamily="34" charset="0"/>
                <a:ea typeface="Courier New" pitchFamily="34" charset="-122"/>
                <a:cs typeface="Courier New" pitchFamily="34" charset="-120"/>
              </a:rPr>
              <a:t>agentbox install @anyone/anything</a:t>
            </a:r>
            <a:endParaRPr lang="en-US" sz="1000" dirty="0"/>
          </a:p>
        </p:txBody>
      </p:sp>
      <p:sp>
        <p:nvSpPr>
          <p:cNvPr id="11" name="Shape 9"/>
          <p:cNvSpPr/>
          <p:nvPr/>
        </p:nvSpPr>
        <p:spPr>
          <a:xfrm>
            <a:off x="4343400" y="1645920"/>
            <a:ext cx="3566160" cy="3657600"/>
          </a:xfrm>
          <a:prstGeom prst="roundRect">
            <a:avLst>
              <a:gd name="adj" fmla="val 512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2" name="Text 10"/>
          <p:cNvSpPr/>
          <p:nvPr/>
        </p:nvSpPr>
        <p:spPr>
          <a:xfrm>
            <a:off x="4617720" y="1783080"/>
            <a:ext cx="301752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6 MONTHS</a:t>
            </a:r>
            <a:endParaRPr lang="en-US" sz="1000" dirty="0"/>
          </a:p>
        </p:txBody>
      </p:sp>
      <p:sp>
        <p:nvSpPr>
          <p:cNvPr id="13" name="Text 11"/>
          <p:cNvSpPr/>
          <p:nvPr/>
        </p:nvSpPr>
        <p:spPr>
          <a:xfrm>
            <a:off x="4617720" y="2103120"/>
            <a:ext cx="2011680" cy="45720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Pro Registry</a:t>
            </a:r>
            <a:endParaRPr lang="en-US" sz="1800" dirty="0"/>
          </a:p>
        </p:txBody>
      </p:sp>
      <p:sp>
        <p:nvSpPr>
          <p:cNvPr id="14" name="Text 12"/>
          <p:cNvSpPr/>
          <p:nvPr/>
        </p:nvSpPr>
        <p:spPr>
          <a:xfrm>
            <a:off x="6355080" y="2103120"/>
            <a:ext cx="1280160" cy="457200"/>
          </a:xfrm>
          <a:prstGeom prst="rect">
            <a:avLst/>
          </a:prstGeom>
          <a:noFill/>
          <a:ln/>
        </p:spPr>
        <p:txBody>
          <a:bodyPr wrap="square" rtlCol="0" anchor="ctr"/>
          <a:lstStyle/>
          <a:p>
            <a:pPr algn="r" indent="0" marL="0">
              <a:buNone/>
            </a:pPr>
            <a:r>
              <a:rPr lang="en-US" sz="1400" b="1" dirty="0">
                <a:solidFill>
                  <a:srgbClr val="000000"/>
                </a:solidFill>
                <a:latin typeface="Arial" pitchFamily="34" charset="0"/>
                <a:ea typeface="Arial" pitchFamily="34" charset="-122"/>
                <a:cs typeface="Arial" pitchFamily="34" charset="-120"/>
              </a:rPr>
              <a:t>$20/seat/mo</a:t>
            </a:r>
            <a:endParaRPr lang="en-US" sz="1400" dirty="0"/>
          </a:p>
        </p:txBody>
      </p:sp>
      <p:sp>
        <p:nvSpPr>
          <p:cNvPr id="15" name="Text 13"/>
          <p:cNvSpPr/>
          <p:nvPr/>
        </p:nvSpPr>
        <p:spPr>
          <a:xfrm>
            <a:off x="4617720" y="2743200"/>
            <a:ext cx="3017520" cy="137160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Private agents, team workspaces, download analytics, verified publishers, access controls. Target indie devs and small teams.</a:t>
            </a:r>
            <a:endParaRPr lang="en-US" sz="1100" dirty="0"/>
          </a:p>
        </p:txBody>
      </p:sp>
      <p:sp>
        <p:nvSpPr>
          <p:cNvPr id="16" name="Shape 14"/>
          <p:cNvSpPr/>
          <p:nvPr/>
        </p:nvSpPr>
        <p:spPr>
          <a:xfrm>
            <a:off x="4617720" y="4389120"/>
            <a:ext cx="3017520" cy="502920"/>
          </a:xfrm>
          <a:prstGeom prst="roundRect">
            <a:avLst>
              <a:gd name="adj" fmla="val 18182"/>
            </a:avLst>
          </a:prstGeom>
          <a:solidFill>
            <a:srgbClr val="F0F0F0"/>
          </a:solidFill>
          <a:ln w="6350">
            <a:solidFill>
              <a:srgbClr val="DDDDDD"/>
            </a:solidFill>
            <a:prstDash val="solid"/>
          </a:ln>
        </p:spPr>
      </p:sp>
      <p:sp>
        <p:nvSpPr>
          <p:cNvPr id="17" name="Text 15"/>
          <p:cNvSpPr/>
          <p:nvPr/>
        </p:nvSpPr>
        <p:spPr>
          <a:xfrm>
            <a:off x="4617720" y="4389120"/>
            <a:ext cx="3017520" cy="502920"/>
          </a:xfrm>
          <a:prstGeom prst="rect">
            <a:avLst/>
          </a:prstGeom>
          <a:noFill/>
          <a:ln/>
        </p:spPr>
        <p:txBody>
          <a:bodyPr wrap="square" rtlCol="0" anchor="ctr"/>
          <a:lstStyle/>
          <a:p>
            <a:pPr algn="ctr" indent="0" marL="0">
              <a:buNone/>
            </a:pPr>
            <a:r>
              <a:rPr lang="en-US" sz="1000" dirty="0">
                <a:solidFill>
                  <a:srgbClr val="444444"/>
                </a:solidFill>
                <a:latin typeface="Courier New" pitchFamily="34" charset="0"/>
                <a:ea typeface="Courier New" pitchFamily="34" charset="-122"/>
                <a:cs typeface="Courier New" pitchFamily="34" charset="-120"/>
              </a:rPr>
              <a:t>agentbox publish --private --team acme</a:t>
            </a:r>
            <a:endParaRPr lang="en-US" sz="1000" dirty="0"/>
          </a:p>
        </p:txBody>
      </p:sp>
      <p:sp>
        <p:nvSpPr>
          <p:cNvPr id="18" name="Shape 16"/>
          <p:cNvSpPr/>
          <p:nvPr/>
        </p:nvSpPr>
        <p:spPr>
          <a:xfrm>
            <a:off x="8138160" y="1645920"/>
            <a:ext cx="3566160" cy="3657600"/>
          </a:xfrm>
          <a:prstGeom prst="roundRect">
            <a:avLst>
              <a:gd name="adj" fmla="val 5128"/>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9" name="Text 17"/>
          <p:cNvSpPr/>
          <p:nvPr/>
        </p:nvSpPr>
        <p:spPr>
          <a:xfrm>
            <a:off x="8412480" y="1783080"/>
            <a:ext cx="301752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12 MONTHS</a:t>
            </a:r>
            <a:endParaRPr lang="en-US" sz="1000" dirty="0"/>
          </a:p>
        </p:txBody>
      </p:sp>
      <p:sp>
        <p:nvSpPr>
          <p:cNvPr id="20" name="Text 18"/>
          <p:cNvSpPr/>
          <p:nvPr/>
        </p:nvSpPr>
        <p:spPr>
          <a:xfrm>
            <a:off x="8412480" y="2103120"/>
            <a:ext cx="2011680" cy="457200"/>
          </a:xfrm>
          <a:prstGeom prst="rect">
            <a:avLst/>
          </a:prstGeom>
          <a:noFill/>
          <a:ln/>
        </p:spPr>
        <p:txBody>
          <a:bodyPr wrap="square" rtlCol="0" anchor="ctr"/>
          <a:lstStyle/>
          <a:p>
            <a:pPr indent="0" marL="0">
              <a:buNone/>
            </a:pPr>
            <a:r>
              <a:rPr lang="en-US" sz="1800" b="1" dirty="0">
                <a:solidFill>
                  <a:srgbClr val="1A1A1A"/>
                </a:solidFill>
                <a:latin typeface="Arial" pitchFamily="34" charset="0"/>
                <a:ea typeface="Arial" pitchFamily="34" charset="-122"/>
                <a:cs typeface="Arial" pitchFamily="34" charset="-120"/>
              </a:rPr>
              <a:t>Agent Cloud</a:t>
            </a:r>
            <a:endParaRPr lang="en-US" sz="1800" dirty="0"/>
          </a:p>
        </p:txBody>
      </p:sp>
      <p:sp>
        <p:nvSpPr>
          <p:cNvPr id="21" name="Text 19"/>
          <p:cNvSpPr/>
          <p:nvPr/>
        </p:nvSpPr>
        <p:spPr>
          <a:xfrm>
            <a:off x="10149840" y="2103120"/>
            <a:ext cx="1280160" cy="457200"/>
          </a:xfrm>
          <a:prstGeom prst="rect">
            <a:avLst/>
          </a:prstGeom>
          <a:noFill/>
          <a:ln/>
        </p:spPr>
        <p:txBody>
          <a:bodyPr wrap="square" rtlCol="0" anchor="ctr"/>
          <a:lstStyle/>
          <a:p>
            <a:pPr algn="r" indent="0" marL="0">
              <a:buNone/>
            </a:pPr>
            <a:r>
              <a:rPr lang="en-US" sz="1400" b="1" dirty="0">
                <a:solidFill>
                  <a:srgbClr val="000000"/>
                </a:solidFill>
                <a:latin typeface="Arial" pitchFamily="34" charset="0"/>
                <a:ea typeface="Arial" pitchFamily="34" charset="-122"/>
                <a:cs typeface="Arial" pitchFamily="34" charset="-120"/>
              </a:rPr>
              <a:t>$99/seat/mo</a:t>
            </a:r>
            <a:endParaRPr lang="en-US" sz="1400" dirty="0"/>
          </a:p>
        </p:txBody>
      </p:sp>
      <p:sp>
        <p:nvSpPr>
          <p:cNvPr id="22" name="Text 20"/>
          <p:cNvSpPr/>
          <p:nvPr/>
        </p:nvSpPr>
        <p:spPr>
          <a:xfrm>
            <a:off x="8412480" y="2743200"/>
            <a:ext cx="3017520" cy="1371600"/>
          </a:xfrm>
          <a:prstGeom prst="rect">
            <a:avLst/>
          </a:prstGeom>
          <a:noFill/>
          <a:ln/>
        </p:spPr>
        <p:txBody>
          <a:bodyPr wrap="square" rtlCol="0" anchor="t"/>
          <a:lstStyle/>
          <a:p>
            <a:pPr indent="0" marL="0">
              <a:lnSpc>
                <a:spcPct val="140000"/>
              </a:lnSpc>
              <a:buNone/>
            </a:pPr>
            <a:r>
              <a:rPr lang="en-US" sz="1100" dirty="0">
                <a:solidFill>
                  <a:srgbClr val="777777"/>
                </a:solidFill>
                <a:latin typeface="Arial" pitchFamily="34" charset="0"/>
                <a:ea typeface="Arial" pitchFamily="34" charset="-122"/>
                <a:cs typeface="Arial" pitchFamily="34" charset="-120"/>
              </a:rPr>
              <a:t>Hosted execution, usage-based billing, enterprise SSO, audit logs. Agents run in the cloud without any local setup.</a:t>
            </a:r>
            <a:endParaRPr lang="en-US" sz="1100" dirty="0"/>
          </a:p>
        </p:txBody>
      </p:sp>
      <p:sp>
        <p:nvSpPr>
          <p:cNvPr id="23" name="Shape 21"/>
          <p:cNvSpPr/>
          <p:nvPr/>
        </p:nvSpPr>
        <p:spPr>
          <a:xfrm>
            <a:off x="8412480" y="4389120"/>
            <a:ext cx="3017520" cy="502920"/>
          </a:xfrm>
          <a:prstGeom prst="roundRect">
            <a:avLst>
              <a:gd name="adj" fmla="val 18182"/>
            </a:avLst>
          </a:prstGeom>
          <a:solidFill>
            <a:srgbClr val="F0F0F0"/>
          </a:solidFill>
          <a:ln w="6350">
            <a:solidFill>
              <a:srgbClr val="DDDDDD"/>
            </a:solidFill>
            <a:prstDash val="solid"/>
          </a:ln>
        </p:spPr>
      </p:sp>
      <p:sp>
        <p:nvSpPr>
          <p:cNvPr id="24" name="Text 22"/>
          <p:cNvSpPr/>
          <p:nvPr/>
        </p:nvSpPr>
        <p:spPr>
          <a:xfrm>
            <a:off x="8412480" y="4389120"/>
            <a:ext cx="3017520" cy="502920"/>
          </a:xfrm>
          <a:prstGeom prst="rect">
            <a:avLst/>
          </a:prstGeom>
          <a:noFill/>
          <a:ln/>
        </p:spPr>
        <p:txBody>
          <a:bodyPr wrap="square" rtlCol="0" anchor="ctr"/>
          <a:lstStyle/>
          <a:p>
            <a:pPr algn="ctr" indent="0" marL="0">
              <a:buNone/>
            </a:pPr>
            <a:r>
              <a:rPr lang="en-US" sz="1000" dirty="0">
                <a:solidFill>
                  <a:srgbClr val="444444"/>
                </a:solidFill>
                <a:latin typeface="Courier New" pitchFamily="34" charset="0"/>
                <a:ea typeface="Courier New" pitchFamily="34" charset="-122"/>
                <a:cs typeface="Courier New" pitchFamily="34" charset="-120"/>
              </a:rPr>
              <a:t>agentbox deploy @acme/support-agent</a:t>
            </a:r>
            <a:endParaRPr lang="en-US" sz="1000" dirty="0"/>
          </a:p>
        </p:txBody>
      </p:sp>
      <p:sp>
        <p:nvSpPr>
          <p:cNvPr id="25" name="Shape 23"/>
          <p:cNvSpPr/>
          <p:nvPr/>
        </p:nvSpPr>
        <p:spPr>
          <a:xfrm>
            <a:off x="548640" y="5577840"/>
            <a:ext cx="11064240" cy="822960"/>
          </a:xfrm>
          <a:prstGeom prst="roundRect">
            <a:avLst>
              <a:gd name="adj" fmla="val 22222"/>
            </a:avLst>
          </a:prstGeom>
          <a:solidFill>
            <a:srgbClr val="F0F0F0"/>
          </a:solidFill>
          <a:ln w="6350">
            <a:solidFill>
              <a:srgbClr val="DDDDDD"/>
            </a:solidFill>
            <a:prstDash val="solid"/>
          </a:ln>
        </p:spPr>
      </p:sp>
      <p:sp>
        <p:nvSpPr>
          <p:cNvPr id="26" name="Text 24"/>
          <p:cNvSpPr/>
          <p:nvPr/>
        </p:nvSpPr>
        <p:spPr>
          <a:xfrm>
            <a:off x="914400" y="5715000"/>
            <a:ext cx="10332720" cy="548640"/>
          </a:xfrm>
          <a:prstGeom prst="rect">
            <a:avLst/>
          </a:prstGeom>
          <a:noFill/>
          <a:ln/>
        </p:spPr>
        <p:txBody>
          <a:bodyPr wrap="square" rtlCol="0" anchor="ctr"/>
          <a:lstStyle/>
          <a:p>
            <a:pPr indent="0" marL="0">
              <a:lnSpc>
                <a:spcPct val="130000"/>
              </a:lnSpc>
              <a:buNone/>
            </a:pPr>
            <a:r>
              <a:rPr lang="en-US" sz="1200" b="1" dirty="0">
                <a:solidFill>
                  <a:srgbClr val="1A1A1A"/>
                </a:solidFill>
              </a:rPr>
              <a:t>Long-term: </a:t>
            </a:r>
            <a:pPr indent="0" marL="0">
              <a:lnSpc>
                <a:spcPct val="130000"/>
              </a:lnSpc>
              <a:buNone/>
            </a:pPr>
            <a:r>
              <a:rPr lang="en-US" sz="1200" dirty="0">
                <a:solidFill>
                  <a:srgbClr val="777777"/>
                </a:solidFill>
              </a:rPr>
              <a:t>Agent marketplace with revenue share. If 1% of a npm-scale registry (2M packages) become paid agents at $5/mo average, that's </a:t>
            </a:r>
            <a:pPr indent="0" marL="0">
              <a:lnSpc>
                <a:spcPct val="130000"/>
              </a:lnSpc>
              <a:buNone/>
            </a:pPr>
            <a:r>
              <a:rPr lang="en-US" sz="1200" b="1" dirty="0">
                <a:solidFill>
                  <a:srgbClr val="000000"/>
                </a:solidFill>
              </a:rPr>
              <a:t>$100M+ ARR potential.</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731520" y="731520"/>
            <a:ext cx="2743200" cy="1828800"/>
          </a:xfrm>
          <a:prstGeom prst="rect">
            <a:avLst/>
          </a:prstGeom>
          <a:noFill/>
          <a:ln/>
        </p:spPr>
        <p:txBody>
          <a:bodyPr wrap="square" rtlCol="0" anchor="ctr"/>
          <a:lstStyle/>
          <a:p>
            <a:pPr indent="0" marL="0">
              <a:buNone/>
            </a:pPr>
            <a:r>
              <a:rPr lang="en-US" sz="12000" b="1" dirty="0">
                <a:solidFill>
                  <a:srgbClr val="222222"/>
                </a:solidFill>
                <a:latin typeface="Arial" pitchFamily="34" charset="0"/>
                <a:ea typeface="Arial" pitchFamily="34" charset="-122"/>
                <a:cs typeface="Arial" pitchFamily="34" charset="-120"/>
              </a:rPr>
              <a:t>04</a:t>
            </a:r>
            <a:endParaRPr lang="en-US" sz="12000" dirty="0"/>
          </a:p>
        </p:txBody>
      </p:sp>
      <p:sp>
        <p:nvSpPr>
          <p:cNvPr id="3" name="Text 1"/>
          <p:cNvSpPr/>
          <p:nvPr/>
        </p:nvSpPr>
        <p:spPr>
          <a:xfrm>
            <a:off x="731520" y="2286000"/>
            <a:ext cx="10698480" cy="1828800"/>
          </a:xfrm>
          <a:prstGeom prst="rect">
            <a:avLst/>
          </a:prstGeom>
          <a:noFill/>
          <a:ln/>
        </p:spPr>
        <p:txBody>
          <a:bodyPr wrap="square" rtlCol="0" anchor="ctr"/>
          <a:lstStyle/>
          <a:p>
            <a:pPr indent="0" marL="0">
              <a:lnSpc>
                <a:spcPct val="120000"/>
              </a:lnSpc>
              <a:buNone/>
            </a:pPr>
            <a:r>
              <a:rPr lang="en-US" sz="4000" b="1" dirty="0">
                <a:solidFill>
                  <a:srgbClr val="FFFFFF"/>
                </a:solidFill>
                <a:latin typeface="Arial" pitchFamily="34" charset="0"/>
                <a:ea typeface="Arial" pitchFamily="34" charset="-122"/>
                <a:cs typeface="Arial" pitchFamily="34" charset="-120"/>
              </a:rPr>
              <a:t>Why are we the team</a:t>
            </a:r>
            <a:endParaRPr lang="en-US" sz="4000" dirty="0"/>
          </a:p>
          <a:p>
            <a:pPr indent="0" marL="0">
              <a:lnSpc>
                <a:spcPct val="120000"/>
              </a:lnSpc>
              <a:buNone/>
            </a:pPr>
            <a:r>
              <a:rPr lang="en-US" sz="4000" b="1" dirty="0">
                <a:solidFill>
                  <a:srgbClr val="FFFFFF"/>
                </a:solidFill>
                <a:latin typeface="Arial" pitchFamily="34" charset="0"/>
                <a:ea typeface="Arial" pitchFamily="34" charset="-122"/>
                <a:cs typeface="Arial" pitchFamily="34" charset="-120"/>
              </a:rPr>
              <a:t>to build this?</a:t>
            </a:r>
            <a:endParaRPr lang="en-US" sz="4000" dirty="0"/>
          </a:p>
        </p:txBody>
      </p:sp>
      <p:sp>
        <p:nvSpPr>
          <p:cNvPr id="4" name="Text 2"/>
          <p:cNvSpPr/>
          <p:nvPr/>
        </p:nvSpPr>
        <p:spPr>
          <a:xfrm>
            <a:off x="731520" y="4206240"/>
            <a:ext cx="10698480" cy="548640"/>
          </a:xfrm>
          <a:prstGeom prst="rect">
            <a:avLst/>
          </a:prstGeom>
          <a:noFill/>
          <a:ln/>
        </p:spPr>
        <p:txBody>
          <a:bodyPr wrap="square" rtlCol="0" anchor="ctr"/>
          <a:lstStyle/>
          <a:p>
            <a:pPr indent="0" marL="0">
              <a:buNone/>
            </a:pPr>
            <a:r>
              <a:rPr lang="en-US" sz="1600" dirty="0">
                <a:solidFill>
                  <a:srgbClr val="888888"/>
                </a:solidFill>
                <a:latin typeface="Arial" pitchFamily="34" charset="0"/>
                <a:ea typeface="Arial" pitchFamily="34" charset="-122"/>
                <a:cs typeface="Arial" pitchFamily="34" charset="-120"/>
              </a:rPr>
              <a:t>Speed, conviction, and builder DNA.</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THE TEAM</a:t>
            </a:r>
            <a:endParaRPr lang="en-US" sz="1000" dirty="0"/>
          </a:p>
        </p:txBody>
      </p:sp>
      <p:sp>
        <p:nvSpPr>
          <p:cNvPr id="3" name="Shape 1"/>
          <p:cNvSpPr/>
          <p:nvPr/>
        </p:nvSpPr>
        <p:spPr>
          <a:xfrm>
            <a:off x="548640" y="914400"/>
            <a:ext cx="4572000" cy="5486400"/>
          </a:xfrm>
          <a:prstGeom prst="roundRect">
            <a:avLst>
              <a:gd name="adj" fmla="val 4000"/>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4" name="Shape 2"/>
          <p:cNvSpPr/>
          <p:nvPr/>
        </p:nvSpPr>
        <p:spPr>
          <a:xfrm>
            <a:off x="1097280" y="1280160"/>
            <a:ext cx="1097280" cy="1097280"/>
          </a:xfrm>
          <a:prstGeom prst="ellipse">
            <a:avLst/>
          </a:prstGeom>
          <a:solidFill>
            <a:srgbClr val="000000"/>
          </a:solidFill>
          <a:ln/>
        </p:spPr>
      </p:sp>
      <p:sp>
        <p:nvSpPr>
          <p:cNvPr id="5" name="Text 3"/>
          <p:cNvSpPr/>
          <p:nvPr/>
        </p:nvSpPr>
        <p:spPr>
          <a:xfrm>
            <a:off x="1097280" y="1280160"/>
            <a:ext cx="1097280" cy="1097280"/>
          </a:xfrm>
          <a:prstGeom prst="rect">
            <a:avLst/>
          </a:prstGeom>
          <a:noFill/>
          <a:ln/>
        </p:spPr>
        <p:txBody>
          <a:bodyPr wrap="square" rtlCol="0" anchor="ctr"/>
          <a:lstStyle/>
          <a:p>
            <a:pPr algn="ctr" indent="0" marL="0">
              <a:buNone/>
            </a:pPr>
            <a:r>
              <a:rPr lang="en-US" sz="3600" b="1" dirty="0">
                <a:solidFill>
                  <a:srgbClr val="FFFFFF"/>
                </a:solidFill>
                <a:latin typeface="Arial" pitchFamily="34" charset="0"/>
                <a:ea typeface="Arial" pitchFamily="34" charset="-122"/>
                <a:cs typeface="Arial" pitchFamily="34" charset="-120"/>
              </a:rPr>
              <a:t>P</a:t>
            </a:r>
            <a:endParaRPr lang="en-US" sz="3600" dirty="0"/>
          </a:p>
        </p:txBody>
      </p:sp>
      <p:sp>
        <p:nvSpPr>
          <p:cNvPr id="6" name="Text 4"/>
          <p:cNvSpPr/>
          <p:nvPr/>
        </p:nvSpPr>
        <p:spPr>
          <a:xfrm>
            <a:off x="2468880" y="1280160"/>
            <a:ext cx="2377440" cy="457200"/>
          </a:xfrm>
          <a:prstGeom prst="rect">
            <a:avLst/>
          </a:prstGeom>
          <a:noFill/>
          <a:ln/>
        </p:spPr>
        <p:txBody>
          <a:bodyPr wrap="square" rtlCol="0" anchor="ctr"/>
          <a:lstStyle/>
          <a:p>
            <a:pPr indent="0" marL="0">
              <a:buNone/>
            </a:pPr>
            <a:r>
              <a:rPr lang="en-US" sz="2000" b="1" dirty="0">
                <a:solidFill>
                  <a:srgbClr val="000000"/>
                </a:solidFill>
                <a:latin typeface="Arial" pitchFamily="34" charset="0"/>
                <a:ea typeface="Arial" pitchFamily="34" charset="-122"/>
                <a:cs typeface="Arial" pitchFamily="34" charset="-120"/>
              </a:rPr>
              <a:t>Piyush Bhawsar</a:t>
            </a:r>
            <a:endParaRPr lang="en-US" sz="2000" dirty="0"/>
          </a:p>
        </p:txBody>
      </p:sp>
      <p:sp>
        <p:nvSpPr>
          <p:cNvPr id="7" name="Text 5"/>
          <p:cNvSpPr/>
          <p:nvPr/>
        </p:nvSpPr>
        <p:spPr>
          <a:xfrm>
            <a:off x="2468880" y="1737360"/>
            <a:ext cx="2377440" cy="320040"/>
          </a:xfrm>
          <a:prstGeom prst="rect">
            <a:avLst/>
          </a:prstGeom>
          <a:noFill/>
          <a:ln/>
        </p:spPr>
        <p:txBody>
          <a:bodyPr wrap="square" rtlCol="0" anchor="ctr"/>
          <a:lstStyle/>
          <a:p>
            <a:pPr indent="0" marL="0">
              <a:buNone/>
            </a:pPr>
            <a:r>
              <a:rPr lang="en-US" sz="1200" dirty="0">
                <a:solidFill>
                  <a:srgbClr val="777777"/>
                </a:solidFill>
                <a:latin typeface="Arial" pitchFamily="34" charset="0"/>
                <a:ea typeface="Arial" pitchFamily="34" charset="-122"/>
                <a:cs typeface="Arial" pitchFamily="34" charset="-120"/>
              </a:rPr>
              <a:t>Founder &amp; Builder</a:t>
            </a:r>
            <a:endParaRPr lang="en-US" sz="1200" dirty="0"/>
          </a:p>
        </p:txBody>
      </p:sp>
      <p:sp>
        <p:nvSpPr>
          <p:cNvPr id="8" name="Text 6"/>
          <p:cNvSpPr/>
          <p:nvPr/>
        </p:nvSpPr>
        <p:spPr>
          <a:xfrm>
            <a:off x="914400" y="2743200"/>
            <a:ext cx="3840480" cy="3200400"/>
          </a:xfrm>
          <a:prstGeom prst="rect">
            <a:avLst/>
          </a:prstGeom>
          <a:noFill/>
          <a:ln/>
        </p:spPr>
        <p:txBody>
          <a:bodyPr wrap="square" rtlCol="0" anchor="t"/>
          <a:lstStyle/>
          <a:p>
            <a:pPr marL="342900" indent="-342900">
              <a:lnSpc>
                <a:spcPct val="150000"/>
              </a:lnSpc>
              <a:buSzPct val="100000"/>
              <a:buChar char="•"/>
            </a:pPr>
            <a:r>
              <a:rPr lang="en-US" sz="1100" dirty="0">
                <a:solidFill>
                  <a:srgbClr val="777777"/>
                </a:solidFill>
                <a:latin typeface="Arial" pitchFamily="34" charset="0"/>
                <a:ea typeface="Arial" pitchFamily="34" charset="-122"/>
                <a:cs typeface="Arial" pitchFamily="34" charset="-120"/>
              </a:rPr>
              <a:t>Full-stack engineer obsessed with developer tools and AI infrastructure</a:t>
            </a:r>
            <a:endParaRPr lang="en-US" sz="1100" dirty="0"/>
          </a:p>
          <a:p>
            <a:pPr marL="342900" indent="-342900">
              <a:lnSpc>
                <a:spcPct val="150000"/>
              </a:lnSpc>
              <a:buSzPct val="100000"/>
              <a:buChar char="•"/>
            </a:pPr>
            <a:r>
              <a:rPr lang="en-US" sz="1100" dirty="0">
                <a:solidFill>
                  <a:srgbClr val="777777"/>
                </a:solidFill>
                <a:latin typeface="Arial" pitchFamily="34" charset="0"/>
                <a:ea typeface="Arial" pitchFamily="34" charset="-122"/>
                <a:cs typeface="Arial" pitchFamily="34" charset="-120"/>
              </a:rPr>
              <a:t>Built AgentOnAir from zero to working POC with 8 CLI commands, 27 tests, 3 example agents — in days</a:t>
            </a:r>
            <a:endParaRPr lang="en-US" sz="1100" dirty="0"/>
          </a:p>
          <a:p>
            <a:pPr marL="342900" indent="-342900">
              <a:lnSpc>
                <a:spcPct val="150000"/>
              </a:lnSpc>
              <a:buSzPct val="100000"/>
              <a:buChar char="•"/>
            </a:pPr>
            <a:r>
              <a:rPr lang="en-US" sz="1100" dirty="0">
                <a:solidFill>
                  <a:srgbClr val="777777"/>
                </a:solidFill>
                <a:latin typeface="Arial" pitchFamily="34" charset="0"/>
                <a:ea typeface="Arial" pitchFamily="34" charset="-122"/>
                <a:cs typeface="Arial" pitchFamily="34" charset="-120"/>
              </a:rPr>
              <a:t>Evaluated every existing approach before designing .agent: Letta .af, Agent Format .agf, CrewAI agentfiles, Stakpak Paks</a:t>
            </a:r>
            <a:endParaRPr lang="en-US" sz="1100" dirty="0"/>
          </a:p>
          <a:p>
            <a:pPr marL="342900" indent="-342900">
              <a:lnSpc>
                <a:spcPct val="150000"/>
              </a:lnSpc>
              <a:buSzPct val="100000"/>
              <a:buChar char="•"/>
            </a:pPr>
            <a:r>
              <a:rPr lang="en-US" sz="1100" dirty="0">
                <a:solidFill>
                  <a:srgbClr val="777777"/>
                </a:solidFill>
                <a:latin typeface="Arial" pitchFamily="34" charset="0"/>
                <a:ea typeface="Arial" pitchFamily="34" charset="-122"/>
                <a:cs typeface="Arial" pitchFamily="34" charset="-120"/>
              </a:rPr>
              <a:t>Deep understanding of developer ecosystems and what makes sharing primitives succeed</a:t>
            </a:r>
            <a:endParaRPr lang="en-US" sz="1100" dirty="0"/>
          </a:p>
          <a:p>
            <a:pPr marL="342900" indent="-342900">
              <a:lnSpc>
                <a:spcPct val="150000"/>
              </a:lnSpc>
              <a:buSzPct val="100000"/>
              <a:buChar char="•"/>
            </a:pPr>
            <a:r>
              <a:rPr lang="en-US" sz="1100" dirty="0">
                <a:solidFill>
                  <a:srgbClr val="777777"/>
                </a:solidFill>
                <a:latin typeface="Arial" pitchFamily="34" charset="0"/>
                <a:ea typeface="Arial" pitchFamily="34" charset="-122"/>
                <a:cs typeface="Arial" pitchFamily="34" charset="-120"/>
              </a:rPr>
              <a:t>Ships fast, iterates on real feedback, doesn't wait for permission</a:t>
            </a:r>
            <a:endParaRPr lang="en-US" sz="1100" dirty="0"/>
          </a:p>
        </p:txBody>
      </p:sp>
      <p:sp>
        <p:nvSpPr>
          <p:cNvPr id="9" name="Shape 7"/>
          <p:cNvSpPr/>
          <p:nvPr/>
        </p:nvSpPr>
        <p:spPr>
          <a:xfrm>
            <a:off x="5394960" y="914400"/>
            <a:ext cx="6217920" cy="1234440"/>
          </a:xfrm>
          <a:prstGeom prst="roundRect">
            <a:avLst>
              <a:gd name="adj" fmla="val 14815"/>
            </a:avLst>
          </a:prstGeom>
          <a:solidFill>
            <a:srgbClr val="E8E8E8"/>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0" name="Text 8"/>
          <p:cNvSpPr/>
          <p:nvPr/>
        </p:nvSpPr>
        <p:spPr>
          <a:xfrm>
            <a:off x="5669280" y="1051560"/>
            <a:ext cx="5669280" cy="32004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First Mover</a:t>
            </a:r>
            <a:endParaRPr lang="en-US" sz="1400" dirty="0"/>
          </a:p>
        </p:txBody>
      </p:sp>
      <p:sp>
        <p:nvSpPr>
          <p:cNvPr id="11" name="Text 9"/>
          <p:cNvSpPr/>
          <p:nvPr/>
        </p:nvSpPr>
        <p:spPr>
          <a:xfrm>
            <a:off x="5669280" y="1417320"/>
            <a:ext cx="5669280" cy="548640"/>
          </a:xfrm>
          <a:prstGeom prst="rect">
            <a:avLst/>
          </a:prstGeom>
          <a:noFill/>
          <a:ln/>
        </p:spPr>
        <p:txBody>
          <a:bodyPr wrap="square" rtlCol="0" anchor="ctr"/>
          <a:lstStyle/>
          <a:p>
            <a:pPr indent="0" marL="0">
              <a:lnSpc>
                <a:spcPct val="130000"/>
              </a:lnSpc>
              <a:buNone/>
            </a:pPr>
            <a:r>
              <a:rPr lang="en-US" sz="1200" dirty="0">
                <a:solidFill>
                  <a:srgbClr val="777777"/>
                </a:solidFill>
                <a:latin typeface="Arial" pitchFamily="34" charset="0"/>
                <a:ea typeface="Arial" pitchFamily="34" charset="-122"/>
                <a:cs typeface="Arial" pitchFamily="34" charset="-120"/>
              </a:rPr>
              <a:t>Only team building the agent sharing layer. Everyone else is building platforms.</a:t>
            </a:r>
            <a:endParaRPr lang="en-US" sz="1200" dirty="0"/>
          </a:p>
        </p:txBody>
      </p:sp>
      <p:sp>
        <p:nvSpPr>
          <p:cNvPr id="12" name="Shape 10"/>
          <p:cNvSpPr/>
          <p:nvPr/>
        </p:nvSpPr>
        <p:spPr>
          <a:xfrm>
            <a:off x="5394960" y="2331720"/>
            <a:ext cx="6217920" cy="1234440"/>
          </a:xfrm>
          <a:prstGeom prst="roundRect">
            <a:avLst>
              <a:gd name="adj" fmla="val 14815"/>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3" name="Text 11"/>
          <p:cNvSpPr/>
          <p:nvPr/>
        </p:nvSpPr>
        <p:spPr>
          <a:xfrm>
            <a:off x="5669280" y="2468880"/>
            <a:ext cx="5669280" cy="32004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Working Code</a:t>
            </a:r>
            <a:endParaRPr lang="en-US" sz="1400" dirty="0"/>
          </a:p>
        </p:txBody>
      </p:sp>
      <p:sp>
        <p:nvSpPr>
          <p:cNvPr id="14" name="Text 12"/>
          <p:cNvSpPr/>
          <p:nvPr/>
        </p:nvSpPr>
        <p:spPr>
          <a:xfrm>
            <a:off x="5669280" y="2834640"/>
            <a:ext cx="5669280" cy="548640"/>
          </a:xfrm>
          <a:prstGeom prst="rect">
            <a:avLst/>
          </a:prstGeom>
          <a:noFill/>
          <a:ln/>
        </p:spPr>
        <p:txBody>
          <a:bodyPr wrap="square" rtlCol="0" anchor="ctr"/>
          <a:lstStyle/>
          <a:p>
            <a:pPr indent="0" marL="0">
              <a:lnSpc>
                <a:spcPct val="130000"/>
              </a:lnSpc>
              <a:buNone/>
            </a:pPr>
            <a:r>
              <a:rPr lang="en-US" sz="1200" dirty="0">
                <a:solidFill>
                  <a:srgbClr val="777777"/>
                </a:solidFill>
                <a:latin typeface="Arial" pitchFamily="34" charset="0"/>
                <a:ea typeface="Arial" pitchFamily="34" charset="-122"/>
                <a:cs typeface="Arial" pitchFamily="34" charset="-120"/>
              </a:rPr>
              <a:t>Not a whitepaper. A working CLI with tests, examples, and a registry.</a:t>
            </a:r>
            <a:endParaRPr lang="en-US" sz="1200" dirty="0"/>
          </a:p>
        </p:txBody>
      </p:sp>
      <p:sp>
        <p:nvSpPr>
          <p:cNvPr id="15" name="Shape 13"/>
          <p:cNvSpPr/>
          <p:nvPr/>
        </p:nvSpPr>
        <p:spPr>
          <a:xfrm>
            <a:off x="5394960" y="3749040"/>
            <a:ext cx="6217920" cy="1234440"/>
          </a:xfrm>
          <a:prstGeom prst="roundRect">
            <a:avLst>
              <a:gd name="adj" fmla="val 14815"/>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6" name="Text 14"/>
          <p:cNvSpPr/>
          <p:nvPr/>
        </p:nvSpPr>
        <p:spPr>
          <a:xfrm>
            <a:off x="5669280" y="3886200"/>
            <a:ext cx="5669280" cy="32004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Network Effects</a:t>
            </a:r>
            <a:endParaRPr lang="en-US" sz="1400" dirty="0"/>
          </a:p>
        </p:txBody>
      </p:sp>
      <p:sp>
        <p:nvSpPr>
          <p:cNvPr id="17" name="Text 15"/>
          <p:cNvSpPr/>
          <p:nvPr/>
        </p:nvSpPr>
        <p:spPr>
          <a:xfrm>
            <a:off x="5669280" y="4251960"/>
            <a:ext cx="5669280" cy="548640"/>
          </a:xfrm>
          <a:prstGeom prst="rect">
            <a:avLst/>
          </a:prstGeom>
          <a:noFill/>
          <a:ln/>
        </p:spPr>
        <p:txBody>
          <a:bodyPr wrap="square" rtlCol="0" anchor="ctr"/>
          <a:lstStyle/>
          <a:p>
            <a:pPr indent="0" marL="0">
              <a:lnSpc>
                <a:spcPct val="130000"/>
              </a:lnSpc>
              <a:buNone/>
            </a:pPr>
            <a:r>
              <a:rPr lang="en-US" sz="1200" dirty="0">
                <a:solidFill>
                  <a:srgbClr val="777777"/>
                </a:solidFill>
                <a:latin typeface="Arial" pitchFamily="34" charset="0"/>
                <a:ea typeface="Arial" pitchFamily="34" charset="-122"/>
                <a:cs typeface="Arial" pitchFamily="34" charset="-120"/>
              </a:rPr>
              <a:t>Every published agent makes the registry more valuable. The npm flywheel.</a:t>
            </a:r>
            <a:endParaRPr lang="en-US" sz="1200" dirty="0"/>
          </a:p>
        </p:txBody>
      </p:sp>
      <p:sp>
        <p:nvSpPr>
          <p:cNvPr id="18" name="Shape 16"/>
          <p:cNvSpPr/>
          <p:nvPr/>
        </p:nvSpPr>
        <p:spPr>
          <a:xfrm>
            <a:off x="5394960" y="5166360"/>
            <a:ext cx="6217920" cy="1234440"/>
          </a:xfrm>
          <a:prstGeom prst="roundRect">
            <a:avLst>
              <a:gd name="adj" fmla="val 14815"/>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9" name="Text 17"/>
          <p:cNvSpPr/>
          <p:nvPr/>
        </p:nvSpPr>
        <p:spPr>
          <a:xfrm>
            <a:off x="5669280" y="5303520"/>
            <a:ext cx="5669280" cy="32004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Framework Agnostic</a:t>
            </a:r>
            <a:endParaRPr lang="en-US" sz="1400" dirty="0"/>
          </a:p>
        </p:txBody>
      </p:sp>
      <p:sp>
        <p:nvSpPr>
          <p:cNvPr id="20" name="Text 18"/>
          <p:cNvSpPr/>
          <p:nvPr/>
        </p:nvSpPr>
        <p:spPr>
          <a:xfrm>
            <a:off x="5669280" y="5669280"/>
            <a:ext cx="5669280" cy="548640"/>
          </a:xfrm>
          <a:prstGeom prst="rect">
            <a:avLst/>
          </a:prstGeom>
          <a:noFill/>
          <a:ln/>
        </p:spPr>
        <p:txBody>
          <a:bodyPr wrap="square" rtlCol="0" anchor="ctr"/>
          <a:lstStyle/>
          <a:p>
            <a:pPr indent="0" marL="0">
              <a:lnSpc>
                <a:spcPct val="130000"/>
              </a:lnSpc>
              <a:buNone/>
            </a:pPr>
            <a:r>
              <a:rPr lang="en-US" sz="1200" dirty="0">
                <a:solidFill>
                  <a:srgbClr val="777777"/>
                </a:solidFill>
                <a:latin typeface="Arial" pitchFamily="34" charset="0"/>
                <a:ea typeface="Arial" pitchFamily="34" charset="-122"/>
                <a:cs typeface="Arial" pitchFamily="34" charset="-120"/>
              </a:rPr>
              <a:t>We complement LangChain, CrewAI, AutoGen — not compete. Maximum TAM.</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731520" y="457200"/>
            <a:ext cx="4572000" cy="274320"/>
          </a:xfrm>
          <a:prstGeom prst="rect">
            <a:avLst/>
          </a:prstGeom>
          <a:noFill/>
          <a:ln/>
        </p:spPr>
        <p:txBody>
          <a:bodyPr wrap="square" rtlCol="0" anchor="ctr"/>
          <a:lstStyle/>
          <a:p>
            <a:pPr indent="0" marL="0">
              <a:buNone/>
            </a:pPr>
            <a:r>
              <a:rPr lang="en-US" sz="1000" b="1" dirty="0">
                <a:solidFill>
                  <a:srgbClr val="AAAAAA"/>
                </a:solidFill>
                <a:latin typeface="Arial" pitchFamily="34" charset="0"/>
                <a:ea typeface="Arial" pitchFamily="34" charset="-122"/>
                <a:cs typeface="Arial" pitchFamily="34" charset="-120"/>
              </a:rPr>
              <a:t>THE ASK</a:t>
            </a:r>
            <a:endParaRPr lang="en-US" sz="1000" dirty="0"/>
          </a:p>
        </p:txBody>
      </p:sp>
      <p:sp>
        <p:nvSpPr>
          <p:cNvPr id="3" name="Shape 1"/>
          <p:cNvSpPr/>
          <p:nvPr/>
        </p:nvSpPr>
        <p:spPr>
          <a:xfrm>
            <a:off x="548640" y="914400"/>
            <a:ext cx="11064240" cy="2286000"/>
          </a:xfrm>
          <a:prstGeom prst="roundRect">
            <a:avLst>
              <a:gd name="adj" fmla="val 8000"/>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4" name="Text 2"/>
          <p:cNvSpPr/>
          <p:nvPr/>
        </p:nvSpPr>
        <p:spPr>
          <a:xfrm>
            <a:off x="1097280" y="1097280"/>
            <a:ext cx="9601200" cy="457200"/>
          </a:xfrm>
          <a:prstGeom prst="rect">
            <a:avLst/>
          </a:prstGeom>
          <a:noFill/>
          <a:ln/>
        </p:spPr>
        <p:txBody>
          <a:bodyPr wrap="square" rtlCol="0" anchor="ctr"/>
          <a:lstStyle/>
          <a:p>
            <a:pPr algn="ctr" indent="0" marL="0">
              <a:buNone/>
            </a:pPr>
            <a:r>
              <a:rPr lang="en-US" sz="1800" dirty="0">
                <a:solidFill>
                  <a:srgbClr val="777777"/>
                </a:solidFill>
                <a:latin typeface="Arial" pitchFamily="34" charset="0"/>
                <a:ea typeface="Arial" pitchFamily="34" charset="-122"/>
                <a:cs typeface="Arial" pitchFamily="34" charset="-120"/>
              </a:rPr>
              <a:t>Seed Round</a:t>
            </a:r>
            <a:endParaRPr lang="en-US" sz="1800" dirty="0"/>
          </a:p>
        </p:txBody>
      </p:sp>
      <p:sp>
        <p:nvSpPr>
          <p:cNvPr id="5" name="Text 3"/>
          <p:cNvSpPr/>
          <p:nvPr/>
        </p:nvSpPr>
        <p:spPr>
          <a:xfrm>
            <a:off x="1097280" y="1463040"/>
            <a:ext cx="9601200" cy="1097280"/>
          </a:xfrm>
          <a:prstGeom prst="rect">
            <a:avLst/>
          </a:prstGeom>
          <a:noFill/>
          <a:ln/>
        </p:spPr>
        <p:txBody>
          <a:bodyPr wrap="square" rtlCol="0" anchor="ctr"/>
          <a:lstStyle/>
          <a:p>
            <a:pPr algn="ctr" indent="0" marL="0">
              <a:buNone/>
            </a:pPr>
            <a:r>
              <a:rPr lang="en-US" sz="7200" b="1" dirty="0">
                <a:solidFill>
                  <a:srgbClr val="000000"/>
                </a:solidFill>
                <a:latin typeface="Arial" pitchFamily="34" charset="0"/>
                <a:ea typeface="Arial" pitchFamily="34" charset="-122"/>
                <a:cs typeface="Arial" pitchFamily="34" charset="-120"/>
              </a:rPr>
              <a:t>$1.5M</a:t>
            </a:r>
            <a:endParaRPr lang="en-US" sz="7200" dirty="0"/>
          </a:p>
        </p:txBody>
      </p:sp>
      <p:sp>
        <p:nvSpPr>
          <p:cNvPr id="6" name="Text 4"/>
          <p:cNvSpPr/>
          <p:nvPr/>
        </p:nvSpPr>
        <p:spPr>
          <a:xfrm>
            <a:off x="1097280" y="2560320"/>
            <a:ext cx="9601200" cy="365760"/>
          </a:xfrm>
          <a:prstGeom prst="rect">
            <a:avLst/>
          </a:prstGeom>
          <a:noFill/>
          <a:ln/>
        </p:spPr>
        <p:txBody>
          <a:bodyPr wrap="square" rtlCol="0" anchor="ctr"/>
          <a:lstStyle/>
          <a:p>
            <a:pPr algn="ctr" indent="0" marL="0">
              <a:buNone/>
            </a:pPr>
            <a:r>
              <a:rPr lang="en-US" sz="1300" dirty="0">
                <a:solidFill>
                  <a:srgbClr val="777777"/>
                </a:solidFill>
                <a:latin typeface="Arial" pitchFamily="34" charset="0"/>
                <a:ea typeface="Arial" pitchFamily="34" charset="-122"/>
                <a:cs typeface="Arial" pitchFamily="34" charset="-120"/>
              </a:rPr>
              <a:t>18-month runway to $100K MRR and Series A readiness</a:t>
            </a:r>
            <a:endParaRPr lang="en-US" sz="1300" dirty="0"/>
          </a:p>
        </p:txBody>
      </p:sp>
      <p:sp>
        <p:nvSpPr>
          <p:cNvPr id="7" name="Shape 5"/>
          <p:cNvSpPr/>
          <p:nvPr/>
        </p:nvSpPr>
        <p:spPr>
          <a:xfrm>
            <a:off x="548640" y="3474720"/>
            <a:ext cx="2651760" cy="2926080"/>
          </a:xfrm>
          <a:prstGeom prst="roundRect">
            <a:avLst>
              <a:gd name="adj" fmla="val 689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8" name="Text 6"/>
          <p:cNvSpPr/>
          <p:nvPr/>
        </p:nvSpPr>
        <p:spPr>
          <a:xfrm>
            <a:off x="548640" y="3611880"/>
            <a:ext cx="2651760" cy="731520"/>
          </a:xfrm>
          <a:prstGeom prst="rect">
            <a:avLst/>
          </a:prstGeom>
          <a:noFill/>
          <a:ln/>
        </p:spPr>
        <p:txBody>
          <a:bodyPr wrap="square" rtlCol="0" anchor="ctr"/>
          <a:lstStyle/>
          <a:p>
            <a:pPr algn="ctr" indent="0" marL="0">
              <a:buNone/>
            </a:pPr>
            <a:r>
              <a:rPr lang="en-US" sz="3600" b="1" dirty="0">
                <a:solidFill>
                  <a:srgbClr val="000000"/>
                </a:solidFill>
                <a:latin typeface="Arial" pitchFamily="34" charset="0"/>
                <a:ea typeface="Arial" pitchFamily="34" charset="-122"/>
                <a:cs typeface="Arial" pitchFamily="34" charset="-120"/>
              </a:rPr>
              <a:t>40%</a:t>
            </a:r>
            <a:endParaRPr lang="en-US" sz="3600" dirty="0"/>
          </a:p>
        </p:txBody>
      </p:sp>
      <p:sp>
        <p:nvSpPr>
          <p:cNvPr id="9" name="Text 7"/>
          <p:cNvSpPr/>
          <p:nvPr/>
        </p:nvSpPr>
        <p:spPr>
          <a:xfrm>
            <a:off x="548640" y="4343400"/>
            <a:ext cx="2651760" cy="548640"/>
          </a:xfrm>
          <a:prstGeom prst="rect">
            <a:avLst/>
          </a:prstGeom>
          <a:noFill/>
          <a:ln/>
        </p:spPr>
        <p:txBody>
          <a:bodyPr wrap="square" rtlCol="0" anchor="ctr"/>
          <a:lstStyle/>
          <a:p>
            <a:pPr algn="ctr" indent="0" marL="0">
              <a:lnSpc>
                <a:spcPct val="120000"/>
              </a:lnSpc>
              <a:buNone/>
            </a:pPr>
            <a:r>
              <a:rPr lang="en-US" sz="1300" b="1" dirty="0">
                <a:solidFill>
                  <a:srgbClr val="1A1A1A"/>
                </a:solidFill>
                <a:latin typeface="Arial" pitchFamily="34" charset="0"/>
                <a:ea typeface="Arial" pitchFamily="34" charset="-122"/>
                <a:cs typeface="Arial" pitchFamily="34" charset="-120"/>
              </a:rPr>
              <a:t>Engineering</a:t>
            </a:r>
            <a:endParaRPr lang="en-US" sz="1300" dirty="0"/>
          </a:p>
          <a:p>
            <a:pPr algn="ctr" indent="0" marL="0">
              <a:lnSpc>
                <a:spcPct val="120000"/>
              </a:lnSpc>
              <a:buNone/>
            </a:pPr>
            <a:r>
              <a:rPr lang="en-US" sz="1300" b="1" dirty="0">
                <a:solidFill>
                  <a:srgbClr val="1A1A1A"/>
                </a:solidFill>
                <a:latin typeface="Arial" pitchFamily="34" charset="0"/>
                <a:ea typeface="Arial" pitchFamily="34" charset="-122"/>
                <a:cs typeface="Arial" pitchFamily="34" charset="-120"/>
              </a:rPr>
              <a:t>&amp; Product</a:t>
            </a:r>
            <a:endParaRPr lang="en-US" sz="1300" dirty="0"/>
          </a:p>
        </p:txBody>
      </p:sp>
      <p:sp>
        <p:nvSpPr>
          <p:cNvPr id="10" name="Text 8"/>
          <p:cNvSpPr/>
          <p:nvPr/>
        </p:nvSpPr>
        <p:spPr>
          <a:xfrm>
            <a:off x="731520" y="5029200"/>
            <a:ext cx="2286000" cy="914400"/>
          </a:xfrm>
          <a:prstGeom prst="rect">
            <a:avLst/>
          </a:prstGeom>
          <a:noFill/>
          <a:ln/>
        </p:spPr>
        <p:txBody>
          <a:bodyPr wrap="square" rtlCol="0" anchor="ctr"/>
          <a:lstStyle/>
          <a:p>
            <a:pPr algn="ctr" indent="0" marL="0">
              <a:lnSpc>
                <a:spcPct val="130000"/>
              </a:lnSpc>
              <a:buNone/>
            </a:pPr>
            <a:r>
              <a:rPr lang="en-US" sz="1000" dirty="0">
                <a:solidFill>
                  <a:srgbClr val="777777"/>
                </a:solidFill>
                <a:latin typeface="Arial" pitchFamily="34" charset="0"/>
                <a:ea typeface="Arial" pitchFamily="34" charset="-122"/>
                <a:cs typeface="Arial" pitchFamily="34" charset="-120"/>
              </a:rPr>
              <a:t>Hire 2 senior engineers.</a:t>
            </a:r>
            <a:endParaRPr lang="en-US" sz="1000" dirty="0"/>
          </a:p>
          <a:p>
            <a:pPr algn="ctr" indent="0" marL="0">
              <a:lnSpc>
                <a:spcPct val="130000"/>
              </a:lnSpc>
              <a:buNone/>
            </a:pPr>
            <a:r>
              <a:rPr lang="en-US" sz="1000" dirty="0">
                <a:solidFill>
                  <a:srgbClr val="777777"/>
                </a:solidFill>
                <a:latin typeface="Arial" pitchFamily="34" charset="0"/>
                <a:ea typeface="Arial" pitchFamily="34" charset="-122"/>
                <a:cs typeface="Arial" pitchFamily="34" charset="-120"/>
              </a:rPr>
              <a:t>Build hosted registry and cloud execution.</a:t>
            </a:r>
            <a:endParaRPr lang="en-US" sz="1000" dirty="0"/>
          </a:p>
        </p:txBody>
      </p:sp>
      <p:sp>
        <p:nvSpPr>
          <p:cNvPr id="11" name="Shape 9"/>
          <p:cNvSpPr/>
          <p:nvPr/>
        </p:nvSpPr>
        <p:spPr>
          <a:xfrm>
            <a:off x="3429000" y="3474720"/>
            <a:ext cx="2651760" cy="2926080"/>
          </a:xfrm>
          <a:prstGeom prst="roundRect">
            <a:avLst>
              <a:gd name="adj" fmla="val 689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2" name="Text 10"/>
          <p:cNvSpPr/>
          <p:nvPr/>
        </p:nvSpPr>
        <p:spPr>
          <a:xfrm>
            <a:off x="3429000" y="3611880"/>
            <a:ext cx="2651760" cy="731520"/>
          </a:xfrm>
          <a:prstGeom prst="rect">
            <a:avLst/>
          </a:prstGeom>
          <a:noFill/>
          <a:ln/>
        </p:spPr>
        <p:txBody>
          <a:bodyPr wrap="square" rtlCol="0" anchor="ctr"/>
          <a:lstStyle/>
          <a:p>
            <a:pPr algn="ctr" indent="0" marL="0">
              <a:buNone/>
            </a:pPr>
            <a:r>
              <a:rPr lang="en-US" sz="3600" b="1" dirty="0">
                <a:solidFill>
                  <a:srgbClr val="000000"/>
                </a:solidFill>
                <a:latin typeface="Arial" pitchFamily="34" charset="0"/>
                <a:ea typeface="Arial" pitchFamily="34" charset="-122"/>
                <a:cs typeface="Arial" pitchFamily="34" charset="-120"/>
              </a:rPr>
              <a:t>30%</a:t>
            </a:r>
            <a:endParaRPr lang="en-US" sz="3600" dirty="0"/>
          </a:p>
        </p:txBody>
      </p:sp>
      <p:sp>
        <p:nvSpPr>
          <p:cNvPr id="13" name="Text 11"/>
          <p:cNvSpPr/>
          <p:nvPr/>
        </p:nvSpPr>
        <p:spPr>
          <a:xfrm>
            <a:off x="3429000" y="4343400"/>
            <a:ext cx="2651760" cy="548640"/>
          </a:xfrm>
          <a:prstGeom prst="rect">
            <a:avLst/>
          </a:prstGeom>
          <a:noFill/>
          <a:ln/>
        </p:spPr>
        <p:txBody>
          <a:bodyPr wrap="square" rtlCol="0" anchor="ctr"/>
          <a:lstStyle/>
          <a:p>
            <a:pPr algn="ctr" indent="0" marL="0">
              <a:lnSpc>
                <a:spcPct val="120000"/>
              </a:lnSpc>
              <a:buNone/>
            </a:pPr>
            <a:r>
              <a:rPr lang="en-US" sz="1300" b="1" dirty="0">
                <a:solidFill>
                  <a:srgbClr val="1A1A1A"/>
                </a:solidFill>
                <a:latin typeface="Arial" pitchFamily="34" charset="0"/>
                <a:ea typeface="Arial" pitchFamily="34" charset="-122"/>
                <a:cs typeface="Arial" pitchFamily="34" charset="-120"/>
              </a:rPr>
              <a:t>Developer</a:t>
            </a:r>
            <a:endParaRPr lang="en-US" sz="1300" dirty="0"/>
          </a:p>
          <a:p>
            <a:pPr algn="ctr" indent="0" marL="0">
              <a:lnSpc>
                <a:spcPct val="120000"/>
              </a:lnSpc>
              <a:buNone/>
            </a:pPr>
            <a:r>
              <a:rPr lang="en-US" sz="1300" b="1" dirty="0">
                <a:solidFill>
                  <a:srgbClr val="1A1A1A"/>
                </a:solidFill>
                <a:latin typeface="Arial" pitchFamily="34" charset="0"/>
                <a:ea typeface="Arial" pitchFamily="34" charset="-122"/>
                <a:cs typeface="Arial" pitchFamily="34" charset="-120"/>
              </a:rPr>
              <a:t>Community</a:t>
            </a:r>
            <a:endParaRPr lang="en-US" sz="1300" dirty="0"/>
          </a:p>
        </p:txBody>
      </p:sp>
      <p:sp>
        <p:nvSpPr>
          <p:cNvPr id="14" name="Text 12"/>
          <p:cNvSpPr/>
          <p:nvPr/>
        </p:nvSpPr>
        <p:spPr>
          <a:xfrm>
            <a:off x="3611880" y="5029200"/>
            <a:ext cx="2286000" cy="914400"/>
          </a:xfrm>
          <a:prstGeom prst="rect">
            <a:avLst/>
          </a:prstGeom>
          <a:noFill/>
          <a:ln/>
        </p:spPr>
        <p:txBody>
          <a:bodyPr wrap="square" rtlCol="0" anchor="ctr"/>
          <a:lstStyle/>
          <a:p>
            <a:pPr algn="ctr" indent="0" marL="0">
              <a:lnSpc>
                <a:spcPct val="130000"/>
              </a:lnSpc>
              <a:buNone/>
            </a:pPr>
            <a:r>
              <a:rPr lang="en-US" sz="1000" dirty="0">
                <a:solidFill>
                  <a:srgbClr val="777777"/>
                </a:solidFill>
                <a:latin typeface="Arial" pitchFamily="34" charset="0"/>
                <a:ea typeface="Arial" pitchFamily="34" charset="-122"/>
                <a:cs typeface="Arial" pitchFamily="34" charset="-120"/>
              </a:rPr>
              <a:t>DevRel, content, events.</a:t>
            </a:r>
            <a:endParaRPr lang="en-US" sz="1000" dirty="0"/>
          </a:p>
          <a:p>
            <a:pPr algn="ctr" indent="0" marL="0">
              <a:lnSpc>
                <a:spcPct val="130000"/>
              </a:lnSpc>
              <a:buNone/>
            </a:pPr>
            <a:r>
              <a:rPr lang="en-US" sz="1000" dirty="0">
                <a:solidFill>
                  <a:srgbClr val="777777"/>
                </a:solidFill>
                <a:latin typeface="Arial" pitchFamily="34" charset="0"/>
                <a:ea typeface="Arial" pitchFamily="34" charset="-122"/>
                <a:cs typeface="Arial" pitchFamily="34" charset="-120"/>
              </a:rPr>
              <a:t>Grow to 10K+ users.</a:t>
            </a:r>
            <a:endParaRPr lang="en-US" sz="1000" dirty="0"/>
          </a:p>
        </p:txBody>
      </p:sp>
      <p:sp>
        <p:nvSpPr>
          <p:cNvPr id="15" name="Shape 13"/>
          <p:cNvSpPr/>
          <p:nvPr/>
        </p:nvSpPr>
        <p:spPr>
          <a:xfrm>
            <a:off x="6309360" y="3474720"/>
            <a:ext cx="2651760" cy="2926080"/>
          </a:xfrm>
          <a:prstGeom prst="roundRect">
            <a:avLst>
              <a:gd name="adj" fmla="val 689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16" name="Text 14"/>
          <p:cNvSpPr/>
          <p:nvPr/>
        </p:nvSpPr>
        <p:spPr>
          <a:xfrm>
            <a:off x="6309360" y="3611880"/>
            <a:ext cx="2651760" cy="731520"/>
          </a:xfrm>
          <a:prstGeom prst="rect">
            <a:avLst/>
          </a:prstGeom>
          <a:noFill/>
          <a:ln/>
        </p:spPr>
        <p:txBody>
          <a:bodyPr wrap="square" rtlCol="0" anchor="ctr"/>
          <a:lstStyle/>
          <a:p>
            <a:pPr algn="ctr" indent="0" marL="0">
              <a:buNone/>
            </a:pPr>
            <a:r>
              <a:rPr lang="en-US" sz="3600" b="1" dirty="0">
                <a:solidFill>
                  <a:srgbClr val="000000"/>
                </a:solidFill>
                <a:latin typeface="Arial" pitchFamily="34" charset="0"/>
                <a:ea typeface="Arial" pitchFamily="34" charset="-122"/>
                <a:cs typeface="Arial" pitchFamily="34" charset="-120"/>
              </a:rPr>
              <a:t>20%</a:t>
            </a:r>
            <a:endParaRPr lang="en-US" sz="3600" dirty="0"/>
          </a:p>
        </p:txBody>
      </p:sp>
      <p:sp>
        <p:nvSpPr>
          <p:cNvPr id="17" name="Text 15"/>
          <p:cNvSpPr/>
          <p:nvPr/>
        </p:nvSpPr>
        <p:spPr>
          <a:xfrm>
            <a:off x="6309360" y="4343400"/>
            <a:ext cx="2651760" cy="548640"/>
          </a:xfrm>
          <a:prstGeom prst="rect">
            <a:avLst/>
          </a:prstGeom>
          <a:noFill/>
          <a:ln/>
        </p:spPr>
        <p:txBody>
          <a:bodyPr wrap="square" rtlCol="0" anchor="ctr"/>
          <a:lstStyle/>
          <a:p>
            <a:pPr algn="ctr" indent="0" marL="0">
              <a:lnSpc>
                <a:spcPct val="120000"/>
              </a:lnSpc>
              <a:buNone/>
            </a:pPr>
            <a:r>
              <a:rPr lang="en-US" sz="1300" b="1" dirty="0">
                <a:solidFill>
                  <a:srgbClr val="1A1A1A"/>
                </a:solidFill>
                <a:latin typeface="Arial" pitchFamily="34" charset="0"/>
                <a:ea typeface="Arial" pitchFamily="34" charset="-122"/>
                <a:cs typeface="Arial" pitchFamily="34" charset="-120"/>
              </a:rPr>
              <a:t>Cloud</a:t>
            </a:r>
            <a:endParaRPr lang="en-US" sz="1300" dirty="0"/>
          </a:p>
          <a:p>
            <a:pPr algn="ctr" indent="0" marL="0">
              <a:lnSpc>
                <a:spcPct val="120000"/>
              </a:lnSpc>
              <a:buNone/>
            </a:pPr>
            <a:r>
              <a:rPr lang="en-US" sz="1300" b="1" dirty="0">
                <a:solidFill>
                  <a:srgbClr val="1A1A1A"/>
                </a:solidFill>
                <a:latin typeface="Arial" pitchFamily="34" charset="0"/>
                <a:ea typeface="Arial" pitchFamily="34" charset="-122"/>
                <a:cs typeface="Arial" pitchFamily="34" charset="-120"/>
              </a:rPr>
              <a:t>Infrastructure</a:t>
            </a:r>
            <a:endParaRPr lang="en-US" sz="1300" dirty="0"/>
          </a:p>
        </p:txBody>
      </p:sp>
      <p:sp>
        <p:nvSpPr>
          <p:cNvPr id="18" name="Text 16"/>
          <p:cNvSpPr/>
          <p:nvPr/>
        </p:nvSpPr>
        <p:spPr>
          <a:xfrm>
            <a:off x="6492240" y="5029200"/>
            <a:ext cx="2286000" cy="914400"/>
          </a:xfrm>
          <a:prstGeom prst="rect">
            <a:avLst/>
          </a:prstGeom>
          <a:noFill/>
          <a:ln/>
        </p:spPr>
        <p:txBody>
          <a:bodyPr wrap="square" rtlCol="0" anchor="ctr"/>
          <a:lstStyle/>
          <a:p>
            <a:pPr algn="ctr" indent="0" marL="0">
              <a:lnSpc>
                <a:spcPct val="130000"/>
              </a:lnSpc>
              <a:buNone/>
            </a:pPr>
            <a:r>
              <a:rPr lang="en-US" sz="1000" dirty="0">
                <a:solidFill>
                  <a:srgbClr val="777777"/>
                </a:solidFill>
                <a:latin typeface="Arial" pitchFamily="34" charset="0"/>
                <a:ea typeface="Arial" pitchFamily="34" charset="-122"/>
                <a:cs typeface="Arial" pitchFamily="34" charset="-120"/>
              </a:rPr>
              <a:t>Registry hosting, CDN,</a:t>
            </a:r>
            <a:endParaRPr lang="en-US" sz="1000" dirty="0"/>
          </a:p>
          <a:p>
            <a:pPr algn="ctr" indent="0" marL="0">
              <a:lnSpc>
                <a:spcPct val="130000"/>
              </a:lnSpc>
              <a:buNone/>
            </a:pPr>
            <a:r>
              <a:rPr lang="en-US" sz="1000" dirty="0">
                <a:solidFill>
                  <a:srgbClr val="777777"/>
                </a:solidFill>
                <a:latin typeface="Arial" pitchFamily="34" charset="0"/>
                <a:ea typeface="Arial" pitchFamily="34" charset="-122"/>
                <a:cs typeface="Arial" pitchFamily="34" charset="-120"/>
              </a:rPr>
              <a:t>agent execution environment.</a:t>
            </a:r>
            <a:endParaRPr lang="en-US" sz="1000" dirty="0"/>
          </a:p>
        </p:txBody>
      </p:sp>
      <p:sp>
        <p:nvSpPr>
          <p:cNvPr id="19" name="Shape 17"/>
          <p:cNvSpPr/>
          <p:nvPr/>
        </p:nvSpPr>
        <p:spPr>
          <a:xfrm>
            <a:off x="9189720" y="3474720"/>
            <a:ext cx="2651760" cy="2926080"/>
          </a:xfrm>
          <a:prstGeom prst="roundRect">
            <a:avLst>
              <a:gd name="adj" fmla="val 689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20" name="Text 18"/>
          <p:cNvSpPr/>
          <p:nvPr/>
        </p:nvSpPr>
        <p:spPr>
          <a:xfrm>
            <a:off x="9189720" y="3611880"/>
            <a:ext cx="2651760" cy="731520"/>
          </a:xfrm>
          <a:prstGeom prst="rect">
            <a:avLst/>
          </a:prstGeom>
          <a:noFill/>
          <a:ln/>
        </p:spPr>
        <p:txBody>
          <a:bodyPr wrap="square" rtlCol="0" anchor="ctr"/>
          <a:lstStyle/>
          <a:p>
            <a:pPr algn="ctr" indent="0" marL="0">
              <a:buNone/>
            </a:pPr>
            <a:r>
              <a:rPr lang="en-US" sz="3600" b="1" dirty="0">
                <a:solidFill>
                  <a:srgbClr val="000000"/>
                </a:solidFill>
                <a:latin typeface="Arial" pitchFamily="34" charset="0"/>
                <a:ea typeface="Arial" pitchFamily="34" charset="-122"/>
                <a:cs typeface="Arial" pitchFamily="34" charset="-120"/>
              </a:rPr>
              <a:t>10%</a:t>
            </a:r>
            <a:endParaRPr lang="en-US" sz="3600" dirty="0"/>
          </a:p>
        </p:txBody>
      </p:sp>
      <p:sp>
        <p:nvSpPr>
          <p:cNvPr id="21" name="Text 19"/>
          <p:cNvSpPr/>
          <p:nvPr/>
        </p:nvSpPr>
        <p:spPr>
          <a:xfrm>
            <a:off x="9189720" y="4343400"/>
            <a:ext cx="2651760" cy="548640"/>
          </a:xfrm>
          <a:prstGeom prst="rect">
            <a:avLst/>
          </a:prstGeom>
          <a:noFill/>
          <a:ln/>
        </p:spPr>
        <p:txBody>
          <a:bodyPr wrap="square" rtlCol="0" anchor="ctr"/>
          <a:lstStyle/>
          <a:p>
            <a:pPr algn="ctr" indent="0" marL="0">
              <a:lnSpc>
                <a:spcPct val="120000"/>
              </a:lnSpc>
              <a:buNone/>
            </a:pPr>
            <a:r>
              <a:rPr lang="en-US" sz="1300" b="1" dirty="0">
                <a:solidFill>
                  <a:srgbClr val="1A1A1A"/>
                </a:solidFill>
                <a:latin typeface="Arial" pitchFamily="34" charset="0"/>
                <a:ea typeface="Arial" pitchFamily="34" charset="-122"/>
                <a:cs typeface="Arial" pitchFamily="34" charset="-120"/>
              </a:rPr>
              <a:t>Operations</a:t>
            </a:r>
            <a:endParaRPr lang="en-US" sz="1300" dirty="0"/>
          </a:p>
          <a:p>
            <a:pPr algn="ctr" indent="0" marL="0">
              <a:lnSpc>
                <a:spcPct val="120000"/>
              </a:lnSpc>
              <a:buNone/>
            </a:pPr>
            <a:r>
              <a:rPr lang="en-US" sz="1300" b="1" dirty="0">
                <a:solidFill>
                  <a:srgbClr val="1A1A1A"/>
                </a:solidFill>
                <a:latin typeface="Arial" pitchFamily="34" charset="0"/>
                <a:ea typeface="Arial" pitchFamily="34" charset="-122"/>
                <a:cs typeface="Arial" pitchFamily="34" charset="-120"/>
              </a:rPr>
              <a:t>&amp; Legal</a:t>
            </a:r>
            <a:endParaRPr lang="en-US" sz="1300" dirty="0"/>
          </a:p>
        </p:txBody>
      </p:sp>
      <p:sp>
        <p:nvSpPr>
          <p:cNvPr id="22" name="Text 20"/>
          <p:cNvSpPr/>
          <p:nvPr/>
        </p:nvSpPr>
        <p:spPr>
          <a:xfrm>
            <a:off x="9372600" y="5029200"/>
            <a:ext cx="2286000" cy="914400"/>
          </a:xfrm>
          <a:prstGeom prst="rect">
            <a:avLst/>
          </a:prstGeom>
          <a:noFill/>
          <a:ln/>
        </p:spPr>
        <p:txBody>
          <a:bodyPr wrap="square" rtlCol="0" anchor="ctr"/>
          <a:lstStyle/>
          <a:p>
            <a:pPr algn="ctr" indent="0" marL="0">
              <a:lnSpc>
                <a:spcPct val="130000"/>
              </a:lnSpc>
              <a:buNone/>
            </a:pPr>
            <a:r>
              <a:rPr lang="en-US" sz="1000" dirty="0">
                <a:solidFill>
                  <a:srgbClr val="777777"/>
                </a:solidFill>
                <a:latin typeface="Arial" pitchFamily="34" charset="0"/>
                <a:ea typeface="Arial" pitchFamily="34" charset="-122"/>
                <a:cs typeface="Arial" pitchFamily="34" charset="-120"/>
              </a:rPr>
              <a:t>Incorporation, IP protection,</a:t>
            </a:r>
            <a:endParaRPr lang="en-US" sz="1000" dirty="0"/>
          </a:p>
          <a:p>
            <a:pPr algn="ctr" indent="0" marL="0">
              <a:lnSpc>
                <a:spcPct val="130000"/>
              </a:lnSpc>
              <a:buNone/>
            </a:pPr>
            <a:r>
              <a:rPr lang="en-US" sz="1000" dirty="0">
                <a:solidFill>
                  <a:srgbClr val="777777"/>
                </a:solidFill>
                <a:latin typeface="Arial" pitchFamily="34" charset="0"/>
                <a:ea typeface="Arial" pitchFamily="34" charset="-122"/>
                <a:cs typeface="Arial" pitchFamily="34" charset="-120"/>
              </a:rPr>
              <a:t>open-source licensing.</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548640" y="457200"/>
            <a:ext cx="11064240" cy="5943600"/>
          </a:xfrm>
          <a:prstGeom prst="roundRect">
            <a:avLst>
              <a:gd name="adj" fmla="val 3077"/>
            </a:avLst>
          </a:prstGeom>
          <a:solidFill>
            <a:srgbClr val="FFFFFF"/>
          </a:solidFill>
          <a:ln w="6350">
            <a:solidFill>
              <a:srgbClr val="DDDDDD"/>
            </a:solidFill>
            <a:prstDash val="solid"/>
          </a:ln>
          <a:effectLst>
            <a:outerShdw sx="100000" sy="100000" kx="0" ky="0" algn="bl" rotWithShape="0" blurRad="101600" dist="25400" dir="16200000">
              <a:srgbClr val="000000">
                <a:alpha val="6000"/>
              </a:srgbClr>
            </a:outerShdw>
          </a:effectLst>
        </p:spPr>
      </p:sp>
      <p:sp>
        <p:nvSpPr>
          <p:cNvPr id="3" name="Text 1"/>
          <p:cNvSpPr/>
          <p:nvPr/>
        </p:nvSpPr>
        <p:spPr>
          <a:xfrm>
            <a:off x="1097280" y="1828800"/>
            <a:ext cx="9966960" cy="1097280"/>
          </a:xfrm>
          <a:prstGeom prst="rect">
            <a:avLst/>
          </a:prstGeom>
          <a:noFill/>
          <a:ln/>
        </p:spPr>
        <p:txBody>
          <a:bodyPr wrap="square" rtlCol="0" anchor="ctr"/>
          <a:lstStyle/>
          <a:p>
            <a:pPr algn="ctr" indent="0" marL="0">
              <a:buNone/>
            </a:pPr>
            <a:r>
              <a:rPr lang="en-US" sz="6400" b="1" dirty="0">
                <a:solidFill>
                  <a:srgbClr val="000000"/>
                </a:solidFill>
                <a:latin typeface="Arial" pitchFamily="34" charset="0"/>
                <a:ea typeface="Arial" pitchFamily="34" charset="-122"/>
                <a:cs typeface="Arial" pitchFamily="34" charset="-120"/>
              </a:rPr>
              <a:t>AgentOnAir</a:t>
            </a:r>
            <a:endParaRPr lang="en-US" sz="6400" dirty="0"/>
          </a:p>
        </p:txBody>
      </p:sp>
      <p:sp>
        <p:nvSpPr>
          <p:cNvPr id="4" name="Text 2"/>
          <p:cNvSpPr/>
          <p:nvPr/>
        </p:nvSpPr>
        <p:spPr>
          <a:xfrm>
            <a:off x="1097280" y="2926080"/>
            <a:ext cx="9966960" cy="640080"/>
          </a:xfrm>
          <a:prstGeom prst="rect">
            <a:avLst/>
          </a:prstGeom>
          <a:noFill/>
          <a:ln/>
        </p:spPr>
        <p:txBody>
          <a:bodyPr wrap="square" rtlCol="0" anchor="ctr"/>
          <a:lstStyle/>
          <a:p>
            <a:pPr algn="ctr" indent="0" marL="0">
              <a:buNone/>
            </a:pPr>
            <a:r>
              <a:rPr lang="en-US" sz="2800" dirty="0">
                <a:solidFill>
                  <a:srgbClr val="777777"/>
                </a:solidFill>
              </a:rPr>
              <a:t>Agents should </a:t>
            </a:r>
            <a:pPr algn="ctr" indent="0" marL="0">
              <a:buNone/>
            </a:pPr>
            <a:r>
              <a:rPr lang="en-US" sz="2800" b="1" i="1" dirty="0">
                <a:solidFill>
                  <a:srgbClr val="000000"/>
                </a:solidFill>
              </a:rPr>
              <a:t>travel.</a:t>
            </a:r>
            <a:endParaRPr lang="en-US" sz="2800" dirty="0"/>
          </a:p>
        </p:txBody>
      </p:sp>
      <p:sp>
        <p:nvSpPr>
          <p:cNvPr id="5" name="Shape 3"/>
          <p:cNvSpPr/>
          <p:nvPr/>
        </p:nvSpPr>
        <p:spPr>
          <a:xfrm>
            <a:off x="1828800" y="4114800"/>
            <a:ext cx="3931920" cy="914400"/>
          </a:xfrm>
          <a:prstGeom prst="roundRect">
            <a:avLst>
              <a:gd name="adj" fmla="val 15000"/>
            </a:avLst>
          </a:prstGeom>
          <a:solidFill>
            <a:srgbClr val="F0F0F0"/>
          </a:solidFill>
          <a:ln w="6350">
            <a:solidFill>
              <a:srgbClr val="DDDDDD"/>
            </a:solidFill>
            <a:prstDash val="solid"/>
          </a:ln>
        </p:spPr>
      </p:sp>
      <p:sp>
        <p:nvSpPr>
          <p:cNvPr id="6" name="Text 4"/>
          <p:cNvSpPr/>
          <p:nvPr/>
        </p:nvSpPr>
        <p:spPr>
          <a:xfrm>
            <a:off x="1828800" y="4114800"/>
            <a:ext cx="3931920" cy="914400"/>
          </a:xfrm>
          <a:prstGeom prst="rect">
            <a:avLst/>
          </a:prstGeom>
          <a:noFill/>
          <a:ln/>
        </p:spPr>
        <p:txBody>
          <a:bodyPr wrap="square" rtlCol="0" anchor="ctr"/>
          <a:lstStyle/>
          <a:p>
            <a:pPr algn="ctr" indent="0" marL="0">
              <a:buNone/>
            </a:pPr>
            <a:r>
              <a:rPr lang="en-US" sz="1300" dirty="0">
                <a:solidFill>
                  <a:srgbClr val="1A1A1A"/>
                </a:solidFill>
                <a:latin typeface="Courier New" pitchFamily="34" charset="0"/>
                <a:ea typeface="Courier New" pitchFamily="34" charset="-122"/>
                <a:cs typeface="Courier New" pitchFamily="34" charset="-120"/>
              </a:rPr>
              <a:t>github.com/piyushhhxyz/AgentsOnAir</a:t>
            </a:r>
            <a:endParaRPr lang="en-US" sz="1300" dirty="0"/>
          </a:p>
        </p:txBody>
      </p:sp>
      <p:sp>
        <p:nvSpPr>
          <p:cNvPr id="7" name="Shape 5"/>
          <p:cNvSpPr/>
          <p:nvPr/>
        </p:nvSpPr>
        <p:spPr>
          <a:xfrm>
            <a:off x="6217920" y="4114800"/>
            <a:ext cx="3931920" cy="914400"/>
          </a:xfrm>
          <a:prstGeom prst="roundRect">
            <a:avLst>
              <a:gd name="adj" fmla="val 15000"/>
            </a:avLst>
          </a:prstGeom>
          <a:solidFill>
            <a:srgbClr val="000000"/>
          </a:solidFill>
          <a:ln w="6350">
            <a:solidFill>
              <a:srgbClr val="DDDDDD"/>
            </a:solidFill>
            <a:prstDash val="solid"/>
          </a:ln>
        </p:spPr>
      </p:sp>
      <p:sp>
        <p:nvSpPr>
          <p:cNvPr id="8" name="Text 6"/>
          <p:cNvSpPr/>
          <p:nvPr/>
        </p:nvSpPr>
        <p:spPr>
          <a:xfrm>
            <a:off x="6217920" y="4114800"/>
            <a:ext cx="3931920" cy="91440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Let's talk  →  piyush@agentsonair.com</a:t>
            </a:r>
            <a:endParaRPr lang="en-US" sz="1300" dirty="0"/>
          </a:p>
        </p:txBody>
      </p:sp>
      <p:sp>
        <p:nvSpPr>
          <p:cNvPr id="9" name="Text 7"/>
          <p:cNvSpPr/>
          <p:nvPr/>
        </p:nvSpPr>
        <p:spPr>
          <a:xfrm>
            <a:off x="1097280" y="5303520"/>
            <a:ext cx="9966960" cy="457200"/>
          </a:xfrm>
          <a:prstGeom prst="rect">
            <a:avLst/>
          </a:prstGeom>
          <a:noFill/>
          <a:ln/>
        </p:spPr>
        <p:txBody>
          <a:bodyPr wrap="square" rtlCol="0" anchor="ctr"/>
          <a:lstStyle/>
          <a:p>
            <a:pPr algn="ctr" indent="0" marL="0">
              <a:buNone/>
            </a:pPr>
            <a:r>
              <a:rPr lang="en-US" sz="1400" dirty="0">
                <a:solidFill>
                  <a:srgbClr val="AAAAAA"/>
                </a:solidFill>
                <a:latin typeface="Arial" pitchFamily="34" charset="0"/>
                <a:ea typeface="Arial" pitchFamily="34" charset="-122"/>
                <a:cs typeface="Arial" pitchFamily="34" charset="-120"/>
              </a:rPr>
              <a:t>Pack it. Share it. Install it. Run it.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AgentOnAir - The npm for AI Agents</dc:title>
  <dc:subject>PptxGenJS Presentation</dc:subject>
  <dc:creator>AgentOnAir</dc:creator>
  <cp:lastModifiedBy>AgentOnAir</cp:lastModifiedBy>
  <cp:revision>1</cp:revision>
  <dcterms:created xsi:type="dcterms:W3CDTF">2026-04-16T15:03:02Z</dcterms:created>
  <dcterms:modified xsi:type="dcterms:W3CDTF">2026-04-16T15:03:02Z</dcterms:modified>
</cp:coreProperties>
</file>